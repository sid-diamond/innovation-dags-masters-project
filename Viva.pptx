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comments/modernComment_11A_3B2E240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8" r:id="rId5"/>
    <p:sldId id="281" r:id="rId6"/>
    <p:sldId id="282" r:id="rId7"/>
    <p:sldId id="283" r:id="rId8"/>
    <p:sldId id="284" r:id="rId9"/>
    <p:sldId id="306" r:id="rId10"/>
    <p:sldId id="285" r:id="rId11"/>
    <p:sldId id="294" r:id="rId12"/>
    <p:sldId id="301" r:id="rId13"/>
    <p:sldId id="295" r:id="rId14"/>
    <p:sldId id="302" r:id="rId15"/>
    <p:sldId id="299" r:id="rId16"/>
    <p:sldId id="297" r:id="rId17"/>
    <p:sldId id="303" r:id="rId18"/>
    <p:sldId id="298" r:id="rId19"/>
    <p:sldId id="30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538F4F-56D6-02D4-B61E-EED9D717B9D6}" name="Diamond, Sid" initials="SD" userId="S::sd1522@ic.ac.uk::cd6573dd-362e-455e-9c9f-7c1b83918d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5033" autoAdjust="0"/>
  </p:normalViewPr>
  <p:slideViewPr>
    <p:cSldViewPr snapToGrid="0" showGuides="1">
      <p:cViewPr>
        <p:scale>
          <a:sx n="92" d="100"/>
          <a:sy n="92" d="100"/>
        </p:scale>
        <p:origin x="384" y="-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omments/modernComment_11A_3B2E24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6FBEB3-7801-4673-9CD3-5DE83DB48543}" authorId="{B1538F4F-56D6-02D4-B61E-EED9D717B9D6}" created="2026-03-18T12:52:50.370">
    <pc:sldMkLst xmlns:pc="http://schemas.microsoft.com/office/powerpoint/2013/main/command">
      <pc:docMk/>
      <pc:sldMk cId="992879626" sldId="282"/>
    </pc:sldMkLst>
    <p188:txBody>
      <a:bodyPr/>
      <a:lstStyle/>
      <a:p>
        <a:r>
          <a:rPr lang="en-GB"/>
          <a:t>Take Barabasi’s Big Think opening line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1A_3B2E240A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7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337-D626-AC7B-5E8D-3144BB486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40145"/>
            <a:ext cx="9144000" cy="1847942"/>
          </a:xfrm>
        </p:spPr>
        <p:txBody>
          <a:bodyPr anchor="b">
            <a:normAutofit/>
          </a:bodyPr>
          <a:lstStyle/>
          <a:p>
            <a:r>
              <a:rPr lang="en-GB" dirty="0"/>
              <a:t>Predicting Network Behaviour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GB" sz="4400" dirty="0"/>
              <a:t>A new result for a Homophilic Price model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>
            <a:norm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dirty="0"/>
              <a:t>Sid Diamond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dirty="0"/>
              <a:t>20/03/2026</a:t>
            </a:r>
          </a:p>
        </p:txBody>
      </p:sp>
    </p:spTree>
    <p:extLst>
      <p:ext uri="{BB962C8B-B14F-4D97-AF65-F5344CB8AC3E}">
        <p14:creationId xmlns:p14="http://schemas.microsoft.com/office/powerpoint/2010/main" val="30351159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CF6E-A742-FE7F-DEA0-859BC4D2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73C2-27D1-BBA0-E1FB-155C6A3A3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anchor="t">
            <a:normAutofit/>
          </a:bodyPr>
          <a:lstStyle/>
          <a:p>
            <a:r>
              <a:rPr lang="en-GB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B409-CC9F-F408-4BAF-EB30F716D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800" y="1825818"/>
            <a:ext cx="7610201" cy="3206363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Motivation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Networks and Graphs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Citation Networks: Networks with Cumulative Attachment and Homophily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Derivation Outline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Finite-size consequences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GB" sz="2400" dirty="0"/>
              <a:t>Conclusion</a:t>
            </a:r>
          </a:p>
          <a:p>
            <a:pPr marL="342900" lvl="1" indent="-342900">
              <a:spcAft>
                <a:spcPts val="600"/>
              </a:spcAft>
              <a:buAutoNum type="arabicParenR"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FF0ED-FEC2-7E0F-5D4E-10B3795B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735A267-51F8-4C83-A436-AD44CC5F5103}" type="datetime1">
              <a:rPr lang="en-GB" smtClean="0"/>
              <a:pPr>
                <a:spcAft>
                  <a:spcPts val="600"/>
                </a:spcAft>
              </a:pPr>
              <a:t>17/03/2026</a:t>
            </a:fld>
            <a:endParaRPr lang="en-GB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F250C659-1EC6-8296-C05B-854ACD5E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2E96C-3376-89A2-744E-0BB03D2F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872E6BB-3E44-C1DA-3B31-236BA909E91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This Presentation will contain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101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0434-9477-94A8-5265-ABD80827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1C8A127-ECB9-B2F6-A726-92078E41ED20}"/>
              </a:ext>
            </a:extLst>
          </p:cNvPr>
          <p:cNvSpPr/>
          <p:nvPr/>
        </p:nvSpPr>
        <p:spPr>
          <a:xfrm>
            <a:off x="4263364" y="1062780"/>
            <a:ext cx="6994808" cy="6806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4B915-FC18-90C1-DAAC-4E0B59B1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We exist in an interconnected world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2B87C-81AD-501B-E566-3962A4EE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827611E-091F-4C31-BDE6-5F5EA8484615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035" name="Footer Placeholder 3">
            <a:extLst>
              <a:ext uri="{FF2B5EF4-FFF2-40B4-BE49-F238E27FC236}">
                <a16:creationId xmlns:a16="http://schemas.microsoft.com/office/drawing/2014/main" id="{9604F9D1-923B-4F19-CB2E-3EF38DA1B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96479" y="6462337"/>
            <a:ext cx="3423452" cy="212298"/>
          </a:xfrm>
        </p:spPr>
        <p:txBody>
          <a:bodyPr/>
          <a:lstStyle/>
          <a:p>
            <a:r>
              <a:rPr lang="en-US" dirty="0"/>
              <a:t>, taken from http://opte.org/maps (accessed on February 5th 2020)</a:t>
            </a:r>
            <a:endParaRPr lang="en-GB" dirty="0"/>
          </a:p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1B52A-F6DB-BE32-66C9-A0A07CB4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C794BE-D482-13D9-7320-CFE893BFDF37}"/>
              </a:ext>
            </a:extLst>
          </p:cNvPr>
          <p:cNvSpPr txBox="1"/>
          <p:nvPr/>
        </p:nvSpPr>
        <p:spPr>
          <a:xfrm>
            <a:off x="325437" y="5395233"/>
            <a:ext cx="4201251" cy="8425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defTabSz="685765">
              <a:lnSpc>
                <a:spcPct val="95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1400" b="1" dirty="0"/>
              <a:t>Figure 1:</a:t>
            </a:r>
            <a:r>
              <a:rPr lang="en-US" sz="1400" b="1" i="1" dirty="0"/>
              <a:t> </a:t>
            </a:r>
            <a:r>
              <a:rPr lang="en-US" sz="1400" i="1" dirty="0"/>
              <a:t>Partial map of the Internet based on data from November 24rd 2003. Each line is drawn between two nodes, representing two IP addresses. Lines are </a:t>
            </a:r>
            <a:r>
              <a:rPr lang="en-US" sz="1400" i="1" dirty="0" err="1"/>
              <a:t>colour</a:t>
            </a:r>
            <a:r>
              <a:rPr lang="en-US" sz="1400" i="1" dirty="0"/>
              <a:t>-coded based on allocation of IP space.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CC54F37-AC76-45B7-AE13-7472975AFC8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233" y="612917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Networks are everywhere</a:t>
            </a:r>
            <a:endParaRPr lang="en-US" dirty="0"/>
          </a:p>
        </p:txBody>
      </p:sp>
      <p:pic>
        <p:nvPicPr>
          <p:cNvPr id="1032" name="Picture 8" descr="Over one thousand reconstructed wavy lines in different random colours, representing different datasets of neurons.">
            <a:extLst>
              <a:ext uri="{FF2B5EF4-FFF2-40B4-BE49-F238E27FC236}">
                <a16:creationId xmlns:a16="http://schemas.microsoft.com/office/drawing/2014/main" id="{7496C9C5-C229-95ED-4B9E-64F6AA558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358" y="1784857"/>
            <a:ext cx="5961814" cy="396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607D2A-EC1E-5DB4-CA39-88B9389F22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1062780"/>
            <a:ext cx="4262825" cy="421522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5F39D2E-FCE6-D726-214E-CF45B96F8872}"/>
              </a:ext>
            </a:extLst>
          </p:cNvPr>
          <p:cNvSpPr txBox="1"/>
          <p:nvPr/>
        </p:nvSpPr>
        <p:spPr>
          <a:xfrm>
            <a:off x="5192386" y="1030173"/>
            <a:ext cx="34859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4"/>
                </a:solidFill>
                <a:effectLst/>
                <a:highlight>
                  <a:srgbClr val="000000"/>
                </a:highlight>
                <a:latin typeface="pt-sans-pro"/>
              </a:rPr>
              <a:t>Asia Pacific </a:t>
            </a:r>
            <a:br>
              <a:rPr lang="en-US" sz="1400" dirty="0">
                <a:highlight>
                  <a:srgbClr val="000000"/>
                </a:highlight>
              </a:rPr>
            </a:br>
            <a:r>
              <a:rPr lang="en-US" sz="1400" b="0" i="0" dirty="0">
                <a:solidFill>
                  <a:schemeClr val="accent6">
                    <a:lumMod val="75000"/>
                    <a:lumOff val="25000"/>
                  </a:schemeClr>
                </a:solidFill>
                <a:effectLst/>
                <a:highlight>
                  <a:srgbClr val="000000"/>
                </a:highlight>
                <a:latin typeface="pt-sans-pro"/>
              </a:rPr>
              <a:t>Europe/Middle East/Central Asia/Africa</a:t>
            </a:r>
            <a:br>
              <a:rPr lang="en-US" sz="1400" dirty="0">
                <a:highlight>
                  <a:srgbClr val="000000"/>
                </a:highlight>
              </a:rPr>
            </a:br>
            <a:r>
              <a:rPr lang="en-US" sz="1400" b="0" i="0" dirty="0">
                <a:solidFill>
                  <a:srgbClr val="008AFC"/>
                </a:solidFill>
                <a:effectLst/>
                <a:highlight>
                  <a:srgbClr val="000000"/>
                </a:highlight>
                <a:latin typeface="pt-sans-pro"/>
              </a:rPr>
              <a:t>North America </a:t>
            </a:r>
            <a:br>
              <a:rPr lang="en-US" sz="1400" dirty="0"/>
            </a:br>
            <a:endParaRPr lang="en-GB" sz="1400" dirty="0">
              <a:highlight>
                <a:srgbClr val="0000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BACAD-78BD-8A7B-0963-69135475E289}"/>
              </a:ext>
            </a:extLst>
          </p:cNvPr>
          <p:cNvSpPr txBox="1"/>
          <p:nvPr/>
        </p:nvSpPr>
        <p:spPr>
          <a:xfrm>
            <a:off x="5213232" y="5799262"/>
            <a:ext cx="5961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</a:rPr>
              <a:t>Figure 2: </a:t>
            </a:r>
            <a:r>
              <a:rPr lang="en-US" sz="1400" b="0" i="1" dirty="0">
                <a:effectLst/>
              </a:rPr>
              <a:t>A rendering of more than 1,000 brain cells out of those reconstructed from analysis of 1 cubic </a:t>
            </a:r>
            <a:r>
              <a:rPr lang="en-US" sz="1400" b="0" i="1" dirty="0" err="1">
                <a:effectLst/>
              </a:rPr>
              <a:t>millimetre</a:t>
            </a:r>
            <a:r>
              <a:rPr lang="en-US" sz="1400" b="0" i="1" dirty="0">
                <a:effectLst/>
              </a:rPr>
              <a:t> of mouse brain tissue.</a:t>
            </a:r>
            <a:endParaRPr lang="en-GB" sz="14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576B48-7B5D-4165-8CA7-AD0AFC85E774}"/>
              </a:ext>
            </a:extLst>
          </p:cNvPr>
          <p:cNvSpPr txBox="1"/>
          <p:nvPr/>
        </p:nvSpPr>
        <p:spPr>
          <a:xfrm>
            <a:off x="8617303" y="1046193"/>
            <a:ext cx="26408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E8C529"/>
                </a:solidFill>
                <a:effectLst/>
                <a:highlight>
                  <a:srgbClr val="000000"/>
                </a:highlight>
                <a:latin typeface="pt-sans-pro"/>
              </a:rPr>
              <a:t>Latin American and Caribbean</a:t>
            </a:r>
            <a:br>
              <a:rPr lang="en-US" sz="1400" dirty="0">
                <a:highlight>
                  <a:srgbClr val="000000"/>
                </a:highlight>
              </a:rPr>
            </a:br>
            <a:r>
              <a:rPr lang="en-US" sz="1400" b="0" i="0" dirty="0">
                <a:solidFill>
                  <a:srgbClr val="A3D1DB"/>
                </a:solidFill>
                <a:effectLst/>
                <a:highlight>
                  <a:srgbClr val="000000"/>
                </a:highlight>
                <a:latin typeface="pt-sans-pro"/>
              </a:rPr>
              <a:t>RFC1918 IP Addresses</a:t>
            </a:r>
            <a:br>
              <a:rPr lang="en-US" sz="1400" dirty="0">
                <a:highlight>
                  <a:srgbClr val="000000"/>
                </a:highlight>
              </a:rPr>
            </a:br>
            <a:r>
              <a:rPr lang="en-US" sz="1400" b="0" i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pt-sans-pro"/>
              </a:rPr>
              <a:t>Unknown </a:t>
            </a:r>
            <a:endParaRPr lang="en-GB" sz="1400" dirty="0">
              <a:highlight>
                <a:srgbClr val="000000"/>
              </a:highlight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AFCB091-D454-4C60-BFAB-8C09723C7D11}"/>
              </a:ext>
            </a:extLst>
          </p:cNvPr>
          <p:cNvSpPr/>
          <p:nvPr/>
        </p:nvSpPr>
        <p:spPr>
          <a:xfrm rot="10800000">
            <a:off x="4197926" y="1300194"/>
            <a:ext cx="692395" cy="221034"/>
          </a:xfrm>
          <a:prstGeom prst="rightArrow">
            <a:avLst>
              <a:gd name="adj1" fmla="val 68144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879626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F3315-51B7-CFAA-CB42-ED1C35BD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/>
          <a:lstStyle/>
          <a:p>
            <a:fld id="{D9951811-B1C5-4817-A040-715EA813AD86}" type="datetime1">
              <a:rPr lang="en-GB" smtClean="0"/>
              <a:t>18/03/2026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263E8-CB79-3567-8269-02D286DF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0814F-115B-B21A-D2F4-306AA467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E6160-6DC1-03C3-B332-3ADF4ED4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 dirty="0"/>
              <a:t>Graphs and DAGs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7CF5047-C92C-20F0-34F4-5F62FF93FC3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4553772" cy="371567"/>
          </a:xfrm>
        </p:spPr>
        <p:txBody>
          <a:bodyPr/>
          <a:lstStyle/>
          <a:p>
            <a:r>
              <a:rPr lang="en-US"/>
              <a:t>The Language of Networks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1F251A-FD74-6114-B507-3887AF637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74"/>
          <a:stretch>
            <a:fillRect/>
          </a:stretch>
        </p:blipFill>
        <p:spPr>
          <a:xfrm>
            <a:off x="6433209" y="876501"/>
            <a:ext cx="4474318" cy="19330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D8F2D2-1D37-067C-A80F-015D77BA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0"/>
          <a:stretch>
            <a:fillRect/>
          </a:stretch>
        </p:blipFill>
        <p:spPr>
          <a:xfrm>
            <a:off x="6446581" y="4129119"/>
            <a:ext cx="4728160" cy="193301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17C2EE-EF03-7105-B5B1-8C4CEA89388F}"/>
              </a:ext>
            </a:extLst>
          </p:cNvPr>
          <p:cNvSpPr txBox="1"/>
          <p:nvPr/>
        </p:nvSpPr>
        <p:spPr>
          <a:xfrm>
            <a:off x="6334298" y="662802"/>
            <a:ext cx="4761391" cy="252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b="1" dirty="0">
                <a:solidFill>
                  <a:schemeClr val="tx1"/>
                </a:solidFill>
              </a:rPr>
              <a:t>Directed Graph: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99681-B9AE-A957-3C9E-11E457384426}"/>
              </a:ext>
            </a:extLst>
          </p:cNvPr>
          <p:cNvSpPr txBox="1"/>
          <p:nvPr/>
        </p:nvSpPr>
        <p:spPr>
          <a:xfrm>
            <a:off x="6334298" y="3947595"/>
            <a:ext cx="2815805" cy="36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b="1" dirty="0">
                <a:solidFill>
                  <a:schemeClr val="tx1"/>
                </a:solidFill>
              </a:rPr>
              <a:t>Directed Acyclic Graph: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EAA69C-91E8-BDE1-B3B9-C2954BD4FC0A}"/>
              </a:ext>
            </a:extLst>
          </p:cNvPr>
          <p:cNvSpPr txBox="1"/>
          <p:nvPr/>
        </p:nvSpPr>
        <p:spPr>
          <a:xfrm>
            <a:off x="325800" y="1684266"/>
            <a:ext cx="1071611" cy="36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b="1" dirty="0">
                <a:solidFill>
                  <a:schemeClr val="tx1"/>
                </a:solidFill>
              </a:rPr>
              <a:t>Graph: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95C50D-7650-ED51-BECA-4671D0BA953C}"/>
              </a:ext>
            </a:extLst>
          </p:cNvPr>
          <p:cNvCxnSpPr>
            <a:cxnSpLocks/>
          </p:cNvCxnSpPr>
          <p:nvPr/>
        </p:nvCxnSpPr>
        <p:spPr>
          <a:xfrm flipH="1">
            <a:off x="9119093" y="668464"/>
            <a:ext cx="546522" cy="469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B92A7E-9608-A5C9-0122-71963AE92D58}"/>
              </a:ext>
            </a:extLst>
          </p:cNvPr>
          <p:cNvSpPr txBox="1"/>
          <p:nvPr/>
        </p:nvSpPr>
        <p:spPr>
          <a:xfrm>
            <a:off x="9665615" y="478447"/>
            <a:ext cx="758536" cy="36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1800" dirty="0">
                <a:solidFill>
                  <a:schemeClr val="tx1"/>
                </a:solidFill>
              </a:rPr>
              <a:t>Cycle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AB202BC-B5BE-62C1-8DD8-385CBA59E7A2}"/>
              </a:ext>
            </a:extLst>
          </p:cNvPr>
          <p:cNvCxnSpPr>
            <a:cxnSpLocks/>
          </p:cNvCxnSpPr>
          <p:nvPr/>
        </p:nvCxnSpPr>
        <p:spPr>
          <a:xfrm>
            <a:off x="5388713" y="1179694"/>
            <a:ext cx="2088993" cy="363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B23D5DF-E35F-04F6-BBA2-CDD6E612C74B}"/>
              </a:ext>
            </a:extLst>
          </p:cNvPr>
          <p:cNvSpPr txBox="1"/>
          <p:nvPr/>
        </p:nvSpPr>
        <p:spPr>
          <a:xfrm>
            <a:off x="4666678" y="736125"/>
            <a:ext cx="1235111" cy="65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1800" dirty="0">
                <a:solidFill>
                  <a:schemeClr val="tx1"/>
                </a:solidFill>
              </a:rPr>
              <a:t>Directed Edge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CD9A25C-792E-B2AE-A6B0-F76CF147C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/>
          <a:stretch>
            <a:fillRect/>
          </a:stretch>
        </p:blipFill>
        <p:spPr>
          <a:xfrm>
            <a:off x="277688" y="2809514"/>
            <a:ext cx="5859526" cy="2245881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95EAD0-AD50-F2B4-AB7E-DE3B86BA5F1A}"/>
              </a:ext>
            </a:extLst>
          </p:cNvPr>
          <p:cNvCxnSpPr>
            <a:cxnSpLocks/>
          </p:cNvCxnSpPr>
          <p:nvPr/>
        </p:nvCxnSpPr>
        <p:spPr>
          <a:xfrm>
            <a:off x="975888" y="2504638"/>
            <a:ext cx="843043" cy="490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7CEF12-980B-08E3-54EC-93F87BB46F42}"/>
              </a:ext>
            </a:extLst>
          </p:cNvPr>
          <p:cNvCxnSpPr>
            <a:cxnSpLocks/>
          </p:cNvCxnSpPr>
          <p:nvPr/>
        </p:nvCxnSpPr>
        <p:spPr>
          <a:xfrm flipH="1">
            <a:off x="2848250" y="2352200"/>
            <a:ext cx="591202" cy="7695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5EA4CB7-1F7B-62E8-27F5-FB0C2556D2E9}"/>
              </a:ext>
            </a:extLst>
          </p:cNvPr>
          <p:cNvSpPr txBox="1"/>
          <p:nvPr/>
        </p:nvSpPr>
        <p:spPr>
          <a:xfrm>
            <a:off x="636527" y="2227509"/>
            <a:ext cx="118240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dirty="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C738E8-3040-31BD-DFBE-C3FB6C519963}"/>
              </a:ext>
            </a:extLst>
          </p:cNvPr>
          <p:cNvSpPr txBox="1"/>
          <p:nvPr/>
        </p:nvSpPr>
        <p:spPr>
          <a:xfrm>
            <a:off x="2848250" y="2075189"/>
            <a:ext cx="118240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dirty="0">
                <a:solidFill>
                  <a:schemeClr val="tx1"/>
                </a:solidFill>
              </a:rPr>
              <a:t>Edge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A681B8-6EE0-3528-77F7-89E867C1CEAD}"/>
              </a:ext>
            </a:extLst>
          </p:cNvPr>
          <p:cNvSpPr txBox="1"/>
          <p:nvPr/>
        </p:nvSpPr>
        <p:spPr>
          <a:xfrm>
            <a:off x="318902" y="5303430"/>
            <a:ext cx="5777098" cy="484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400" b="1" dirty="0">
                <a:solidFill>
                  <a:schemeClr val="tx1"/>
                </a:solidFill>
              </a:rPr>
              <a:t>Figure 3: </a:t>
            </a:r>
            <a:r>
              <a:rPr lang="en-GB" sz="1400" i="1" dirty="0"/>
              <a:t>Diagram of six node undirected g</a:t>
            </a:r>
            <a:r>
              <a:rPr lang="en-GB" sz="1400" i="1" dirty="0">
                <a:solidFill>
                  <a:schemeClr val="tx1"/>
                </a:solidFill>
              </a:rPr>
              <a:t>raph with eight undirected edges. 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D74CE5EC-538B-8553-B3BF-40B95824277C}"/>
              </a:ext>
            </a:extLst>
          </p:cNvPr>
          <p:cNvSpPr txBox="1"/>
          <p:nvPr/>
        </p:nvSpPr>
        <p:spPr>
          <a:xfrm>
            <a:off x="6496781" y="2654527"/>
            <a:ext cx="4598908" cy="75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GB" sz="1400" b="1" dirty="0"/>
              <a:t>Figure 4: </a:t>
            </a:r>
            <a:r>
              <a:rPr lang="en-GB" sz="1400" i="1" dirty="0"/>
              <a:t>Diagram of six node directed graph with eight directed edges.  The red edges indicate the presence of a cycle.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6C684B64-F903-B13A-92A1-48171C9C9B7B}"/>
              </a:ext>
            </a:extLst>
          </p:cNvPr>
          <p:cNvSpPr txBox="1"/>
          <p:nvPr/>
        </p:nvSpPr>
        <p:spPr>
          <a:xfrm>
            <a:off x="6512261" y="6001916"/>
            <a:ext cx="4662480" cy="529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GB" sz="1400" b="1" dirty="0"/>
              <a:t>Figure 5: </a:t>
            </a:r>
            <a:r>
              <a:rPr lang="en-GB" sz="1400" i="1" dirty="0"/>
              <a:t>Diagram of six node directed acyclic graph with eight directed edges.  </a:t>
            </a:r>
          </a:p>
        </p:txBody>
      </p:sp>
    </p:spTree>
    <p:extLst>
      <p:ext uri="{BB962C8B-B14F-4D97-AF65-F5344CB8AC3E}">
        <p14:creationId xmlns:p14="http://schemas.microsoft.com/office/powerpoint/2010/main" val="325255384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577D-CD6C-1BFE-36DB-9BC6FDCA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DCB2-B28F-0CFE-C3FC-A03DA66D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anchor="t">
            <a:normAutofit/>
          </a:bodyPr>
          <a:lstStyle/>
          <a:p>
            <a:r>
              <a:rPr lang="en-US" dirty="0"/>
              <a:t>Mathematical Models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C93AB7-24E0-D878-F600-BB93EBC90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99" y="1132670"/>
            <a:ext cx="5610956" cy="5018748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These networks can have different and often complex topologies.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Sharing properties that can be captured and compared using mathematical models </a:t>
            </a:r>
            <a:r>
              <a:rPr lang="en-US" sz="1800" dirty="0" err="1"/>
              <a:t>analysing</a:t>
            </a:r>
            <a:r>
              <a:rPr lang="en-US" sz="1800" dirty="0"/>
              <a:t> them as graphs. 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Providing insight for useful questions; from: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 (1)	 “</a:t>
            </a:r>
            <a:r>
              <a:rPr lang="en-US" sz="1800" i="1" dirty="0"/>
              <a:t>What is the most important element in the network?” 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to,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(2) 	“</a:t>
            </a:r>
            <a:r>
              <a:rPr lang="en-US" sz="1800" i="1" dirty="0"/>
              <a:t>Given the characteristics of my network, how likely is it that one of its nodes forms the connections it does?”</a:t>
            </a:r>
            <a:endParaRPr lang="en-GB" sz="18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C98980-B56E-7B8D-D218-9086E6FB7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494" y="1051756"/>
            <a:ext cx="4784118" cy="2560062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6D3CD-A004-D9C0-9E6E-D774FF8D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AF68E6AE-337C-4465-9B4F-F308E5DE081B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F1AA0F9A-05D5-CAF1-378B-A5D2D453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65DBA-84A2-A338-8FF6-AEBC287C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B0787FF-4BB7-771A-218C-D5561987602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Applying images to backgrounds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1A993-0C6A-7F2C-1532-1C121B2491D0}"/>
              </a:ext>
            </a:extLst>
          </p:cNvPr>
          <p:cNvSpPr txBox="1"/>
          <p:nvPr/>
        </p:nvSpPr>
        <p:spPr>
          <a:xfrm>
            <a:off x="6096000" y="3671811"/>
            <a:ext cx="4843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Fig 6:</a:t>
            </a:r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 animation of the PageRank algorithm running on a small network of pages. The size of the nodes represents the perceived importance of the page, and arrows represent hyperlinks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GB" i="1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BFEF27-E3F8-2A67-DE54-110351BF813C}"/>
              </a:ext>
            </a:extLst>
          </p:cNvPr>
          <p:cNvSpPr/>
          <p:nvPr/>
        </p:nvSpPr>
        <p:spPr>
          <a:xfrm>
            <a:off x="4488873" y="3897009"/>
            <a:ext cx="1354974" cy="28263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614B05-D4F6-93DA-E381-43EFB247B7FA}"/>
              </a:ext>
            </a:extLst>
          </p:cNvPr>
          <p:cNvSpPr/>
          <p:nvPr/>
        </p:nvSpPr>
        <p:spPr>
          <a:xfrm>
            <a:off x="6128468" y="5469001"/>
            <a:ext cx="2419085" cy="28263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C789A-93A1-C6FC-9929-1C598DACAC45}"/>
              </a:ext>
            </a:extLst>
          </p:cNvPr>
          <p:cNvSpPr txBox="1"/>
          <p:nvPr/>
        </p:nvSpPr>
        <p:spPr>
          <a:xfrm>
            <a:off x="9160690" y="5401473"/>
            <a:ext cx="1778922" cy="4047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2600" b="1" dirty="0">
                <a:solidFill>
                  <a:schemeClr val="accent1"/>
                </a:solidFill>
                <a:latin typeface="+mj-lt"/>
              </a:rPr>
              <a:t>This Work</a:t>
            </a:r>
          </a:p>
        </p:txBody>
      </p:sp>
    </p:spTree>
    <p:extLst>
      <p:ext uri="{BB962C8B-B14F-4D97-AF65-F5344CB8AC3E}">
        <p14:creationId xmlns:p14="http://schemas.microsoft.com/office/powerpoint/2010/main" val="238411289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3BA0-4B5D-BB81-1758-2A16905D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73B2-57FE-D2AD-AF82-88711FFA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Citation Networks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FB4F5-D443-7F3C-4352-985DF9F5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827611E-091F-4C31-BDE6-5F5EA8484615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035" name="Footer Placeholder 3">
            <a:extLst>
              <a:ext uri="{FF2B5EF4-FFF2-40B4-BE49-F238E27FC236}">
                <a16:creationId xmlns:a16="http://schemas.microsoft.com/office/drawing/2014/main" id="{D0453A2B-0328-4678-EC28-4B647B95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3352" y="6393702"/>
            <a:ext cx="3423452" cy="429552"/>
          </a:xfrm>
        </p:spPr>
        <p:txBody>
          <a:bodyPr/>
          <a:lstStyle/>
          <a:p>
            <a:r>
              <a:rPr lang="en-US" dirty="0"/>
              <a:t>, </a:t>
            </a:r>
            <a:r>
              <a:rPr lang="en-US" sz="900" i="1" dirty="0"/>
              <a:t>(Gates, A. J., Ke, Q., Varol, O., &amp; </a:t>
            </a:r>
            <a:r>
              <a:rPr lang="en-US" sz="900" i="1" dirty="0" err="1"/>
              <a:t>Barabási</a:t>
            </a:r>
            <a:r>
              <a:rPr lang="en-US" sz="900" i="1" dirty="0"/>
              <a:t>, A. L. (2019). Nature’s reach: narrow work has broad impact. Nature, 575(7781), 32-34.)</a:t>
            </a:r>
          </a:p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7ACA7-89A0-7629-F240-C8606754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60B78-7FA5-1C67-5CEB-A3F8B974F62D}"/>
              </a:ext>
            </a:extLst>
          </p:cNvPr>
          <p:cNvSpPr txBox="1"/>
          <p:nvPr/>
        </p:nvSpPr>
        <p:spPr>
          <a:xfrm>
            <a:off x="351978" y="4573201"/>
            <a:ext cx="4967953" cy="25795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US" sz="1400" b="1" dirty="0"/>
              <a:t>Figure 1:</a:t>
            </a:r>
            <a:r>
              <a:rPr lang="en-US" sz="1400" b="1" i="1" dirty="0"/>
              <a:t> </a:t>
            </a:r>
            <a:r>
              <a:rPr lang="en-US" sz="1400" i="1" dirty="0"/>
              <a:t>In 2019, the scientific journal Nature marked its 150th anniversary by commissioning a unique multimedia project created by Albert-László </a:t>
            </a:r>
            <a:r>
              <a:rPr lang="en-US" sz="1400" i="1" dirty="0" err="1"/>
              <a:t>Barabási</a:t>
            </a:r>
            <a:r>
              <a:rPr lang="en-US" sz="1400" i="1" dirty="0"/>
              <a:t> and his team. The project began as a data-driven analysis of the journal's history, mapping out the co-citation network connecting the 88,000 papers published since 1900. The resulting visualization highlighted the multidisciplinary scope of the journal and the co-citation of different disciplines.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BEA63FA-C4A4-081F-DE95-4D293B871BB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233" y="612917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Scientific publication document citations  are everywhere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78057-C37B-79DB-6BD8-A49CA00005E5}"/>
              </a:ext>
            </a:extLst>
          </p:cNvPr>
          <p:cNvSpPr txBox="1"/>
          <p:nvPr/>
        </p:nvSpPr>
        <p:spPr>
          <a:xfrm>
            <a:off x="6383804" y="3555405"/>
            <a:ext cx="4728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</a:rPr>
              <a:t>Figure 2: </a:t>
            </a:r>
            <a:r>
              <a:rPr lang="en-US" sz="1400" b="0" i="1" dirty="0">
                <a:effectLst/>
              </a:rPr>
              <a:t>A rendering of more than 1,000 brain cells out of those reconstructed from analysis of 1 cubic </a:t>
            </a:r>
            <a:r>
              <a:rPr lang="en-US" sz="1400" b="0" i="1" dirty="0" err="1">
                <a:effectLst/>
              </a:rPr>
              <a:t>millimetre</a:t>
            </a:r>
            <a:r>
              <a:rPr lang="en-US" sz="1400" b="0" i="1" dirty="0">
                <a:effectLst/>
              </a:rPr>
              <a:t> of mouse brain tissue.</a:t>
            </a:r>
            <a:endParaRPr lang="en-GB" sz="1400" i="1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3C12A99-38F7-4B61-75BD-618BDB202C95}"/>
              </a:ext>
            </a:extLst>
          </p:cNvPr>
          <p:cNvSpPr/>
          <p:nvPr/>
        </p:nvSpPr>
        <p:spPr>
          <a:xfrm rot="10800000">
            <a:off x="4197926" y="1300194"/>
            <a:ext cx="692395" cy="221034"/>
          </a:xfrm>
          <a:prstGeom prst="rightArrow">
            <a:avLst>
              <a:gd name="adj1" fmla="val 68144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13345B-8614-3FC4-A40C-42ED19640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0"/>
          <a:stretch>
            <a:fillRect/>
          </a:stretch>
        </p:blipFill>
        <p:spPr>
          <a:xfrm>
            <a:off x="6255246" y="1627335"/>
            <a:ext cx="4728160" cy="19330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6A482B-59F7-C80F-D998-38DE8E3A3F94}"/>
                  </a:ext>
                </a:extLst>
              </p:cNvPr>
              <p:cNvSpPr txBox="1"/>
              <p:nvPr/>
            </p:nvSpPr>
            <p:spPr>
              <a:xfrm>
                <a:off x="5469404" y="2326441"/>
                <a:ext cx="914400" cy="53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6A482B-59F7-C80F-D998-38DE8E3A3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404" y="2326441"/>
                <a:ext cx="914400" cy="5348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>
            <a:extLst>
              <a:ext uri="{FF2B5EF4-FFF2-40B4-BE49-F238E27FC236}">
                <a16:creationId xmlns:a16="http://schemas.microsoft.com/office/drawing/2014/main" id="{60A8BE93-907A-CC39-B071-C17494FFE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33" y="1389466"/>
            <a:ext cx="5034949" cy="309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D27F50-24EB-3E7F-FA03-E2485EB62DB3}"/>
                  </a:ext>
                </a:extLst>
              </p:cNvPr>
              <p:cNvSpPr txBox="1"/>
              <p:nvPr/>
            </p:nvSpPr>
            <p:spPr>
              <a:xfrm>
                <a:off x="7911072" y="4809083"/>
                <a:ext cx="2447643" cy="53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:r>
                  <a:rPr lang="en-GB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Edge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</a:rPr>
                  <a:t> </a:t>
                </a:r>
                <a:r>
                  <a:rPr lang="en-GB" dirty="0">
                    <a:solidFill>
                      <a:schemeClr val="tx1"/>
                    </a:solidFill>
                  </a:rPr>
                  <a:t>Citation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D27F50-24EB-3E7F-FA03-E2485EB62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072" y="4809083"/>
                <a:ext cx="2447643" cy="534802"/>
              </a:xfrm>
              <a:prstGeom prst="rect">
                <a:avLst/>
              </a:prstGeom>
              <a:blipFill>
                <a:blip r:embed="rId5"/>
                <a:stretch>
                  <a:fillRect l="-5985" b="-79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851ED4-6234-4C10-084D-5C3E6676B877}"/>
                  </a:ext>
                </a:extLst>
              </p:cNvPr>
              <p:cNvSpPr txBox="1"/>
              <p:nvPr/>
            </p:nvSpPr>
            <p:spPr>
              <a:xfrm>
                <a:off x="7911071" y="5488419"/>
                <a:ext cx="2447643" cy="53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:r>
                  <a:rPr lang="en-GB" dirty="0">
                    <a:ea typeface="Cambria Math" panose="02040503050406030204" pitchFamily="18" charset="0"/>
                  </a:rPr>
                  <a:t>Node</a:t>
                </a:r>
                <a:r>
                  <a:rPr lang="en-GB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Paper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851ED4-6234-4C10-084D-5C3E6676B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071" y="5488419"/>
                <a:ext cx="2447643" cy="534802"/>
              </a:xfrm>
              <a:prstGeom prst="rect">
                <a:avLst/>
              </a:prstGeom>
              <a:blipFill>
                <a:blip r:embed="rId6"/>
                <a:stretch>
                  <a:fillRect l="-5985" t="-15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DF0CE681-47A6-67AD-B28A-1E60E0447BC8}"/>
              </a:ext>
            </a:extLst>
          </p:cNvPr>
          <p:cNvSpPr/>
          <p:nvPr/>
        </p:nvSpPr>
        <p:spPr>
          <a:xfrm>
            <a:off x="7722522" y="4645531"/>
            <a:ext cx="2086495" cy="138119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1080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42A5-E8CA-A8C0-F3ED-F2B05913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anchor="t">
            <a:normAutofit/>
          </a:bodyPr>
          <a:lstStyle/>
          <a:p>
            <a:r>
              <a:rPr lang="en-US" dirty="0"/>
              <a:t>Selected Network 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FF72F62-CFD1-653B-1508-9485B2C0A4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12753" y="2921117"/>
                <a:ext cx="11684986" cy="35548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800" i="1" dirty="0"/>
                  <a:t>	“What are the dominant behaviors of the system, and how can we describe these mathematically?”</a:t>
                </a:r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:endParaRPr lang="en-US" sz="1700" i="1" dirty="0"/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:endParaRPr lang="en-US" sz="1700" dirty="0"/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:endParaRPr lang="en-US" sz="1700" dirty="0"/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:endParaRPr lang="en-US" sz="1700" dirty="0"/>
              </a:p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:endParaRPr lang="en-GB" sz="1700" dirty="0"/>
              </a:p>
            </p:txBody>
          </p:sp>
        </mc:Choice>
        <mc:Fallback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FF72F62-CFD1-653B-1508-9485B2C0A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12753" y="2921117"/>
                <a:ext cx="11684986" cy="355483"/>
              </a:xfrm>
              <a:blipFill>
                <a:blip r:embed="rId2"/>
                <a:stretch>
                  <a:fillRect l="-574" t="-25424" b="-13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E90C2-09BF-E4DA-BAF0-FFA86E06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763F89BA-E380-4E3C-B040-31952AA5BAC2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7E883F75-8010-6BF5-F96E-5295C2B0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276F6-204F-1430-0889-5A9525D9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4DC8843-6038-A178-30EE-FAC0E96B17B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What are dominant behaviors do we wish to model?</a:t>
            </a:r>
            <a:endParaRPr 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339D3E8F-829F-B585-0B1C-0040CEFE12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483322-2E4C-0F6C-8CCE-22F0F8CF3C7D}"/>
              </a:ext>
            </a:extLst>
          </p:cNvPr>
          <p:cNvSpPr txBox="1"/>
          <p:nvPr/>
        </p:nvSpPr>
        <p:spPr>
          <a:xfrm>
            <a:off x="372833" y="3520874"/>
            <a:ext cx="4051132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(1)	The </a:t>
            </a:r>
            <a:r>
              <a:rPr lang="en-US" dirty="0"/>
              <a:t>Matthew effect: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4500D9-BF4C-CBAE-079D-0B6F2044A2F1}"/>
              </a:ext>
            </a:extLst>
          </p:cNvPr>
          <p:cNvSpPr txBox="1"/>
          <p:nvPr/>
        </p:nvSpPr>
        <p:spPr>
          <a:xfrm>
            <a:off x="4802939" y="3520874"/>
            <a:ext cx="2294601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dirty="0"/>
              <a:t>(2)	H</a:t>
            </a:r>
            <a:r>
              <a:rPr lang="en-US" sz="1800" dirty="0"/>
              <a:t>omophily: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B931F9-0379-79A0-D33A-7C0203C1E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3" y="4016363"/>
            <a:ext cx="3971292" cy="2221441"/>
          </a:xfrm>
          <a:prstGeom prst="rect">
            <a:avLst/>
          </a:prstGeom>
          <a:noFill/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EB19DBA-E03D-30BA-5476-3FAA04B40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74" y="4015416"/>
            <a:ext cx="7063624" cy="17785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9D51A36-2F72-F026-C4A2-C1B29AB5D28B}"/>
              </a:ext>
            </a:extLst>
          </p:cNvPr>
          <p:cNvSpPr txBox="1"/>
          <p:nvPr/>
        </p:nvSpPr>
        <p:spPr>
          <a:xfrm>
            <a:off x="325437" y="991763"/>
            <a:ext cx="11684986" cy="95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1800" i="1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(2)	 “</a:t>
            </a:r>
            <a:r>
              <a:rPr lang="en-US" sz="1800" i="1" dirty="0"/>
              <a:t>Given the characteristics of my </a:t>
            </a:r>
            <a:r>
              <a:rPr lang="en-US" dirty="0">
                <a:solidFill>
                  <a:schemeClr val="accent1"/>
                </a:solidFill>
              </a:rPr>
              <a:t>[citation] </a:t>
            </a:r>
            <a:r>
              <a:rPr lang="en-US" sz="1800" i="1" dirty="0"/>
              <a:t>network, how likely is it that one of </a:t>
            </a:r>
            <a:r>
              <a:rPr lang="en-US" i="1" dirty="0"/>
              <a:t>the</a:t>
            </a:r>
            <a:r>
              <a:rPr lang="en-US" sz="1800" i="1" dirty="0"/>
              <a:t> </a:t>
            </a:r>
            <a:r>
              <a:rPr lang="en-US" sz="1800" i="1" dirty="0">
                <a:solidFill>
                  <a:schemeClr val="accent1"/>
                </a:solidFill>
              </a:rPr>
              <a:t>[papers] </a:t>
            </a:r>
            <a:r>
              <a:rPr lang="en-US" sz="1800" i="1" dirty="0"/>
              <a:t>has the</a:t>
            </a:r>
            <a:r>
              <a:rPr lang="en-US" i="1" dirty="0"/>
              <a:t> number of</a:t>
            </a:r>
            <a:r>
              <a:rPr lang="en-US" sz="1800" i="1" dirty="0"/>
              <a:t> </a:t>
            </a:r>
            <a:r>
              <a:rPr lang="en-US" sz="1800" i="1" dirty="0">
                <a:solidFill>
                  <a:schemeClr val="accent1"/>
                </a:solidFill>
              </a:rPr>
              <a:t>[citations] </a:t>
            </a:r>
            <a:r>
              <a:rPr lang="en-US" sz="1800" i="1" dirty="0"/>
              <a:t>it does?”</a:t>
            </a:r>
            <a:endParaRPr lang="en-GB" sz="1800" i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B52526-B1FC-BB84-B6E1-031CE8B4C67D}"/>
              </a:ext>
            </a:extLst>
          </p:cNvPr>
          <p:cNvSpPr txBox="1"/>
          <p:nvPr/>
        </p:nvSpPr>
        <p:spPr>
          <a:xfrm>
            <a:off x="318592" y="2124744"/>
            <a:ext cx="11460655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As physicists, we know that a mathematical model of a real-world system can only capture certain aspects of the system under study.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536047-6631-80DD-2E1F-49A19F11CE06}"/>
              </a:ext>
            </a:extLst>
          </p:cNvPr>
          <p:cNvSpPr txBox="1"/>
          <p:nvPr/>
        </p:nvSpPr>
        <p:spPr>
          <a:xfrm>
            <a:off x="4707081" y="5909299"/>
            <a:ext cx="3206636" cy="570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400" b="1" dirty="0">
                <a:solidFill>
                  <a:schemeClr val="tx1"/>
                </a:solidFill>
              </a:rPr>
              <a:t>Figure 7: </a:t>
            </a:r>
            <a:r>
              <a:rPr lang="en-GB" sz="1400" i="1" dirty="0">
                <a:solidFill>
                  <a:schemeClr val="tx1"/>
                </a:solidFill>
              </a:rPr>
              <a:t>GIF of </a:t>
            </a:r>
            <a:r>
              <a:rPr lang="en-GB" sz="1400" i="1" dirty="0"/>
              <a:t>p</a:t>
            </a:r>
            <a:r>
              <a:rPr lang="en-GB" sz="1400" i="1" dirty="0">
                <a:solidFill>
                  <a:schemeClr val="tx1"/>
                </a:solidFill>
              </a:rPr>
              <a:t>referential attachmen</a:t>
            </a:r>
            <a:r>
              <a:rPr lang="en-GB" sz="1400" i="1" dirty="0"/>
              <a:t>t representing</a:t>
            </a:r>
            <a:r>
              <a:rPr lang="en-GB" sz="1400" i="1" dirty="0">
                <a:solidFill>
                  <a:schemeClr val="tx1"/>
                </a:solidFill>
              </a:rPr>
              <a:t>  the Matthew effect</a:t>
            </a:r>
            <a:r>
              <a:rPr lang="en-GB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792CF5-17D3-AA4B-CDD3-140F6B149E60}"/>
              </a:ext>
            </a:extLst>
          </p:cNvPr>
          <p:cNvSpPr txBox="1"/>
          <p:nvPr/>
        </p:nvSpPr>
        <p:spPr>
          <a:xfrm>
            <a:off x="8236753" y="5860477"/>
            <a:ext cx="3626427" cy="529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1400" b="1" dirty="0">
                <a:solidFill>
                  <a:schemeClr val="tx1"/>
                </a:solidFill>
              </a:rPr>
              <a:t>Figure </a:t>
            </a:r>
            <a:r>
              <a:rPr lang="en-GB" sz="1400" b="1" dirty="0"/>
              <a:t>8</a:t>
            </a:r>
            <a:r>
              <a:rPr lang="en-GB" sz="1400" b="1" dirty="0">
                <a:solidFill>
                  <a:schemeClr val="tx1"/>
                </a:solidFill>
              </a:rPr>
              <a:t>: </a:t>
            </a:r>
            <a:r>
              <a:rPr lang="en-GB" sz="1400" i="1" dirty="0">
                <a:solidFill>
                  <a:schemeClr val="tx1"/>
                </a:solidFill>
              </a:rPr>
              <a:t>Preferential attachmen</a:t>
            </a:r>
            <a:r>
              <a:rPr lang="en-GB" sz="1400" i="1" dirty="0"/>
              <a:t>t networks with </a:t>
            </a:r>
            <a:r>
              <a:rPr lang="en-GB" sz="1400" i="1" dirty="0">
                <a:solidFill>
                  <a:schemeClr val="tx1"/>
                </a:solidFill>
              </a:rPr>
              <a:t>various amounts of homophily.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8495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Cumulative Advantage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9FC07-B294-3147-4F1C-F21AA38B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2E1B571-8559-49B9-6C73-FEB3FE75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E4604-66E7-F62F-5F23-0376C97ADEB0}"/>
              </a:ext>
            </a:extLst>
          </p:cNvPr>
          <p:cNvSpPr txBox="1"/>
          <p:nvPr/>
        </p:nvSpPr>
        <p:spPr>
          <a:xfrm>
            <a:off x="325800" y="1359959"/>
            <a:ext cx="5548356" cy="125731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685765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Matthew effect”: Verse from the Gospel of Matthew: </a:t>
            </a:r>
            <a:r>
              <a:rPr lang="en-US" i="1" dirty="0"/>
              <a:t>“For everyone who has will be given more.”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C9C2EB-875B-E20A-3C9B-C3DBC698FFF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Matthew effect, Price’s model and the Barab</a:t>
            </a:r>
            <a:r>
              <a:rPr lang="en-GB" dirty="0"/>
              <a:t>á</a:t>
            </a:r>
            <a:r>
              <a:rPr lang="en-US" dirty="0" err="1"/>
              <a:t>si</a:t>
            </a:r>
            <a:r>
              <a:rPr lang="en-US" dirty="0"/>
              <a:t>–Albert Model</a:t>
            </a:r>
          </a:p>
        </p:txBody>
      </p:sp>
      <p:pic>
        <p:nvPicPr>
          <p:cNvPr id="25" name="ScreenRecording_03-18-2026 09-54-29_1">
            <a:hlinkClick r:id="" action="ppaction://media"/>
            <a:extLst>
              <a:ext uri="{FF2B5EF4-FFF2-40B4-BE49-F238E27FC236}">
                <a16:creationId xmlns:a16="http://schemas.microsoft.com/office/drawing/2014/main" id="{4434135B-A42D-94B9-7963-D22FF62E9C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74156" y="1708580"/>
            <a:ext cx="5548356" cy="38602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19F4B8-EB65-9429-3835-3840C667F683}"/>
              </a:ext>
            </a:extLst>
          </p:cNvPr>
          <p:cNvSpPr txBox="1"/>
          <p:nvPr/>
        </p:nvSpPr>
        <p:spPr>
          <a:xfrm>
            <a:off x="223324" y="2269880"/>
            <a:ext cx="1430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1976</a:t>
            </a:r>
            <a:r>
              <a:rPr lang="en-US" dirty="0"/>
              <a:t>: Price: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4507CD-132A-9393-2A24-F2FBA302A138}"/>
                  </a:ext>
                </a:extLst>
              </p:cNvPr>
              <p:cNvSpPr txBox="1"/>
              <p:nvPr/>
            </p:nvSpPr>
            <p:spPr>
              <a:xfrm>
                <a:off x="223324" y="2670774"/>
                <a:ext cx="5099859" cy="1112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sSub>
                        <m:sSub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2+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1+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4507CD-132A-9393-2A24-F2FBA302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4" y="2670774"/>
                <a:ext cx="5099859" cy="11120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116CC6E-4520-54D9-E714-0D414DCE2BAE}"/>
                  </a:ext>
                </a:extLst>
              </p:cNvPr>
              <p:cNvSpPr txBox="1"/>
              <p:nvPr/>
            </p:nvSpPr>
            <p:spPr>
              <a:xfrm>
                <a:off x="198192" y="5063716"/>
                <a:ext cx="5400477" cy="697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116CC6E-4520-54D9-E714-0D414DCE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92" y="5063716"/>
                <a:ext cx="5400477" cy="697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5FC8637-12FC-6906-C3FB-F4FF6A1698F6}"/>
              </a:ext>
            </a:extLst>
          </p:cNvPr>
          <p:cNvSpPr txBox="1"/>
          <p:nvPr/>
        </p:nvSpPr>
        <p:spPr>
          <a:xfrm>
            <a:off x="223324" y="4711505"/>
            <a:ext cx="272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1999: Barab</a:t>
            </a:r>
            <a:r>
              <a:rPr lang="en-GB" dirty="0"/>
              <a:t>á</a:t>
            </a:r>
            <a:r>
              <a:rPr lang="en-US" dirty="0" err="1"/>
              <a:t>si</a:t>
            </a:r>
            <a:r>
              <a:rPr lang="en-US" dirty="0"/>
              <a:t>–Albert : </a:t>
            </a:r>
            <a:endParaRPr lang="en-GB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10A11F-A8B2-6BE3-9A2D-4841C4E93C26}"/>
                  </a:ext>
                </a:extLst>
              </p:cNvPr>
              <p:cNvSpPr txBox="1"/>
              <p:nvPr/>
            </p:nvSpPr>
            <p:spPr>
              <a:xfrm>
                <a:off x="373632" y="3638705"/>
                <a:ext cx="509985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600" dirty="0"/>
                  <a:t>= initial number of citations a paper has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10A11F-A8B2-6BE3-9A2D-4841C4E9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32" y="3638705"/>
                <a:ext cx="5099859" cy="369332"/>
              </a:xfrm>
              <a:prstGeom prst="rect">
                <a:avLst/>
              </a:prstGeom>
              <a:blipFill>
                <a:blip r:embed="rId7"/>
                <a:stretch>
                  <a:fillRect l="-1314" t="-1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2DC046-0B53-030B-9746-48B90ABDA76C}"/>
                  </a:ext>
                </a:extLst>
              </p:cNvPr>
              <p:cNvSpPr txBox="1"/>
              <p:nvPr/>
            </p:nvSpPr>
            <p:spPr>
              <a:xfrm>
                <a:off x="373631" y="4198325"/>
                <a:ext cx="5099859" cy="5307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 = number of citations the newly added paper gives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2DC046-0B53-030B-9746-48B90ABDA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31" y="4198325"/>
                <a:ext cx="5099859" cy="530778"/>
              </a:xfrm>
              <a:prstGeom prst="rect">
                <a:avLst/>
              </a:prstGeom>
              <a:blipFill>
                <a:blip r:embed="rId8"/>
                <a:stretch>
                  <a:fillRect l="-956" t="-12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6CF3C44-0DF3-F99A-E44C-270D08FB0A3D}"/>
              </a:ext>
            </a:extLst>
          </p:cNvPr>
          <p:cNvSpPr txBox="1"/>
          <p:nvPr/>
        </p:nvSpPr>
        <p:spPr>
          <a:xfrm>
            <a:off x="5825884" y="5719655"/>
            <a:ext cx="5644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Figure 9: </a:t>
            </a:r>
            <a:r>
              <a:rPr lang="en-GB" sz="1400" i="1" dirty="0">
                <a:solidFill>
                  <a:schemeClr val="tx1"/>
                </a:solidFill>
              </a:rPr>
              <a:t>Video demonstrating </a:t>
            </a:r>
            <a:r>
              <a:rPr lang="en-GB" sz="1400" i="1" dirty="0"/>
              <a:t>p</a:t>
            </a:r>
            <a:r>
              <a:rPr lang="en-GB" sz="1400" i="1" dirty="0">
                <a:solidFill>
                  <a:schemeClr val="tx1"/>
                </a:solidFill>
              </a:rPr>
              <a:t>referential attachmen</a:t>
            </a:r>
            <a:r>
              <a:rPr lang="en-GB" sz="1400" i="1" dirty="0"/>
              <a:t>t representing</a:t>
            </a:r>
            <a:r>
              <a:rPr lang="en-GB" sz="1400" i="1" dirty="0">
                <a:solidFill>
                  <a:schemeClr val="tx1"/>
                </a:solidFill>
              </a:rPr>
              <a:t>  the Matthew effect.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24633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9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Cumulative Advantage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9FC07-B294-3147-4F1C-F21AA38B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2E1B571-8559-49B9-6C73-FEB3FE75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C9C2EB-875B-E20A-3C9B-C3DBC698FFF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Matthew effect, Price’s model and the Barab</a:t>
            </a:r>
            <a:r>
              <a:rPr lang="en-GB" dirty="0"/>
              <a:t>á</a:t>
            </a:r>
            <a:r>
              <a:rPr lang="en-US" dirty="0" err="1"/>
              <a:t>si</a:t>
            </a:r>
            <a:r>
              <a:rPr lang="en-US" dirty="0"/>
              <a:t>–Albert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9F4B8-EB65-9429-3835-3840C667F683}"/>
              </a:ext>
            </a:extLst>
          </p:cNvPr>
          <p:cNvSpPr txBox="1"/>
          <p:nvPr/>
        </p:nvSpPr>
        <p:spPr>
          <a:xfrm>
            <a:off x="325800" y="1047322"/>
            <a:ext cx="1430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1976</a:t>
            </a:r>
            <a:r>
              <a:rPr lang="en-US" dirty="0"/>
              <a:t>: Price: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4507CD-132A-9393-2A24-F2FBA302A138}"/>
                  </a:ext>
                </a:extLst>
              </p:cNvPr>
              <p:cNvSpPr txBox="1"/>
              <p:nvPr/>
            </p:nvSpPr>
            <p:spPr>
              <a:xfrm>
                <a:off x="288854" y="1994924"/>
                <a:ext cx="3769723" cy="1112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,∞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2+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1+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2+</m:t>
                              </m:r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GB" sz="16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4507CD-132A-9393-2A24-F2FBA302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54" y="1994924"/>
                <a:ext cx="3769723" cy="11120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116CC6E-4520-54D9-E714-0D414DCE2BAE}"/>
                  </a:ext>
                </a:extLst>
              </p:cNvPr>
              <p:cNvSpPr txBox="1"/>
              <p:nvPr/>
            </p:nvSpPr>
            <p:spPr>
              <a:xfrm>
                <a:off x="0" y="5192524"/>
                <a:ext cx="3430861" cy="667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116CC6E-4520-54D9-E714-0D414DCE2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92524"/>
                <a:ext cx="3430861" cy="6674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65FC8637-12FC-6906-C3FB-F4FF6A1698F6}"/>
              </a:ext>
            </a:extLst>
          </p:cNvPr>
          <p:cNvSpPr txBox="1"/>
          <p:nvPr/>
        </p:nvSpPr>
        <p:spPr>
          <a:xfrm>
            <a:off x="369527" y="4770970"/>
            <a:ext cx="272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1999: Barab</a:t>
            </a:r>
            <a:r>
              <a:rPr lang="en-GB" dirty="0"/>
              <a:t>á</a:t>
            </a:r>
            <a:r>
              <a:rPr lang="en-US" dirty="0" err="1"/>
              <a:t>si</a:t>
            </a:r>
            <a:r>
              <a:rPr lang="en-US" dirty="0"/>
              <a:t>–Albert : </a:t>
            </a:r>
            <a:endParaRPr lang="en-GB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10A11F-A8B2-6BE3-9A2D-4841C4E93C26}"/>
                  </a:ext>
                </a:extLst>
              </p:cNvPr>
              <p:cNvSpPr txBox="1"/>
              <p:nvPr/>
            </p:nvSpPr>
            <p:spPr>
              <a:xfrm>
                <a:off x="467602" y="3961270"/>
                <a:ext cx="3372878" cy="526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= initial number of citations a paper has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10A11F-A8B2-6BE3-9A2D-4841C4E9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02" y="3961270"/>
                <a:ext cx="3372878" cy="526684"/>
              </a:xfrm>
              <a:prstGeom prst="rect">
                <a:avLst/>
              </a:prstGeom>
              <a:blipFill>
                <a:blip r:embed="rId4"/>
                <a:stretch>
                  <a:fillRect l="-3797" t="-12791" r="-3617" b="-186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2DC046-0B53-030B-9746-48B90ABDA76C}"/>
                  </a:ext>
                </a:extLst>
              </p:cNvPr>
              <p:cNvSpPr txBox="1"/>
              <p:nvPr/>
            </p:nvSpPr>
            <p:spPr>
              <a:xfrm>
                <a:off x="467601" y="3325878"/>
                <a:ext cx="3445991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 = number of citations the newly added paper gives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2DC046-0B53-030B-9746-48B90ABDA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01" y="3325878"/>
                <a:ext cx="3445991" cy="646331"/>
              </a:xfrm>
              <a:prstGeom prst="rect">
                <a:avLst/>
              </a:prstGeom>
              <a:blipFill>
                <a:blip r:embed="rId5"/>
                <a:stretch>
                  <a:fillRect l="-3717" t="-10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5F8C747-B94C-85A9-CD63-D31CF3381250}"/>
              </a:ext>
            </a:extLst>
          </p:cNvPr>
          <p:cNvSpPr txBox="1"/>
          <p:nvPr/>
        </p:nvSpPr>
        <p:spPr>
          <a:xfrm>
            <a:off x="288854" y="5802807"/>
            <a:ext cx="5099859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B58A1A-0E32-3C46-3F03-DF99F1BEDCA5}"/>
                  </a:ext>
                </a:extLst>
              </p:cNvPr>
              <p:cNvSpPr txBox="1"/>
              <p:nvPr/>
            </p:nvSpPr>
            <p:spPr>
              <a:xfrm>
                <a:off x="4267961" y="5348495"/>
                <a:ext cx="77664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b="1" dirty="0">
                    <a:solidFill>
                      <a:schemeClr val="tx1"/>
                    </a:solidFill>
                  </a:rPr>
                  <a:t>Figure </a:t>
                </a:r>
                <a:r>
                  <a:rPr lang="en-GB" sz="1400" b="1" dirty="0"/>
                  <a:t>11</a:t>
                </a:r>
                <a:r>
                  <a:rPr lang="en-GB" sz="1400" b="1" dirty="0">
                    <a:solidFill>
                      <a:schemeClr val="tx1"/>
                    </a:solidFill>
                  </a:rPr>
                  <a:t>: </a:t>
                </a:r>
                <a:r>
                  <a:rPr lang="en-GB" sz="1400" i="1" dirty="0">
                    <a:solidFill>
                      <a:schemeClr val="tx1"/>
                    </a:solidFill>
                  </a:rPr>
                  <a:t>Video demonstrating </a:t>
                </a:r>
                <a:r>
                  <a:rPr lang="en-GB" sz="1400" i="1" dirty="0"/>
                  <a:t>p</a:t>
                </a:r>
                <a:r>
                  <a:rPr lang="en-GB" sz="1400" i="1" dirty="0">
                    <a:solidFill>
                      <a:schemeClr val="tx1"/>
                    </a:solidFill>
                  </a:rPr>
                  <a:t>referential attachmen</a:t>
                </a:r>
                <a:r>
                  <a:rPr lang="en-GB" sz="1400" i="1" dirty="0"/>
                  <a:t>t representing</a:t>
                </a:r>
                <a:r>
                  <a:rPr lang="en-GB" sz="1400" i="1" dirty="0">
                    <a:solidFill>
                      <a:schemeClr val="tx1"/>
                    </a:solidFill>
                  </a:rPr>
                  <a:t>  the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400" dirty="0"/>
              </a:p>
              <a:p>
                <a:r>
                  <a:rPr lang="en-GB" sz="1400" i="1" dirty="0">
                    <a:solidFill>
                      <a:schemeClr val="tx1"/>
                    </a:solidFill>
                  </a:rPr>
                  <a:t> Matthew effect</a:t>
                </a:r>
                <a:endParaRPr lang="en-GB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B58A1A-0E32-3C46-3F03-DF99F1BED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61" y="5348495"/>
                <a:ext cx="7766459" cy="523220"/>
              </a:xfrm>
              <a:prstGeom prst="rect">
                <a:avLst/>
              </a:prstGeom>
              <a:blipFill>
                <a:blip r:embed="rId6"/>
                <a:stretch>
                  <a:fillRect l="-235" t="-1163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B27469A-8B5C-F9A1-CAF4-CA78E22608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7" t="2347" r="5599" b="2311"/>
          <a:stretch>
            <a:fillRect/>
          </a:stretch>
        </p:blipFill>
        <p:spPr>
          <a:xfrm>
            <a:off x="4058577" y="1214915"/>
            <a:ext cx="7975844" cy="41335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4EACFE-D454-9E2B-F43E-A4767F1339B2}"/>
                  </a:ext>
                </a:extLst>
              </p:cNvPr>
              <p:cNvSpPr txBox="1"/>
              <p:nvPr/>
            </p:nvSpPr>
            <p:spPr>
              <a:xfrm>
                <a:off x="387854" y="1485074"/>
                <a:ext cx="3006436" cy="513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GB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d>
                      <m:dPr>
                        <m:ctrlP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4EACFE-D454-9E2B-F43E-A4767F133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4" y="1485074"/>
                <a:ext cx="3006436" cy="5135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7A8DD5B-FA58-A6C5-A63C-00093ABEEECB}"/>
              </a:ext>
            </a:extLst>
          </p:cNvPr>
          <p:cNvSpPr/>
          <p:nvPr/>
        </p:nvSpPr>
        <p:spPr>
          <a:xfrm>
            <a:off x="387854" y="1043985"/>
            <a:ext cx="3544066" cy="196970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C98BE-789D-CFF2-CB7C-1A0FC588BA48}"/>
              </a:ext>
            </a:extLst>
          </p:cNvPr>
          <p:cNvSpPr/>
          <p:nvPr/>
        </p:nvSpPr>
        <p:spPr>
          <a:xfrm>
            <a:off x="369527" y="3159196"/>
            <a:ext cx="3544066" cy="139021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1554B1-61EB-7129-07C3-B5ABDD4ED9C7}"/>
              </a:ext>
            </a:extLst>
          </p:cNvPr>
          <p:cNvSpPr/>
          <p:nvPr/>
        </p:nvSpPr>
        <p:spPr>
          <a:xfrm>
            <a:off x="369527" y="4709517"/>
            <a:ext cx="3544066" cy="127795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96607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E146-5CB2-BE02-637E-DE0FADDC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C40E-DA4B-A1FB-EF13-7C59DF8B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Homophily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2FB24-B7A8-3538-9235-D15E4706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AA2AC32B-9994-9CA6-005F-D33C2680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283A2-2109-B1F0-2F48-E5E77ECD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74831-6F72-F302-8EC0-8A6C01F929F5}"/>
              </a:ext>
            </a:extLst>
          </p:cNvPr>
          <p:cNvSpPr txBox="1"/>
          <p:nvPr/>
        </p:nvSpPr>
        <p:spPr>
          <a:xfrm>
            <a:off x="334233" y="1254731"/>
            <a:ext cx="11643973" cy="60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dirty="0"/>
              <a:t>2001: McPherson et al. show that “homophily in race and ethnicity creates the strongest divides in our personal environments, with age, religion, education, occupation, and gender following in roughly that order”. </a:t>
            </a:r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A0985CD-6C5D-EC70-0A7E-9D68EEDC24A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4233" y="705925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Homophily: The idea that similarity breeds connection.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6E140-D42F-F2EE-63AA-17A0AD86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0" y="3081946"/>
            <a:ext cx="11463829" cy="28864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58B4E5-2863-3E19-1F7F-0C27FD2C4C9B}"/>
              </a:ext>
            </a:extLst>
          </p:cNvPr>
          <p:cNvSpPr txBox="1"/>
          <p:nvPr/>
        </p:nvSpPr>
        <p:spPr>
          <a:xfrm>
            <a:off x="226167" y="1960785"/>
            <a:ext cx="11104201" cy="36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GB" sz="1800" dirty="0">
                <a:solidFill>
                  <a:schemeClr val="tx1"/>
                </a:solidFill>
              </a:rPr>
              <a:t>2018: Karimi et al. use </a:t>
            </a:r>
            <a:r>
              <a:rPr lang="en-GB" sz="1800" dirty="0" err="1">
                <a:solidFill>
                  <a:schemeClr val="tx1"/>
                </a:solidFill>
              </a:rPr>
              <a:t>Barab</a:t>
            </a:r>
            <a:r>
              <a:rPr lang="en-GB" dirty="0" err="1"/>
              <a:t>á</a:t>
            </a:r>
            <a:r>
              <a:rPr lang="en-GB" sz="1800" dirty="0" err="1">
                <a:solidFill>
                  <a:schemeClr val="tx1"/>
                </a:solidFill>
              </a:rPr>
              <a:t>si</a:t>
            </a:r>
            <a:r>
              <a:rPr lang="en-GB" sz="1800" dirty="0">
                <a:solidFill>
                  <a:schemeClr val="tx1"/>
                </a:solidFill>
              </a:rPr>
              <a:t>-Albert model </a:t>
            </a:r>
            <a:r>
              <a:rPr lang="en-GB" dirty="0"/>
              <a:t>and </a:t>
            </a:r>
            <a:r>
              <a:rPr lang="en-GB" sz="1800" dirty="0">
                <a:solidFill>
                  <a:schemeClr val="tx1"/>
                </a:solidFill>
              </a:rPr>
              <a:t>incorporate homophily as follows: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A081B0-324F-C695-7584-9481E73C4B31}"/>
                  </a:ext>
                </a:extLst>
              </p:cNvPr>
              <p:cNvSpPr txBox="1"/>
              <p:nvPr/>
            </p:nvSpPr>
            <p:spPr>
              <a:xfrm>
                <a:off x="334233" y="2525186"/>
                <a:ext cx="2517153" cy="4782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A081B0-324F-C695-7584-9481E73C4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33" y="2525186"/>
                <a:ext cx="2517153" cy="478270"/>
              </a:xfrm>
              <a:prstGeom prst="rect">
                <a:avLst/>
              </a:prstGeom>
              <a:blipFill>
                <a:blip r:embed="rId3"/>
                <a:stretch>
                  <a:fillRect l="-3390" t="-13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5312F9-9383-F28D-1A41-B5B9F2B98646}"/>
                  </a:ext>
                </a:extLst>
              </p:cNvPr>
              <p:cNvSpPr txBox="1"/>
              <p:nvPr/>
            </p:nvSpPr>
            <p:spPr>
              <a:xfrm>
                <a:off x="3559006" y="2371121"/>
                <a:ext cx="1720734" cy="571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5312F9-9383-F28D-1A41-B5B9F2B98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006" y="2371121"/>
                <a:ext cx="1720734" cy="571026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B71DAF-7DC8-0B78-AED4-00E292C2752B}"/>
                  </a:ext>
                </a:extLst>
              </p:cNvPr>
              <p:cNvSpPr txBox="1"/>
              <p:nvPr/>
            </p:nvSpPr>
            <p:spPr>
              <a:xfrm>
                <a:off x="2762587" y="2535956"/>
                <a:ext cx="914400" cy="3630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B71DAF-7DC8-0B78-AED4-00E292C27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587" y="2535956"/>
                <a:ext cx="914400" cy="363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E88446E-F07A-5721-FF2C-E28EA44ABB15}"/>
              </a:ext>
            </a:extLst>
          </p:cNvPr>
          <p:cNvSpPr txBox="1"/>
          <p:nvPr/>
        </p:nvSpPr>
        <p:spPr>
          <a:xfrm>
            <a:off x="159394" y="6008350"/>
            <a:ext cx="8735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Figure 12: </a:t>
            </a:r>
            <a:r>
              <a:rPr lang="en-GB" sz="1400" i="1" dirty="0">
                <a:solidFill>
                  <a:schemeClr val="tx1"/>
                </a:solidFill>
              </a:rPr>
              <a:t>Video demonstrating </a:t>
            </a:r>
            <a:r>
              <a:rPr lang="en-GB" sz="1400" i="1" dirty="0"/>
              <a:t>p</a:t>
            </a:r>
            <a:r>
              <a:rPr lang="en-GB" sz="1400" i="1" dirty="0">
                <a:solidFill>
                  <a:schemeClr val="tx1"/>
                </a:solidFill>
              </a:rPr>
              <a:t>referential attachmen</a:t>
            </a:r>
            <a:r>
              <a:rPr lang="en-GB" sz="1400" i="1" dirty="0"/>
              <a:t>t representing</a:t>
            </a:r>
            <a:r>
              <a:rPr lang="en-GB" sz="1400" i="1" dirty="0">
                <a:solidFill>
                  <a:schemeClr val="tx1"/>
                </a:solidFill>
              </a:rPr>
              <a:t>  the Matthew effect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5286818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6AD3-F446-3086-6D77-8DD19968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CB27-1790-7C56-51EE-21F1FC09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/>
              <a:t>Motivating 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93FF-9D0A-4F9F-7ADD-E43F99472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52097"/>
            <a:ext cx="10315117" cy="434180"/>
          </a:xfrm>
        </p:spPr>
        <p:txBody>
          <a:bodyPr vert="horz" lIns="0" tIns="0" rIns="0" bIns="0" rtlCol="0"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If we want to be more accurately answer question (2) for a greater majority of the nodes in our network,</a:t>
            </a:r>
          </a:p>
          <a:p>
            <a:pPr>
              <a:spcAft>
                <a:spcPts val="600"/>
              </a:spcAft>
            </a:pPr>
            <a:endParaRPr lang="en-GB" sz="1800" dirty="0"/>
          </a:p>
          <a:p>
            <a:pPr>
              <a:spcAft>
                <a:spcPts val="600"/>
              </a:spcAft>
            </a:pPr>
            <a:endParaRPr lang="en-GB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644DE-AB6D-E34D-E7B7-01E7AB36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267445B8-9153-69DB-BC35-1E08D29C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CC5A7-72FD-54D6-F6C6-B5F9F683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1D5BBB-012F-8998-4550-33735318E16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Preferential attachment and the Homophily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28937-3775-E7B1-5EEB-D331BF516B00}"/>
              </a:ext>
            </a:extLst>
          </p:cNvPr>
          <p:cNvSpPr txBox="1"/>
          <p:nvPr/>
        </p:nvSpPr>
        <p:spPr>
          <a:xfrm>
            <a:off x="325799" y="1095361"/>
            <a:ext cx="11643973" cy="16599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685765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F4CDC-77C3-8006-C20B-9EA6CF73E264}"/>
              </a:ext>
            </a:extLst>
          </p:cNvPr>
          <p:cNvSpPr txBox="1"/>
          <p:nvPr/>
        </p:nvSpPr>
        <p:spPr>
          <a:xfrm>
            <a:off x="231154" y="2171099"/>
            <a:ext cx="990206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1800" dirty="0"/>
              <a:t>(2) 	“</a:t>
            </a:r>
            <a:r>
              <a:rPr lang="en-US" sz="1800" i="1" dirty="0"/>
              <a:t>Given the characteristics of my network </a:t>
            </a:r>
            <a:r>
              <a:rPr lang="en-US" sz="1800" i="1" dirty="0">
                <a:solidFill>
                  <a:schemeClr val="accent1"/>
                </a:solidFill>
              </a:rPr>
              <a:t>[Matthew effect and Homophily] </a:t>
            </a:r>
            <a:r>
              <a:rPr lang="en-US" sz="1800" i="1" dirty="0"/>
              <a:t>how likely is it that one of its nodes forms the connections it does?”</a:t>
            </a:r>
            <a:endParaRPr lang="en-GB" sz="18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EC4778-DE3E-F9EA-BF9E-E7B6BCA17D5B}"/>
              </a:ext>
            </a:extLst>
          </p:cNvPr>
          <p:cNvSpPr txBox="1"/>
          <p:nvPr/>
        </p:nvSpPr>
        <p:spPr>
          <a:xfrm>
            <a:off x="231154" y="3261191"/>
            <a:ext cx="1120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Then we need to incorporate homophily not to the </a:t>
            </a:r>
            <a:r>
              <a:rPr lang="en-GB" sz="1800" dirty="0" err="1"/>
              <a:t>Bara</a:t>
            </a:r>
            <a:r>
              <a:rPr lang="en-GB" dirty="0" err="1"/>
              <a:t>bá</a:t>
            </a:r>
            <a:r>
              <a:rPr lang="en-US" dirty="0" err="1"/>
              <a:t>si</a:t>
            </a:r>
            <a:r>
              <a:rPr lang="en-US" dirty="0"/>
              <a:t>–Albert Model</a:t>
            </a:r>
            <a:r>
              <a:rPr lang="en-GB" sz="1800" dirty="0"/>
              <a:t>, but to the Price model: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F0CAAA-8A4A-858C-250A-E4A11BBB6589}"/>
              </a:ext>
            </a:extLst>
          </p:cNvPr>
          <p:cNvSpPr txBox="1"/>
          <p:nvPr/>
        </p:nvSpPr>
        <p:spPr>
          <a:xfrm>
            <a:off x="231154" y="4184455"/>
            <a:ext cx="218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So, if not: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73E7E-5EEB-A914-04CD-E7B6028AC47A}"/>
                  </a:ext>
                </a:extLst>
              </p:cNvPr>
              <p:cNvSpPr txBox="1"/>
              <p:nvPr/>
            </p:nvSpPr>
            <p:spPr>
              <a:xfrm>
                <a:off x="0" y="4707794"/>
                <a:ext cx="7406567" cy="1111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⇒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2+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1+</m:t>
                              </m:r>
                              <m:d>
                                <m:d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273E7E-5EEB-A914-04CD-E7B6028AC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07794"/>
                <a:ext cx="7406567" cy="1111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07F6CA8-37C3-45CA-B5EA-7894A8BE0A38}"/>
              </a:ext>
            </a:extLst>
          </p:cNvPr>
          <p:cNvSpPr txBox="1"/>
          <p:nvPr/>
        </p:nvSpPr>
        <p:spPr>
          <a:xfrm>
            <a:off x="7556196" y="4180362"/>
            <a:ext cx="798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But: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B6D040-DE03-3595-923A-4F8F69B4F732}"/>
                  </a:ext>
                </a:extLst>
              </p:cNvPr>
              <p:cNvSpPr txBox="1"/>
              <p:nvPr/>
            </p:nvSpPr>
            <p:spPr>
              <a:xfrm>
                <a:off x="7406567" y="5056927"/>
                <a:ext cx="4341393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GB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  <m:r>
                        <a:rPr lang="en-GB" sz="20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,∞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B6D040-DE03-3595-923A-4F8F69B4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567" y="5056927"/>
                <a:ext cx="4341393" cy="413511"/>
              </a:xfrm>
              <a:prstGeom prst="rect">
                <a:avLst/>
              </a:prstGeom>
              <a:blipFill>
                <a:blip r:embed="rId3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0555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D954-4B0E-1DE7-366A-CDE64E42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1B4D-A83B-E174-0026-FFDC1D21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/>
              <a:t>Key Result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A98F7-05C2-E0E8-0E47-97020AAB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FE61D692-288F-AE3D-1842-EB02EBF1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7FE92-09E4-1E76-240D-BD05E826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45DB45F-6980-98EC-EFCD-335015ACD95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618" y="768230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Preferential attachment and the Homophily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C3303-ECF1-F5EF-7A01-0862D6256867}"/>
              </a:ext>
            </a:extLst>
          </p:cNvPr>
          <p:cNvSpPr txBox="1"/>
          <p:nvPr/>
        </p:nvSpPr>
        <p:spPr>
          <a:xfrm>
            <a:off x="2218806" y="1359959"/>
            <a:ext cx="2783642" cy="16599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685765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BC8CD-F998-8707-52D6-3AECA4E2579E}"/>
                  </a:ext>
                </a:extLst>
              </p:cNvPr>
              <p:cNvSpPr txBox="1"/>
              <p:nvPr/>
            </p:nvSpPr>
            <p:spPr>
              <a:xfrm>
                <a:off x="301814" y="1379202"/>
                <a:ext cx="6617626" cy="68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GB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GB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+(1−</m:t>
                            </m:r>
                            <m:sSub>
                              <m:sSubPr>
                                <m:ctrlP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GB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ctrlP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GB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GB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BC8CD-F998-8707-52D6-3AECA4E25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14" y="1379202"/>
                <a:ext cx="6617626" cy="681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5387A6-9439-AAD9-FE81-90D7A181062E}"/>
                  </a:ext>
                </a:extLst>
              </p:cNvPr>
              <p:cNvSpPr txBox="1"/>
              <p:nvPr/>
            </p:nvSpPr>
            <p:spPr>
              <a:xfrm>
                <a:off x="168810" y="2319993"/>
                <a:ext cx="5453841" cy="1117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,∞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5387A6-9439-AAD9-FE81-90D7A1810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10" y="2319993"/>
                <a:ext cx="5453841" cy="1117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7499653-2525-9BBF-1ED7-ACDE5DD4040B}"/>
                  </a:ext>
                </a:extLst>
              </p:cNvPr>
              <p:cNvSpPr txBox="1"/>
              <p:nvPr/>
            </p:nvSpPr>
            <p:spPr>
              <a:xfrm>
                <a:off x="1521360" y="4575398"/>
                <a:ext cx="2247566" cy="534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e>
                    </m:d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𝑚𝑡</m:t>
                        </m:r>
                      </m:den>
                    </m:f>
                  </m:oMath>
                </a14:m>
                <a:r>
                  <a:rPr lang="en-GB" dirty="0"/>
                  <a:t>,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7499653-2525-9BBF-1ED7-ACDE5DD40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360" y="4575398"/>
                <a:ext cx="2247566" cy="534249"/>
              </a:xfrm>
              <a:prstGeom prst="rect">
                <a:avLst/>
              </a:prstGeom>
              <a:blipFill>
                <a:blip r:embed="rId4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C3343E-C279-6A83-A8AB-29C6C7F04CB8}"/>
                  </a:ext>
                </a:extLst>
              </p:cNvPr>
              <p:cNvSpPr txBox="1"/>
              <p:nvPr/>
            </p:nvSpPr>
            <p:spPr>
              <a:xfrm>
                <a:off x="5829308" y="4430398"/>
                <a:ext cx="5025045" cy="465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GB" sz="20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GB" sz="20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C3343E-C279-6A83-A8AB-29C6C7F04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8" y="4430398"/>
                <a:ext cx="5025045" cy="4658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C2E0DA-20BD-2850-B4B3-4FEC5D17536E}"/>
                  </a:ext>
                </a:extLst>
              </p:cNvPr>
              <p:cNvSpPr txBox="1"/>
              <p:nvPr/>
            </p:nvSpPr>
            <p:spPr>
              <a:xfrm>
                <a:off x="1490157" y="4079941"/>
                <a:ext cx="1670846" cy="49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,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C2E0DA-20BD-2850-B4B3-4FEC5D175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157" y="4079941"/>
                <a:ext cx="1670846" cy="495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211A9C2-DB6D-A1D5-F353-ADD3712C4466}"/>
              </a:ext>
            </a:extLst>
          </p:cNvPr>
          <p:cNvSpPr txBox="1"/>
          <p:nvPr/>
        </p:nvSpPr>
        <p:spPr>
          <a:xfrm>
            <a:off x="301813" y="3854348"/>
            <a:ext cx="1941721" cy="3984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2000" dirty="0">
                <a:solidFill>
                  <a:schemeClr val="tx1"/>
                </a:solidFill>
              </a:rPr>
              <a:t>Where,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78AE56F-AFBF-92FE-951D-1333C52C012A}"/>
              </a:ext>
            </a:extLst>
          </p:cNvPr>
          <p:cNvCxnSpPr>
            <a:cxnSpLocks/>
          </p:cNvCxnSpPr>
          <p:nvPr/>
        </p:nvCxnSpPr>
        <p:spPr>
          <a:xfrm flipV="1">
            <a:off x="7622771" y="4879571"/>
            <a:ext cx="0" cy="665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2B899B-D9B2-7306-99A6-2200DC484896}"/>
              </a:ext>
            </a:extLst>
          </p:cNvPr>
          <p:cNvCxnSpPr>
            <a:cxnSpLocks/>
          </p:cNvCxnSpPr>
          <p:nvPr/>
        </p:nvCxnSpPr>
        <p:spPr>
          <a:xfrm flipV="1">
            <a:off x="7622771" y="4879571"/>
            <a:ext cx="739833" cy="665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DA4AB55-4B3B-5865-AF72-FDD7E172FA4C}"/>
              </a:ext>
            </a:extLst>
          </p:cNvPr>
          <p:cNvSpPr txBox="1"/>
          <p:nvPr/>
        </p:nvSpPr>
        <p:spPr>
          <a:xfrm>
            <a:off x="7431578" y="5544589"/>
            <a:ext cx="2948331" cy="2660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dirty="0">
                <a:solidFill>
                  <a:schemeClr val="tx1"/>
                </a:solidFill>
              </a:rPr>
              <a:t>So, what are these terms?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53526-3DAE-A9F9-655D-2ECCD7C340EA}"/>
                  </a:ext>
                </a:extLst>
              </p:cNvPr>
              <p:cNvSpPr txBox="1"/>
              <p:nvPr/>
            </p:nvSpPr>
            <p:spPr>
              <a:xfrm>
                <a:off x="7156303" y="1463033"/>
                <a:ext cx="4182257" cy="45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fraction of nodes in network of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53526-3DAE-A9F9-655D-2ECCD7C34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03" y="1463033"/>
                <a:ext cx="4182257" cy="457200"/>
              </a:xfrm>
              <a:prstGeom prst="rect">
                <a:avLst/>
              </a:prstGeom>
              <a:blipFill>
                <a:blip r:embed="rId7"/>
                <a:stretch>
                  <a:fillRect l="-2041" t="-18667" r="-13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D5F8465-9CD0-9049-2F1D-E5D24F1A9B2E}"/>
                  </a:ext>
                </a:extLst>
              </p:cNvPr>
              <p:cNvSpPr txBox="1"/>
              <p:nvPr/>
            </p:nvSpPr>
            <p:spPr>
              <a:xfrm>
                <a:off x="7156303" y="1863596"/>
                <a:ext cx="509985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= initial number of citations a paper has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D5F8465-9CD0-9049-2F1D-E5D24F1A9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03" y="1863596"/>
                <a:ext cx="5099859" cy="369332"/>
              </a:xfrm>
              <a:prstGeom prst="rect">
                <a:avLst/>
              </a:prstGeom>
              <a:blipFill>
                <a:blip r:embed="rId8"/>
                <a:stretch>
                  <a:fillRect l="-1673" t="-23333" b="-1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7793A0A-6D75-4485-BBD8-A8058023925B}"/>
                  </a:ext>
                </a:extLst>
              </p:cNvPr>
              <p:cNvSpPr txBox="1"/>
              <p:nvPr/>
            </p:nvSpPr>
            <p:spPr>
              <a:xfrm>
                <a:off x="1475926" y="5175784"/>
                <a:ext cx="2258692" cy="534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𝑚𝑡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7793A0A-6D75-4485-BBD8-A80580239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926" y="5175784"/>
                <a:ext cx="2258692" cy="534248"/>
              </a:xfrm>
              <a:prstGeom prst="rect">
                <a:avLst/>
              </a:prstGeom>
              <a:blipFill>
                <a:blip r:embed="rId9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BB84EB9-41C4-1F1C-F904-65D70EC5C699}"/>
                  </a:ext>
                </a:extLst>
              </p:cNvPr>
              <p:cNvSpPr txBox="1"/>
              <p:nvPr/>
            </p:nvSpPr>
            <p:spPr>
              <a:xfrm>
                <a:off x="7156303" y="2358849"/>
                <a:ext cx="4440002" cy="4318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= number of citations the newly added paper gives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BB84EB9-41C4-1F1C-F904-65D70EC5C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03" y="2358849"/>
                <a:ext cx="4440002" cy="431864"/>
              </a:xfrm>
              <a:prstGeom prst="rect">
                <a:avLst/>
              </a:prstGeom>
              <a:blipFill>
                <a:blip r:embed="rId10"/>
                <a:stretch>
                  <a:fillRect l="-3297" t="-19718" b="-61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6E239C-B66A-DE8A-F8D6-66BA3928CDC7}"/>
                  </a:ext>
                </a:extLst>
              </p:cNvPr>
              <p:cNvSpPr txBox="1"/>
              <p:nvPr/>
            </p:nvSpPr>
            <p:spPr>
              <a:xfrm>
                <a:off x="7081538" y="3048402"/>
                <a:ext cx="4514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homophily parameter for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node </a:t>
                </a:r>
                <a:endParaRPr lang="en-GB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6E239C-B66A-DE8A-F8D6-66BA3928C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538" y="3048402"/>
                <a:ext cx="4514766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0310ABD5-036C-BA80-843A-F8EB5A1BB781}"/>
              </a:ext>
            </a:extLst>
          </p:cNvPr>
          <p:cNvSpPr/>
          <p:nvPr/>
        </p:nvSpPr>
        <p:spPr>
          <a:xfrm>
            <a:off x="6919440" y="1359959"/>
            <a:ext cx="4676864" cy="21396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279054-977C-3CA5-0B4C-414C8E92037E}"/>
              </a:ext>
            </a:extLst>
          </p:cNvPr>
          <p:cNvSpPr/>
          <p:nvPr/>
        </p:nvSpPr>
        <p:spPr>
          <a:xfrm>
            <a:off x="1441620" y="3948658"/>
            <a:ext cx="2327304" cy="198192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6D27745-9F84-D2F1-1CF6-F912C3AC47E0}"/>
              </a:ext>
            </a:extLst>
          </p:cNvPr>
          <p:cNvSpPr/>
          <p:nvPr/>
        </p:nvSpPr>
        <p:spPr>
          <a:xfrm>
            <a:off x="301813" y="1359959"/>
            <a:ext cx="5857917" cy="21396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DF0516-FA71-007A-20F6-E74F715C5256}"/>
                  </a:ext>
                </a:extLst>
              </p:cNvPr>
              <p:cNvSpPr txBox="1"/>
              <p:nvPr/>
            </p:nvSpPr>
            <p:spPr>
              <a:xfrm>
                <a:off x="7233723" y="5851879"/>
                <a:ext cx="21051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GB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DF0516-FA71-007A-20F6-E74F715C5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723" y="5851879"/>
                <a:ext cx="2105198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13666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F3A4-EEB1-FC8D-9990-91841073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A5D2-A27E-93EC-5F2A-1F8A1018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Asymptotic Values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6877-C48D-ED7F-0256-DB8335BE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390FE121-BDD2-E51C-B50E-DDBC2370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D7237-EDBC-ABF7-656E-4CC9DCD8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F3E6C-D5A2-2445-9690-E701FDE751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97448" y="1449421"/>
                <a:ext cx="2685529" cy="782456"/>
              </a:xfrm>
            </p:spPr>
            <p:txBody>
              <a:bodyPr vert="horz" lIns="0" tIns="0" rIns="0" bIns="0" rtlCol="0">
                <a:noAutofit/>
              </a:bodyPr>
              <a:lstStyle/>
              <a:p>
                <a:pPr>
                  <a:lnSpc>
                    <a:spcPct val="9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converging. The value of these terms is estimated by: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F3E6C-D5A2-2445-9690-E701FDE75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97448" y="1449421"/>
                <a:ext cx="2685529" cy="782456"/>
              </a:xfrm>
              <a:blipFill>
                <a:blip r:embed="rId2"/>
                <a:stretch>
                  <a:fillRect l="-5215" t="-11719" r="-2721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3">
            <a:extLst>
              <a:ext uri="{FF2B5EF4-FFF2-40B4-BE49-F238E27FC236}">
                <a16:creationId xmlns:a16="http://schemas.microsoft.com/office/drawing/2014/main" id="{37B1FF42-AAF6-08A5-FFA0-4F7078AAB6B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Numerical Result Demonstrating term convergence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84DD5D-5770-529F-7532-14F3E95F1502}"/>
                  </a:ext>
                </a:extLst>
              </p:cNvPr>
              <p:cNvSpPr txBox="1"/>
              <p:nvPr/>
            </p:nvSpPr>
            <p:spPr>
              <a:xfrm>
                <a:off x="325800" y="5535062"/>
                <a:ext cx="868519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b="1" i="1" dirty="0">
                    <a:solidFill>
                      <a:schemeClr val="tx1"/>
                    </a:solidFill>
                  </a:rPr>
                  <a:t>Figure </a:t>
                </a:r>
                <a:r>
                  <a:rPr lang="en-GB" sz="1400" b="1" i="1" dirty="0"/>
                  <a:t>11</a:t>
                </a:r>
                <a:r>
                  <a:rPr lang="en-GB" sz="1400" b="1" i="1" dirty="0">
                    <a:solidFill>
                      <a:schemeClr val="tx1"/>
                    </a:solidFill>
                  </a:rPr>
                  <a:t>: </a:t>
                </a:r>
                <a:r>
                  <a:rPr lang="en-GB" sz="1400" i="1" dirty="0">
                    <a:solidFill>
                      <a:schemeClr val="tx1"/>
                    </a:solidFill>
                  </a:rPr>
                  <a:t>Mean in-degree for the type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i="1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i="1" dirty="0"/>
                  <a:t>nodes sampled by taking the arithmetic mean in-degree every 100 nodes. The values of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i="1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400" i="1" dirty="0"/>
                  <a:t> are taken as the arithmetic mean of this values for the last 5% of these values once the network has settled. In this case this was 14 points.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84DD5D-5770-529F-7532-14F3E95F1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00" y="5535062"/>
                <a:ext cx="8685196" cy="738664"/>
              </a:xfrm>
              <a:prstGeom prst="rect">
                <a:avLst/>
              </a:prstGeom>
              <a:blipFill>
                <a:blip r:embed="rId3"/>
                <a:stretch>
                  <a:fillRect l="-211" t="-1653" r="-561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17D6AF37-2718-7DB8-2F73-95A5601D6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" y="991763"/>
            <a:ext cx="9250761" cy="4541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5DD112-CB8A-A478-E91F-BA822D3AC447}"/>
                  </a:ext>
                </a:extLst>
              </p:cNvPr>
              <p:cNvSpPr txBox="1"/>
              <p:nvPr/>
            </p:nvSpPr>
            <p:spPr>
              <a:xfrm>
                <a:off x="9250761" y="2578871"/>
                <a:ext cx="2894552" cy="54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dirty="0"/>
                      <m:t>0.000130997924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45DD112-CB8A-A478-E91F-BA822D3AC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761" y="2578871"/>
                <a:ext cx="2894552" cy="547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767B805-EFDA-CB16-00D4-BF07299D4657}"/>
                  </a:ext>
                </a:extLst>
              </p:cNvPr>
              <p:cNvSpPr txBox="1"/>
              <p:nvPr/>
            </p:nvSpPr>
            <p:spPr>
              <a:xfrm>
                <a:off x="9297448" y="3497832"/>
                <a:ext cx="2722755" cy="627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GB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dirty="0"/>
                        <m:t>0.000130997924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767B805-EFDA-CB16-00D4-BF07299D4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7448" y="3497832"/>
                <a:ext cx="2722755" cy="6274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DD3FC97-EB3E-2B29-D2C0-0D14E0E95228}"/>
                  </a:ext>
                </a:extLst>
              </p:cNvPr>
              <p:cNvSpPr txBox="1"/>
              <p:nvPr/>
            </p:nvSpPr>
            <p:spPr>
              <a:xfrm>
                <a:off x="9250761" y="4459737"/>
                <a:ext cx="21051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GB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DD3FC97-EB3E-2B29-D2C0-0D14E0E95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761" y="4459737"/>
                <a:ext cx="2105198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30311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7C96-D0FF-6897-F56D-98719361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752E-01C9-9E24-99FE-ED064F95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Our Network Model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F4A00-8650-1B77-24F7-FE9DE548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4E738F27-EB52-E37E-6225-A38A43AE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CC97E-5E77-C901-CE55-6DCB6EFE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9F8A-F08F-7CA0-FF21-596B2F4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260" y="5866236"/>
            <a:ext cx="3743163" cy="371568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GB" sz="1400" b="1" dirty="0"/>
              <a:t>Figure 12: </a:t>
            </a:r>
            <a:r>
              <a:rPr lang="en-GB" sz="1400" i="1" dirty="0"/>
              <a:t>Our Network simulation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281D9C7-7B39-431F-8AA9-62EFC53C472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42546" y="651537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Price’s model and the Homophily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46A4E-FB26-64DB-9DE0-09B1C102F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02"/>
          <a:stretch>
            <a:fillRect/>
          </a:stretch>
        </p:blipFill>
        <p:spPr>
          <a:xfrm>
            <a:off x="1965260" y="1226330"/>
            <a:ext cx="7441154" cy="2174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13031-E1FD-C604-7B5D-324437899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02"/>
          <a:stretch>
            <a:fillRect/>
          </a:stretch>
        </p:blipFill>
        <p:spPr>
          <a:xfrm>
            <a:off x="1965261" y="3556599"/>
            <a:ext cx="7441154" cy="217437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309B94-17EA-7C47-69C0-3D295B7C5A4C}"/>
              </a:ext>
            </a:extLst>
          </p:cNvPr>
          <p:cNvCxnSpPr>
            <a:cxnSpLocks/>
          </p:cNvCxnSpPr>
          <p:nvPr/>
        </p:nvCxnSpPr>
        <p:spPr>
          <a:xfrm flipH="1">
            <a:off x="9484822" y="3766923"/>
            <a:ext cx="9809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41CE90-B2DE-2252-7249-7C697F81751C}"/>
              </a:ext>
            </a:extLst>
          </p:cNvPr>
          <p:cNvSpPr txBox="1"/>
          <p:nvPr/>
        </p:nvSpPr>
        <p:spPr>
          <a:xfrm>
            <a:off x="11258172" y="3208713"/>
            <a:ext cx="55450" cy="558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760B85-522D-85B0-E543-E3D843F8765A}"/>
                  </a:ext>
                </a:extLst>
              </p:cNvPr>
              <p:cNvSpPr txBox="1"/>
              <p:nvPr/>
            </p:nvSpPr>
            <p:spPr>
              <a:xfrm>
                <a:off x="10641349" y="2162689"/>
                <a:ext cx="1532281" cy="1777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GB" dirty="0">
                    <a:solidFill>
                      <a:schemeClr val="tx1"/>
                    </a:solidFill>
                  </a:rPr>
                  <a:t>Not infinitely big.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derived under this assumption.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760B85-522D-85B0-E543-E3D843F8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349" y="2162689"/>
                <a:ext cx="1532281" cy="1777841"/>
              </a:xfrm>
              <a:prstGeom prst="rect">
                <a:avLst/>
              </a:prstGeom>
              <a:blipFill>
                <a:blip r:embed="rId3"/>
                <a:stretch>
                  <a:fillRect l="-9562" t="-4811" r="-4781" b="-51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A52DF7-F3A6-9FC6-9E5F-F8245ED9741B}"/>
                  </a:ext>
                </a:extLst>
              </p:cNvPr>
              <p:cNvSpPr txBox="1"/>
              <p:nvPr/>
            </p:nvSpPr>
            <p:spPr>
              <a:xfrm>
                <a:off x="5652654" y="2971800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GB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A52DF7-F3A6-9FC6-9E5F-F8245ED97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654" y="2971800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 l="-10000" r="-9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95E80C-A7B3-5220-73F0-B74C1846A1D9}"/>
                  </a:ext>
                </a:extLst>
              </p:cNvPr>
              <p:cNvSpPr txBox="1"/>
              <p:nvPr/>
            </p:nvSpPr>
            <p:spPr>
              <a:xfrm>
                <a:off x="218886" y="1287710"/>
                <a:ext cx="1507390" cy="2377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GB" dirty="0"/>
                  <a:t>One way to answer this is to create a finite sized model and see how well described it is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95E80C-A7B3-5220-73F0-B74C1846A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86" y="1287710"/>
                <a:ext cx="1507390" cy="2377597"/>
              </a:xfrm>
              <a:prstGeom prst="rect">
                <a:avLst/>
              </a:prstGeom>
              <a:blipFill>
                <a:blip r:embed="rId5"/>
                <a:stretch>
                  <a:fillRect l="-9717" t="-3590" r="-12955" b="-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20C0D50-1473-30DF-300B-400120F5A6C9}"/>
              </a:ext>
            </a:extLst>
          </p:cNvPr>
          <p:cNvSpPr txBox="1"/>
          <p:nvPr/>
        </p:nvSpPr>
        <p:spPr>
          <a:xfrm>
            <a:off x="254908" y="4322974"/>
            <a:ext cx="1407636" cy="17290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dirty="0">
                <a:solidFill>
                  <a:schemeClr val="tx1"/>
                </a:solidFill>
              </a:rPr>
              <a:t>Real networks are finite-sized this analysis is physically relevant.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961248-0204-6545-34BF-541C35DFBE10}"/>
                  </a:ext>
                </a:extLst>
              </p:cNvPr>
              <p:cNvSpPr txBox="1"/>
              <p:nvPr/>
            </p:nvSpPr>
            <p:spPr>
              <a:xfrm>
                <a:off x="9709132" y="4843950"/>
                <a:ext cx="2377573" cy="1212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>
                    <a:solidFill>
                      <a:schemeClr val="tx1"/>
                    </a:solidFill>
                  </a:rPr>
                  <a:t>So how do we measure how well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describes these networks?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961248-0204-6545-34BF-541C35DFB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32" y="4843950"/>
                <a:ext cx="2377573" cy="1212511"/>
              </a:xfrm>
              <a:prstGeom prst="rect">
                <a:avLst/>
              </a:prstGeom>
              <a:blipFill>
                <a:blip r:embed="rId6"/>
                <a:stretch>
                  <a:fillRect l="-2308" t="-3015" r="-3333" b="-70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9775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061D-4D70-446B-BB1B-7A3D0943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9AAF-D077-7B66-F4B0-B511EF35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Finite Size Effects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9563E-2B58-54D9-9DA1-DC1222F9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310031CB-E0DC-49E5-82DD-46BACB801860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35B38638-54F0-A705-AD60-065BEF6C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16DC2-A0E5-9F62-026F-EF543098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AC791-BD92-75F0-C4A4-8E574A6C9DB6}"/>
              </a:ext>
            </a:extLst>
          </p:cNvPr>
          <p:cNvSpPr txBox="1"/>
          <p:nvPr/>
        </p:nvSpPr>
        <p:spPr>
          <a:xfrm>
            <a:off x="325799" y="1095361"/>
            <a:ext cx="11643973" cy="16599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685765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Matthew effect” for this phenomenon [13], naming it after the verse from the Gospel of Matthew: “For everyone who has will be given more.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EC4B32-1FA9-0FD1-CFF8-E8A88BCAD0E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 vert="horz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Finite Size effects and statistical validation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742716-9C0F-F37B-4BC2-80161DE93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28" y="1656505"/>
            <a:ext cx="11728761" cy="448039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64B04C0-FA2B-4B2B-4CEA-8C588DDC7ABA}"/>
              </a:ext>
            </a:extLst>
          </p:cNvPr>
          <p:cNvSpPr/>
          <p:nvPr/>
        </p:nvSpPr>
        <p:spPr>
          <a:xfrm>
            <a:off x="4337153" y="4102684"/>
            <a:ext cx="2103120" cy="18771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7FA7C7-5608-C094-B664-AD6EFF249503}"/>
              </a:ext>
            </a:extLst>
          </p:cNvPr>
          <p:cNvSpPr/>
          <p:nvPr/>
        </p:nvSpPr>
        <p:spPr>
          <a:xfrm>
            <a:off x="10088880" y="3896704"/>
            <a:ext cx="2103120" cy="187718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4878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E4122E3-E4F5-D4C6-F7D8-57173557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 dirty="0"/>
              <a:t>New Statistical Test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241883A-7BF2-B14E-DCBF-7856E57CF5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85"/>
          <a:stretch>
            <a:fillRect/>
          </a:stretch>
        </p:blipFill>
        <p:spPr>
          <a:xfrm>
            <a:off x="242311" y="1394618"/>
            <a:ext cx="5583238" cy="4866481"/>
          </a:xfrm>
          <a:prstGeom prst="rect">
            <a:avLst/>
          </a:prstGeom>
          <a:noFill/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4572197-D9B2-DCAF-B971-DCE74A990B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85"/>
          <a:stretch>
            <a:fillRect/>
          </a:stretch>
        </p:blipFill>
        <p:spPr>
          <a:xfrm>
            <a:off x="6283325" y="1394619"/>
            <a:ext cx="5583238" cy="4866481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71210-5313-7CBD-F7F9-E92E8A31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AEE23BCF-757C-48E4-AB43-882F0A78532C}" type="datetime1">
              <a:rPr lang="en-GB" smtClean="0"/>
              <a:pPr>
                <a:spcAft>
                  <a:spcPts val="600"/>
                </a:spcAft>
              </a:pPr>
              <a:t>18/03/2026</a:t>
            </a:fld>
            <a:endParaRPr lang="en-GB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B62E709D-3C4C-D97B-CE4F-6F521542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261" y="6393702"/>
            <a:ext cx="3423452" cy="137272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97634-52EE-1513-4FE1-79C954AF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sp>
        <p:nvSpPr>
          <p:cNvPr id="22" name="Subtitle 7">
            <a:extLst>
              <a:ext uri="{FF2B5EF4-FFF2-40B4-BE49-F238E27FC236}">
                <a16:creationId xmlns:a16="http://schemas.microsoft.com/office/drawing/2014/main" id="{C7D7F467-15BA-E9DF-A586-991829F475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4743" y="762646"/>
            <a:ext cx="9973669" cy="371567"/>
          </a:xfrm>
        </p:spPr>
        <p:txBody>
          <a:bodyPr/>
          <a:lstStyle/>
          <a:p>
            <a:r>
              <a:rPr lang="en-US" dirty="0"/>
              <a:t>Creation of a new goodness of fit test to assess our derivation result</a:t>
            </a:r>
          </a:p>
        </p:txBody>
      </p:sp>
    </p:spTree>
    <p:extLst>
      <p:ext uri="{BB962C8B-B14F-4D97-AF65-F5344CB8AC3E}">
        <p14:creationId xmlns:p14="http://schemas.microsoft.com/office/powerpoint/2010/main" val="264073201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GB" dirty="0"/>
              <a:t>Predicting Network Behaviour</a:t>
            </a:r>
          </a:p>
          <a:p>
            <a:r>
              <a:rPr lang="en-US" dirty="0"/>
              <a:t>20/03/2026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_with_instrucs" id="{E2003566-CB3B-AF4B-AC63-3C69992DFC2C}" vid="{F435D263-C53D-E44B-AFB4-0237A8A90C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288c7d-624b-4bae-b299-4fe5d0610d1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51BB3BA7DF8049908BB49A723BB590" ma:contentTypeVersion="15" ma:contentTypeDescription="Create a new document." ma:contentTypeScope="" ma:versionID="4ac4c166463666f33abacb083c24d533">
  <xsd:schema xmlns:xsd="http://www.w3.org/2001/XMLSchema" xmlns:xs="http://www.w3.org/2001/XMLSchema" xmlns:p="http://schemas.microsoft.com/office/2006/metadata/properties" xmlns:ns3="45288c7d-624b-4bae-b299-4fe5d0610d1b" xmlns:ns4="c444c9ef-e7e2-4e61-96ed-b28c69821563" targetNamespace="http://schemas.microsoft.com/office/2006/metadata/properties" ma:root="true" ma:fieldsID="41a107b2f709c4034c119a86864eb389" ns3:_="" ns4:_="">
    <xsd:import namespace="45288c7d-624b-4bae-b299-4fe5d0610d1b"/>
    <xsd:import namespace="c444c9ef-e7e2-4e61-96ed-b28c698215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88c7d-624b-4bae-b299-4fe5d0610d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4c9ef-e7e2-4e61-96ed-b28c6982156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7BB4C6-127E-40DB-83D0-BAD626190316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45288c7d-624b-4bae-b299-4fe5d0610d1b"/>
    <ds:schemaRef ds:uri="http://purl.org/dc/elements/1.1/"/>
    <ds:schemaRef ds:uri="http://purl.org/dc/terms/"/>
    <ds:schemaRef ds:uri="http://schemas.openxmlformats.org/package/2006/metadata/core-properties"/>
    <ds:schemaRef ds:uri="c444c9ef-e7e2-4e61-96ed-b28c6982156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CC2720-3352-404F-8526-0437378EE5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116F5B-4DF9-41D7-9EBB-6E0E7305BB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88c7d-624b-4bae-b299-4fe5d0610d1b"/>
    <ds:schemaRef ds:uri="c444c9ef-e7e2-4e61-96ed-b28c698215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Arial_Imperial_PowerPoint_16_9_simplified template_with_instrucs</Template>
  <TotalTime>1948</TotalTime>
  <Words>1367</Words>
  <Application>Microsoft Office PowerPoint</Application>
  <PresentationFormat>Widescreen</PresentationFormat>
  <Paragraphs>173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Inter Medium</vt:lpstr>
      <vt:lpstr>pt-sans-pro</vt:lpstr>
      <vt:lpstr>ICL PPT Theme</vt:lpstr>
      <vt:lpstr>Predicting Network Behaviour</vt:lpstr>
      <vt:lpstr>Outline</vt:lpstr>
      <vt:lpstr>We exist in an interconnected world</vt:lpstr>
      <vt:lpstr>Graphs and DAGs</vt:lpstr>
      <vt:lpstr>Mathematical Models</vt:lpstr>
      <vt:lpstr>Citation Networks</vt:lpstr>
      <vt:lpstr>Selected Network Features</vt:lpstr>
      <vt:lpstr>Cumulative Advantage</vt:lpstr>
      <vt:lpstr>Cumulative Advantage</vt:lpstr>
      <vt:lpstr>Homophily</vt:lpstr>
      <vt:lpstr>Motivating the result</vt:lpstr>
      <vt:lpstr>Key Result</vt:lpstr>
      <vt:lpstr>Asymptotic Values</vt:lpstr>
      <vt:lpstr>Our Network Model</vt:lpstr>
      <vt:lpstr>Finite Size Effects</vt:lpstr>
      <vt:lpstr>New Statistical Test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Diamond, Sid</dc:creator>
  <cp:lastModifiedBy>Diamond, Sid</cp:lastModifiedBy>
  <cp:revision>1</cp:revision>
  <dcterms:created xsi:type="dcterms:W3CDTF">2026-03-17T14:04:05Z</dcterms:created>
  <dcterms:modified xsi:type="dcterms:W3CDTF">2026-03-18T22:32:17Z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0x0101003351BB3BA7DF8049908BB49A723BB590</vt:lpwstr>
  </property>
</Properties>
</file>