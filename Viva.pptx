
<file path=[Content_Types].xml><?xml version="1.0" encoding="utf-8"?>
<Types xmlns="http://schemas.openxmlformats.org/package/2006/content-types">
  <Default Extension="gif" ContentType="image/gif"/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A_3B2E240A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5"/>
  </p:notesMasterIdLst>
  <p:sldIdLst>
    <p:sldId id="258" r:id="rId5"/>
    <p:sldId id="281" r:id="rId6"/>
    <p:sldId id="282" r:id="rId7"/>
    <p:sldId id="283" r:id="rId8"/>
    <p:sldId id="284" r:id="rId9"/>
    <p:sldId id="306" r:id="rId10"/>
    <p:sldId id="285" r:id="rId11"/>
    <p:sldId id="311" r:id="rId12"/>
    <p:sldId id="310" r:id="rId13"/>
    <p:sldId id="295" r:id="rId14"/>
    <p:sldId id="302" r:id="rId15"/>
    <p:sldId id="299" r:id="rId16"/>
    <p:sldId id="309" r:id="rId17"/>
    <p:sldId id="297" r:id="rId18"/>
    <p:sldId id="312" r:id="rId19"/>
    <p:sldId id="298" r:id="rId20"/>
    <p:sldId id="313" r:id="rId21"/>
    <p:sldId id="279" r:id="rId22"/>
    <p:sldId id="303" r:id="rId23"/>
    <p:sldId id="305" r:id="rId24"/>
  </p:sldIdLst>
  <p:sldSz cx="12192000" cy="6858000"/>
  <p:notesSz cx="6858000" cy="9144000"/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1538F4F-56D6-02D4-B61E-EED9D717B9D6}" name="Diamond, Sid" initials="SD" userId="S::sd1522@ic.ac.uk::cd6573dd-362e-455e-9c9f-7c1b83918d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F1164C-527A-47B8-A8F7-E91043B0DBCA}" v="1566" dt="2026-03-19T21:17:07.033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68" autoAdjust="0"/>
    <p:restoredTop sz="95033" autoAdjust="0"/>
  </p:normalViewPr>
  <p:slideViewPr>
    <p:cSldViewPr snapToGrid="0" showGuides="1">
      <p:cViewPr varScale="1">
        <p:scale>
          <a:sx n="78" d="100"/>
          <a:sy n="78" d="100"/>
        </p:scale>
        <p:origin x="907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comments/modernComment_11A_3B2E24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F6FBEB3-7801-4673-9CD3-5DE83DB48543}" authorId="{B1538F4F-56D6-02D4-B61E-EED9D717B9D6}" created="2026-03-18T12:52:50.370">
    <pc:sldMkLst xmlns:pc="http://schemas.microsoft.com/office/powerpoint/2013/main/command">
      <pc:docMk/>
      <pc:sldMk cId="992879626" sldId="282"/>
    </pc:sldMkLst>
    <p188:txBody>
      <a:bodyPr/>
      <a:lstStyle/>
      <a:p>
        <a:r>
          <a:rPr lang="en-GB"/>
          <a:t>Take Barabasi’s Big Think opening line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2572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188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803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365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 b="1">
                <a:solidFill>
                  <a:schemeClr val="accent1"/>
                </a:solidFill>
                <a:latin typeface="+mj-lt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 b="1">
                <a:solidFill>
                  <a:schemeClr val="accent1"/>
                </a:solidFill>
                <a:latin typeface="+mj-lt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97264879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 b="1">
                <a:solidFill>
                  <a:schemeClr val="accent1"/>
                </a:solidFill>
                <a:latin typeface="+mj-lt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0668972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E0DA90-2FF2-F36C-F9FF-CD7A192F00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 b="1">
                <a:solidFill>
                  <a:schemeClr val="bg1"/>
                </a:solidFill>
                <a:latin typeface="+mj-lt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bg1"/>
                </a:solidFill>
              </a:defRPr>
            </a:lvl2pPr>
            <a:lvl3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14C7637-5E21-BDDB-D675-718E58535D6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A57B56D4-851E-7242-EAB1-CD5B53E8B9A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25FF1F4-36F0-A184-7B99-8F5F4A49C89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7">
              <a:extLst>
                <a:ext uri="{FF2B5EF4-FFF2-40B4-BE49-F238E27FC236}">
                  <a16:creationId xmlns:a16="http://schemas.microsoft.com/office/drawing/2014/main" id="{F198715B-A90B-9B06-A055-401A84B0921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8">
              <a:extLst>
                <a:ext uri="{FF2B5EF4-FFF2-40B4-BE49-F238E27FC236}">
                  <a16:creationId xmlns:a16="http://schemas.microsoft.com/office/drawing/2014/main" id="{9D2E04D5-A2EE-135D-A8C9-6E695F9BCF3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2" name="Freeform 9">
              <a:extLst>
                <a:ext uri="{FF2B5EF4-FFF2-40B4-BE49-F238E27FC236}">
                  <a16:creationId xmlns:a16="http://schemas.microsoft.com/office/drawing/2014/main" id="{8CE0DC1F-799B-3F7A-3A71-D20337A4746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E8EAEE22-055F-6869-D50D-D9C8C9082FD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EADAC67C-850F-96D3-0962-09E1B4CC3EC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683187A0-2E68-170D-55EF-0FA20E7A75B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62882915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98F30683-44FB-4995-47C3-43A7DE5523C7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77A24E86-91AA-6A9B-314A-752B77481A0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879B37A-F4A9-2DDA-3FC3-9FC52384AE6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3DABC58-132F-2F2F-EB5B-78B30A3D44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DFE51362-844C-B4F1-1A83-A287F312E94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E0F57AAB-C462-6A3A-9686-048341EA78B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8A0D371A-82CE-1829-AA32-FB790C7A60A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EA0DE082-4D8F-8158-56B4-AF85C4A0FA2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530CFB56-59E9-38CF-519A-B532B32547A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23" name="Title 1">
            <a:extLst>
              <a:ext uri="{FF2B5EF4-FFF2-40B4-BE49-F238E27FC236}">
                <a16:creationId xmlns:a16="http://schemas.microsoft.com/office/drawing/2014/main" id="{FB5434B5-DD4C-F988-6EBA-085A7DD494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1E34748E-CBEF-26E7-AB9F-696FA5D59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1DF2DBC8-2D33-BD84-A330-691C8B9797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 b="1">
                <a:solidFill>
                  <a:schemeClr val="bg1"/>
                </a:solidFill>
                <a:latin typeface="+mj-lt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bg1"/>
                </a:solidFill>
              </a:defRPr>
            </a:lvl2pPr>
            <a:lvl3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79999131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3996D-125E-4908-B6F0-50835E42F7CC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FE5E2-074F-4C32-9E7C-7D1CD6D9C46F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C4A389-F2F3-48BD-8637-714D04FBE282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E20F845-3051-4964-8810-4D6B9CEE5602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67850-4A32-48D9-B65E-F551EAA4CC04}" type="datetime1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C62B7-F8E8-4065-A21D-90A8A970CBC5}" type="datetime1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15E19-1301-44C0-8F27-8B4339EFA248}" type="datetime1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33E122-4495-44BA-A4C1-8BE76937A80D}" type="datetime1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EDC06-C956-40EB-B7C2-5D24D2134868}" type="datetime1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72CD8-4874-4E1A-99A5-6A33EAEAD984}" type="datetime1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23BCF-757C-48E4-AB43-882F0A78532C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683EC-1E11-45E0-886A-851228B0A8DF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02D4AE-58D3-41BB-8060-5ADF87B91618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D75DBF-6AEB-4550-BEA6-FE6CE3862FB9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B2C9E-B7BA-48F8-8C95-4A603CB4A0B6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10E69-4493-469E-9F6F-0F2C42DABB23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67A56-2FF9-491E-814D-0A900175F8E1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982C8-03A6-4D1C-870A-BE728679E492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533C-450F-4C7A-8669-D1C1D442E9DA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1B67106-7FE2-4B8D-9827-B242124A96D0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21AD4-68E5-D832-D55C-9ACFCD153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40A93-6E2C-479B-B487-61050B029E0E}" type="datetime1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1EA1B-04BA-0493-81EB-3E7823E1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2947-0466-77E3-9884-7FFF54F0F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3696074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21AD4-68E5-D832-D55C-9ACFCD153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FBB15-756E-4C9B-BAD5-65B8245F1711}" type="datetime1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1EA1B-04BA-0493-81EB-3E7823E1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2947-0466-77E3-9884-7FFF54F0F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4925788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21AD4-68E5-D832-D55C-9ACFCD153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9664A-9D95-4BFD-9EE2-ED03761B5D93}" type="datetime1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1EA1B-04BA-0493-81EB-3E7823E1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2947-0466-77E3-9884-7FFF54F0F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6803618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916F8D3-3840-4002-A902-CA5665F1877D}" type="datetime1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1609BCD-EF9A-DF89-AAD2-167090C57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46E35-447D-4F3F-B312-D5A5B297F989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253B4-E62F-43A9-95E1-1281FC369A0C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5C65B-45F4-494F-85C9-F650D9479B4E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BB683-185E-47F3-8B62-B7D69EB8BD5B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6529D-9412-41C5-A6C2-C931A11B8D57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66683B-1327-4EC5-BC3D-F1BC9929DF1D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00F3C-9559-4D72-9EA0-55DADACB2573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BB1C3-5A45-497F-BCC7-EC2CAE0BF41E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5B9E16-EEE1-449A-9FC3-EC3A45AD75A9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05C08-4378-4C2A-80FC-85BE4CC22ED2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999A96-AD1A-4D71-9FB8-4FC24821C6DB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04DA1-1F50-4046-AB99-973BFEA76F20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F4D7C-325E-46DC-8928-255FD373C96D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20609-BB11-4BF4-8697-59822653EB4F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4F2A2-6868-407F-8098-72A30A0A7D4F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9DDFD2-A19B-4FDD-86ED-B185BF53816E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818C7-E49D-46B4-A26D-8654FF918181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F4B4E-1431-4713-BED5-A43C1F5596C4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148999050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658548261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211696665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8F1E4B3C-5470-00F2-B8CB-BB4906CF439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7D7A316D-6FA6-8EBE-A7B4-43071E70A86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11C06CEA-028D-9197-2DEF-67878595AE6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DEA93E8D-A827-0EF8-FC25-4EDF7B194E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DF359F29-A6DD-FD4C-F807-701DEA41EDF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2468BF6B-AEBB-4CAA-244D-9EBE80B9A1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CC60AC05-547F-FA65-604E-4ED4912EA9E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7632E58E-1400-1E6E-BB60-7A9B794F41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4D65D159-581D-F29B-BBD4-C1C5BACCEEF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Image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3A87AD45-2D2F-D96C-947C-BAE35BFEBEE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31EDC35F-4F2D-B2A7-1ECD-0CF19D1AD28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97F4776F-4E5E-13DF-F11A-A6808FFFC98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BA993AE1-6A24-5C17-7FE2-A16589D9C4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DA87F8EF-CDAD-15A2-A361-88921E1CAF7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E90186DB-2300-A8AA-8FAD-2C609649A61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31922286-E237-1114-3A54-E1731611D66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1B4DA78C-0EF6-B05D-F2D2-EFEDA343E39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A00F92FE-6EB2-0D0E-BFC9-559AD1E7A4E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216125896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 b="1">
                <a:solidFill>
                  <a:schemeClr val="accent1"/>
                </a:solidFill>
                <a:latin typeface="+mj-lt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761819100"/>
      </p:ext>
    </p:extLst>
  </p:cSld>
  <p:clrMapOvr>
    <a:masterClrMapping/>
  </p:clrMapOvr>
  <p:transition>
    <p:fade/>
  </p:transition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 b="1">
                <a:solidFill>
                  <a:schemeClr val="accent1"/>
                </a:solidFill>
                <a:latin typeface="+mj-lt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2408184500"/>
      </p:ext>
    </p:extLst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 b="1">
                <a:solidFill>
                  <a:schemeClr val="accent1"/>
                </a:solidFill>
                <a:latin typeface="+mj-lt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595170055"/>
      </p:ext>
    </p:extLst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878288"/>
            <a:ext cx="5606484" cy="652688"/>
          </a:xfrm>
        </p:spPr>
        <p:txBody>
          <a:bodyPr anchor="b"/>
          <a:lstStyle>
            <a:lvl1pPr>
              <a:defRPr b="1">
                <a:solidFill>
                  <a:schemeClr val="bg1"/>
                </a:solidFill>
                <a:latin typeface="+mj-lt"/>
                <a:ea typeface="Inter Medium" panose="02000503000000020004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49CC1682-CCAA-5EE1-585E-F7C4434F1C5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770403FB-3386-A0FE-3E9D-A2925EF0E8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C2CDC1DE-179E-04D4-B493-BF069DE85D6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B9A68412-C85B-6332-8B98-2635795BBA0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9ECB875-34C4-65FF-6CDA-1356F6BC767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D3B5B848-7A8D-931B-DFC2-C5B37B8DB6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361AABDF-9542-DBC6-6388-ABE2035BE7B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57C10C3-A39D-D1F6-3C50-91EC9A5E76E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E4DD9B4A-92B0-0B9A-755B-A13B032A85A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A156BD-F388-30EA-2720-04061953B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038C-7537-45C4-BC31-19A4CC76608A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FDBFEE-0509-16B7-5DAE-5E0DB02D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AB126A-2C1E-4241-BBEB-C3AA6FE62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1818251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A156BD-F388-30EA-2720-04061953B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E25-142E-4760-8666-599A78D60753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FDBFEE-0509-16B7-5DAE-5E0DB02D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AB126A-2C1E-4241-BBEB-C3AA6FE62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015067"/>
      </p:ext>
    </p:extLst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A156BD-F388-30EA-2720-04061953B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32C0C-5320-426A-9514-B5BB83F873AE}" type="datetime1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FDBFEE-0509-16B7-5DAE-5E0DB02D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AB126A-2C1E-4241-BBEB-C3AA6FE62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909866"/>
      </p:ext>
    </p:extLst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B01DE9-7247-71C2-3301-8F43BD947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0563C1-8B3D-4242-8BBB-2FEB2725DAC9}" type="datetime1">
              <a:rPr lang="en-GB" smtClean="0"/>
              <a:t>19/03/2026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F1F649-B08E-D628-15EF-6CAEE9855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EDFB5-B3BA-ADA8-4600-FCDAFA1A8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4464979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B01DE9-7247-71C2-3301-8F43BD947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330E4-EC35-42CE-9A21-653C43AB9D97}" type="datetime1">
              <a:rPr lang="en-GB" smtClean="0"/>
              <a:t>19/03/2026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F1F649-B08E-D628-15EF-6CAEE9855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EDFB5-B3BA-ADA8-4600-FCDAFA1A8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7168227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B01DE9-7247-71C2-3301-8F43BD947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DF983-3AD9-45E2-9CD5-5871D2EB91F5}" type="datetime1">
              <a:rPr lang="en-GB" smtClean="0"/>
              <a:t>19/03/2026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F1F649-B08E-D628-15EF-6CAEE9855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EDFB5-B3BA-ADA8-4600-FCDAFA1A8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811291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chemeClr val="accent1"/>
                </a:solidFill>
              </a:defRPr>
            </a:lvl1pPr>
          </a:lstStyle>
          <a:p>
            <a:fld id="{644011B4-2383-4A6D-84D7-C0A7DC378FD8}" type="datetime1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chemeClr val="accent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chemeClr val="accent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accent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79" r:id="rId2"/>
    <p:sldLayoutId id="2147483680" r:id="rId3"/>
    <p:sldLayoutId id="2147483649" r:id="rId4"/>
    <p:sldLayoutId id="2147483657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667" r:id="rId26"/>
    <p:sldLayoutId id="2147483693" r:id="rId27"/>
    <p:sldLayoutId id="2147483694" r:id="rId28"/>
    <p:sldLayoutId id="2147483666" r:id="rId29"/>
    <p:sldLayoutId id="2147483661" r:id="rId30"/>
    <p:sldLayoutId id="2147483695" r:id="rId31"/>
    <p:sldLayoutId id="2147483696" r:id="rId32"/>
    <p:sldLayoutId id="2147483669" r:id="rId33"/>
    <p:sldLayoutId id="2147483697" r:id="rId34"/>
    <p:sldLayoutId id="2147483698" r:id="rId35"/>
    <p:sldLayoutId id="2147483678" r:id="rId36"/>
    <p:sldLayoutId id="2147483699" r:id="rId37"/>
    <p:sldLayoutId id="2147483700" r:id="rId38"/>
    <p:sldLayoutId id="2147483662" r:id="rId39"/>
    <p:sldLayoutId id="2147483701" r:id="rId40"/>
    <p:sldLayoutId id="2147483702" r:id="rId41"/>
    <p:sldLayoutId id="2147483663" r:id="rId42"/>
    <p:sldLayoutId id="2147483703" r:id="rId43"/>
    <p:sldLayoutId id="2147483704" r:id="rId44"/>
    <p:sldLayoutId id="2147483664" r:id="rId45"/>
    <p:sldLayoutId id="2147483705" r:id="rId46"/>
    <p:sldLayoutId id="2147483706" r:id="rId47"/>
    <p:sldLayoutId id="2147483665" r:id="rId48"/>
    <p:sldLayoutId id="2147483671" r:id="rId49"/>
    <p:sldLayoutId id="2147483707" r:id="rId50"/>
    <p:sldLayoutId id="2147483708" r:id="rId51"/>
    <p:sldLayoutId id="2147483670" r:id="rId52"/>
    <p:sldLayoutId id="2147483672" r:id="rId53"/>
    <p:sldLayoutId id="2147483674" r:id="rId54"/>
    <p:sldLayoutId id="2147483709" r:id="rId55"/>
    <p:sldLayoutId id="2147483710" r:id="rId56"/>
    <p:sldLayoutId id="2147483673" r:id="rId57"/>
    <p:sldLayoutId id="2147483654" r:id="rId58"/>
    <p:sldLayoutId id="2147483711" r:id="rId59"/>
    <p:sldLayoutId id="2147483712" r:id="rId60"/>
    <p:sldLayoutId id="2147483655" r:id="rId61"/>
    <p:sldLayoutId id="2147483713" r:id="rId62"/>
    <p:sldLayoutId id="2147483714" r:id="rId6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A_3B2E240A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hyperlink" Target="https://www.nature.com/articles/d41586-025-01088-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jpe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3" Type="http://schemas.openxmlformats.org/officeDocument/2006/relationships/slideLayout" Target="../slideLayouts/slideLayout16.xml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notesSlide" Target="../notesSlides/notesSlide3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1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5" Type="http://schemas.openxmlformats.org/officeDocument/2006/relationships/image" Target="../media/image54.png"/><Relationship Id="rId10" Type="http://schemas.openxmlformats.org/officeDocument/2006/relationships/image" Target="../media/image47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Relationship Id="rId14" Type="http://schemas.openxmlformats.org/officeDocument/2006/relationships/image" Target="../media/image5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6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5.png"/><Relationship Id="rId3" Type="http://schemas.openxmlformats.org/officeDocument/2006/relationships/image" Target="../media/image8.jpeg"/><Relationship Id="rId7" Type="http://schemas.openxmlformats.org/officeDocument/2006/relationships/image" Target="../media/image2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70.gif"/><Relationship Id="rId11" Type="http://schemas.openxmlformats.org/officeDocument/2006/relationships/image" Target="../media/image74.png"/><Relationship Id="rId5" Type="http://schemas.openxmlformats.org/officeDocument/2006/relationships/image" Target="../media/image69.png"/><Relationship Id="rId10" Type="http://schemas.openxmlformats.org/officeDocument/2006/relationships/image" Target="../media/image73.png"/><Relationship Id="rId4" Type="http://schemas.openxmlformats.org/officeDocument/2006/relationships/image" Target="../media/image68.png"/><Relationship Id="rId9" Type="http://schemas.openxmlformats.org/officeDocument/2006/relationships/image" Target="../media/image7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1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7CC57-32B4-5651-C726-27956387C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80337-D626-AC7B-5E8D-3144BB4865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1788902"/>
            <a:ext cx="9144000" cy="1847942"/>
          </a:xfrm>
        </p:spPr>
        <p:txBody>
          <a:bodyPr anchor="b">
            <a:normAutofit/>
          </a:bodyPr>
          <a:lstStyle/>
          <a:p>
            <a:r>
              <a:rPr lang="en-GB" dirty="0"/>
              <a:t>Modelling Citation Networks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7FCD95-DD6E-BAAA-DD32-3D1E187DA7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145127"/>
            <a:ext cx="9144000" cy="1322348"/>
          </a:xfrm>
        </p:spPr>
        <p:txBody>
          <a:bodyPr>
            <a:normAutofit/>
          </a:bodyPr>
          <a:lstStyle/>
          <a:p>
            <a:pPr>
              <a:lnSpc>
                <a:spcPct val="95000"/>
              </a:lnSpc>
              <a:spcAft>
                <a:spcPts val="600"/>
              </a:spcAft>
            </a:pPr>
            <a:r>
              <a:rPr lang="en-GB" sz="4400" dirty="0"/>
              <a:t>A new way to predict citation count  in artificial citation networks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7ADEF3F-453F-A867-067C-B77BAD4676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>
            <a:normAutofit/>
          </a:bodyPr>
          <a:lstStyle/>
          <a:p>
            <a:pPr>
              <a:lnSpc>
                <a:spcPct val="95000"/>
              </a:lnSpc>
              <a:spcAft>
                <a:spcPts val="600"/>
              </a:spcAft>
            </a:pPr>
            <a:r>
              <a:rPr lang="en-US" dirty="0"/>
              <a:t>Sid Diamond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lang="en-US" dirty="0"/>
              <a:t>20/03/2026</a:t>
            </a:r>
          </a:p>
        </p:txBody>
      </p:sp>
    </p:spTree>
    <p:extLst>
      <p:ext uri="{BB962C8B-B14F-4D97-AF65-F5344CB8AC3E}">
        <p14:creationId xmlns:p14="http://schemas.microsoft.com/office/powerpoint/2010/main" val="303511597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CF6E-A742-FE7F-DEA0-859BC4D22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473C2-27D1-BBA0-E1FB-155C6A3A3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 anchor="t">
            <a:normAutofit/>
          </a:bodyPr>
          <a:lstStyle/>
          <a:p>
            <a:r>
              <a:rPr lang="en-GB" dirty="0"/>
              <a:t>Outline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9B409-CC9F-F408-4BAF-EB30F716D3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5800" y="1825818"/>
            <a:ext cx="7610201" cy="3206363"/>
          </a:xfrm>
        </p:spPr>
        <p:txBody>
          <a:bodyPr>
            <a:normAutofit/>
          </a:bodyPr>
          <a:lstStyle/>
          <a:p>
            <a:pPr marL="342900" indent="-342900">
              <a:spcAft>
                <a:spcPts val="600"/>
              </a:spcAft>
              <a:buAutoNum type="arabicParenR"/>
            </a:pPr>
            <a:r>
              <a:rPr lang="en-GB" sz="2400" dirty="0"/>
              <a:t>Motivation</a:t>
            </a:r>
          </a:p>
          <a:p>
            <a:pPr marL="342900" indent="-342900">
              <a:spcAft>
                <a:spcPts val="600"/>
              </a:spcAft>
              <a:buAutoNum type="arabicParenR"/>
            </a:pPr>
            <a:r>
              <a:rPr lang="en-GB" sz="2400" dirty="0"/>
              <a:t>Graphs and Citation Networks</a:t>
            </a:r>
          </a:p>
          <a:p>
            <a:pPr marL="342900" indent="-342900">
              <a:spcAft>
                <a:spcPts val="600"/>
              </a:spcAft>
              <a:buAutoNum type="arabicParenR"/>
            </a:pPr>
            <a:r>
              <a:rPr lang="en-GB" sz="2400" dirty="0"/>
              <a:t>Dominant Behaviours: The Matthew Effect and Homophily</a:t>
            </a:r>
          </a:p>
          <a:p>
            <a:pPr marL="342900" indent="-342900">
              <a:spcAft>
                <a:spcPts val="600"/>
              </a:spcAft>
              <a:buAutoNum type="arabicParenR"/>
            </a:pPr>
            <a:r>
              <a:rPr lang="en-GB" sz="2400" dirty="0"/>
              <a:t>New Result</a:t>
            </a:r>
          </a:p>
          <a:p>
            <a:pPr marL="342900" indent="-342900">
              <a:spcAft>
                <a:spcPts val="600"/>
              </a:spcAft>
              <a:buAutoNum type="arabicParenR"/>
            </a:pPr>
            <a:r>
              <a:rPr lang="en-GB" sz="2400" dirty="0"/>
              <a:t>Finite-size Consequences</a:t>
            </a:r>
          </a:p>
          <a:p>
            <a:pPr marL="342900" indent="-342900">
              <a:spcAft>
                <a:spcPts val="600"/>
              </a:spcAft>
              <a:buAutoNum type="arabicParenR"/>
            </a:pPr>
            <a:r>
              <a:rPr lang="en-GB" sz="2400" dirty="0"/>
              <a:t>Conclusion</a:t>
            </a:r>
          </a:p>
          <a:p>
            <a:pPr marL="342900" lvl="1" indent="-342900">
              <a:spcAft>
                <a:spcPts val="600"/>
              </a:spcAft>
              <a:buAutoNum type="arabicParenR"/>
            </a:pP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8FF0ED-FEC2-7E0F-5D4E-10B3795BD7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F735A267-51F8-4C83-A436-AD44CC5F5103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F250C659-1EC6-8296-C05B-854ACD5E9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261" y="6393702"/>
            <a:ext cx="3423452" cy="137272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C2E96C-3376-89A2-744E-0BB03D2FB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2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872E6BB-3E44-C1DA-3B31-236BA909E912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This Presentation will contain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1013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70434-9477-94A8-5265-ABD808272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51C8A127-ECB9-B2F6-A726-92078E41ED20}"/>
              </a:ext>
            </a:extLst>
          </p:cNvPr>
          <p:cNvSpPr/>
          <p:nvPr/>
        </p:nvSpPr>
        <p:spPr>
          <a:xfrm>
            <a:off x="4263364" y="1062780"/>
            <a:ext cx="6994808" cy="6806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B4B915-FC18-90C1-DAAC-4E0B59B15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b="1" kern="1200" dirty="0">
                <a:latin typeface="+mj-lt"/>
                <a:ea typeface="+mj-ea"/>
                <a:cs typeface="+mj-cs"/>
              </a:rPr>
              <a:t>We exist in an interconnected world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E2B87C-81AD-501B-E566-3962A4EE50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3827611E-091F-4C31-BDE6-5F5EA8484615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 dirty="0"/>
          </a:p>
        </p:txBody>
      </p:sp>
      <p:sp>
        <p:nvSpPr>
          <p:cNvPr id="1035" name="Footer Placeholder 3">
            <a:extLst>
              <a:ext uri="{FF2B5EF4-FFF2-40B4-BE49-F238E27FC236}">
                <a16:creationId xmlns:a16="http://schemas.microsoft.com/office/drawing/2014/main" id="{9604F9D1-923B-4F19-CB2E-3EF38DA1B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4233" y="6583190"/>
            <a:ext cx="6018706" cy="360224"/>
          </a:xfrm>
        </p:spPr>
        <p:txBody>
          <a:bodyPr/>
          <a:lstStyle/>
          <a:p>
            <a:r>
              <a:rPr lang="en-US" dirty="0"/>
              <a:t>[1]	fig taken from http://opte.org/maps </a:t>
            </a:r>
          </a:p>
          <a:p>
            <a:r>
              <a:rPr lang="en-GB" dirty="0"/>
              <a:t>[2]	fig taken from </a:t>
            </a:r>
            <a:r>
              <a:rPr lang="en-GB" dirty="0">
                <a:hlinkClick r:id="rId4"/>
              </a:rPr>
              <a:t>https://www.nature.com/articles/d41586-025-01088-x</a:t>
            </a:r>
            <a:endParaRPr lang="en-GB" dirty="0"/>
          </a:p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31B52A-F6DB-BE32-66C9-A0A07CB44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3</a:t>
            </a:fld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C794BE-D482-13D9-7320-CFE893BFDF37}"/>
              </a:ext>
            </a:extLst>
          </p:cNvPr>
          <p:cNvSpPr txBox="1"/>
          <p:nvPr/>
        </p:nvSpPr>
        <p:spPr>
          <a:xfrm>
            <a:off x="325437" y="5395233"/>
            <a:ext cx="4475163" cy="99846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defTabSz="685765">
              <a:lnSpc>
                <a:spcPct val="95000"/>
              </a:lnSpc>
              <a:spcAft>
                <a:spcPts val="600"/>
              </a:spcAft>
              <a:buFont typeface="Arial" panose="020B0604020202020204" pitchFamily="34" charset="0"/>
            </a:pPr>
            <a:r>
              <a:rPr lang="en-US" sz="1400" b="1" dirty="0"/>
              <a:t>Figure 1:</a:t>
            </a:r>
            <a:r>
              <a:rPr lang="en-US" sz="1400" b="1" i="1" dirty="0"/>
              <a:t> </a:t>
            </a:r>
            <a:r>
              <a:rPr lang="en-US" sz="1400" i="1" dirty="0"/>
              <a:t>Partial map of the internet based on data from November 24th 2003. Each line is drawn between two nodes, representing two IP addresses. Lines are </a:t>
            </a:r>
            <a:r>
              <a:rPr lang="en-US" sz="1400" i="1" dirty="0" err="1"/>
              <a:t>colour</a:t>
            </a:r>
            <a:r>
              <a:rPr lang="en-US" sz="1400" i="1" dirty="0"/>
              <a:t>-coded based on allocation of IP space [1].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CC54F37-AC76-45B7-AE13-7472975AFC8A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34233" y="612917"/>
            <a:ext cx="11540763" cy="371567"/>
          </a:xfrm>
        </p:spPr>
        <p:txBody>
          <a:bodyPr vert="horz" lIns="0" tIns="0" rIns="0" bIns="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Networks are everywhere</a:t>
            </a:r>
            <a:endParaRPr lang="en-US" dirty="0"/>
          </a:p>
        </p:txBody>
      </p:sp>
      <p:pic>
        <p:nvPicPr>
          <p:cNvPr id="1032" name="Picture 8" descr="Over one thousand reconstructed wavy lines in different random colours, representing different datasets of neurons.">
            <a:extLst>
              <a:ext uri="{FF2B5EF4-FFF2-40B4-BE49-F238E27FC236}">
                <a16:creationId xmlns:a16="http://schemas.microsoft.com/office/drawing/2014/main" id="{7496C9C5-C229-95ED-4B9E-64F6AA5583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358" y="1784857"/>
            <a:ext cx="5961814" cy="3964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3607D2A-EC1E-5DB4-CA39-88B9389F22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437" y="1062780"/>
            <a:ext cx="4262825" cy="421522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5F39D2E-FCE6-D726-214E-CF45B96F8872}"/>
              </a:ext>
            </a:extLst>
          </p:cNvPr>
          <p:cNvSpPr txBox="1"/>
          <p:nvPr/>
        </p:nvSpPr>
        <p:spPr>
          <a:xfrm>
            <a:off x="5192386" y="1030173"/>
            <a:ext cx="348594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chemeClr val="accent4"/>
                </a:solidFill>
                <a:effectLst/>
                <a:highlight>
                  <a:srgbClr val="000000"/>
                </a:highlight>
                <a:latin typeface="pt-sans-pro"/>
              </a:rPr>
              <a:t>Asia Pacific </a:t>
            </a:r>
            <a:br>
              <a:rPr lang="en-US" sz="1400" dirty="0">
                <a:highlight>
                  <a:srgbClr val="000000"/>
                </a:highlight>
              </a:rPr>
            </a:br>
            <a:r>
              <a:rPr lang="en-US" sz="1400" b="0" i="0" dirty="0">
                <a:solidFill>
                  <a:schemeClr val="accent6">
                    <a:lumMod val="75000"/>
                    <a:lumOff val="25000"/>
                  </a:schemeClr>
                </a:solidFill>
                <a:effectLst/>
                <a:highlight>
                  <a:srgbClr val="000000"/>
                </a:highlight>
                <a:latin typeface="pt-sans-pro"/>
              </a:rPr>
              <a:t>Europe/Middle East/Central Asia/Africa</a:t>
            </a:r>
            <a:br>
              <a:rPr lang="en-US" sz="1400" dirty="0">
                <a:highlight>
                  <a:srgbClr val="000000"/>
                </a:highlight>
              </a:rPr>
            </a:br>
            <a:r>
              <a:rPr lang="en-US" sz="1400" b="0" i="0" dirty="0">
                <a:solidFill>
                  <a:srgbClr val="008AFC"/>
                </a:solidFill>
                <a:effectLst/>
                <a:highlight>
                  <a:srgbClr val="000000"/>
                </a:highlight>
                <a:latin typeface="pt-sans-pro"/>
              </a:rPr>
              <a:t>North America </a:t>
            </a:r>
            <a:br>
              <a:rPr lang="en-US" sz="1400" dirty="0"/>
            </a:br>
            <a:endParaRPr lang="en-GB" sz="1400" dirty="0">
              <a:highlight>
                <a:srgbClr val="000000"/>
              </a:highlight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EBACAD-78BD-8A7B-0963-69135475E289}"/>
              </a:ext>
            </a:extLst>
          </p:cNvPr>
          <p:cNvSpPr txBox="1"/>
          <p:nvPr/>
        </p:nvSpPr>
        <p:spPr>
          <a:xfrm>
            <a:off x="5192386" y="5785018"/>
            <a:ext cx="62528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effectLst/>
              </a:rPr>
              <a:t>Figure 2: </a:t>
            </a:r>
            <a:r>
              <a:rPr lang="en-US" sz="1400" b="0" i="1" dirty="0">
                <a:effectLst/>
              </a:rPr>
              <a:t>A rendering of more than 1,000 brain cells out of those reconstructed from analysis of 1 cubic </a:t>
            </a:r>
            <a:r>
              <a:rPr lang="en-US" sz="1400" b="0" i="1" dirty="0" err="1">
                <a:effectLst/>
              </a:rPr>
              <a:t>millimetre</a:t>
            </a:r>
            <a:r>
              <a:rPr lang="en-US" sz="1400" b="0" i="1" dirty="0">
                <a:effectLst/>
              </a:rPr>
              <a:t> of mouse brain tissue [2].</a:t>
            </a:r>
            <a:endParaRPr lang="en-GB" sz="1400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C576B48-7B5D-4165-8CA7-AD0AFC85E774}"/>
              </a:ext>
            </a:extLst>
          </p:cNvPr>
          <p:cNvSpPr txBox="1"/>
          <p:nvPr/>
        </p:nvSpPr>
        <p:spPr>
          <a:xfrm>
            <a:off x="8617303" y="1046193"/>
            <a:ext cx="264086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E8C529"/>
                </a:solidFill>
                <a:effectLst/>
                <a:highlight>
                  <a:srgbClr val="000000"/>
                </a:highlight>
                <a:latin typeface="pt-sans-pro"/>
              </a:rPr>
              <a:t>Latin American and Caribbean</a:t>
            </a:r>
            <a:br>
              <a:rPr lang="en-US" sz="1400" dirty="0">
                <a:highlight>
                  <a:srgbClr val="000000"/>
                </a:highlight>
              </a:rPr>
            </a:br>
            <a:r>
              <a:rPr lang="en-US" sz="1400" b="0" i="0" dirty="0">
                <a:solidFill>
                  <a:srgbClr val="A3D1DB"/>
                </a:solidFill>
                <a:effectLst/>
                <a:highlight>
                  <a:srgbClr val="000000"/>
                </a:highlight>
                <a:latin typeface="pt-sans-pro"/>
              </a:rPr>
              <a:t>RFC1918 IP Addresses</a:t>
            </a:r>
            <a:br>
              <a:rPr lang="en-US" sz="1400" dirty="0">
                <a:highlight>
                  <a:srgbClr val="000000"/>
                </a:highlight>
              </a:rPr>
            </a:br>
            <a:r>
              <a:rPr lang="en-US" sz="1400" b="0" i="0" dirty="0">
                <a:solidFill>
                  <a:srgbClr val="FFFFFF"/>
                </a:solidFill>
                <a:effectLst/>
                <a:highlight>
                  <a:srgbClr val="000000"/>
                </a:highlight>
                <a:latin typeface="pt-sans-pro"/>
              </a:rPr>
              <a:t>Unknown </a:t>
            </a:r>
            <a:endParaRPr lang="en-GB" sz="1400" dirty="0">
              <a:highlight>
                <a:srgbClr val="000000"/>
              </a:highlight>
            </a:endParaRP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AAFCB091-D454-4C60-BFAB-8C09723C7D11}"/>
              </a:ext>
            </a:extLst>
          </p:cNvPr>
          <p:cNvSpPr/>
          <p:nvPr/>
        </p:nvSpPr>
        <p:spPr>
          <a:xfrm rot="10800000">
            <a:off x="4197926" y="1300194"/>
            <a:ext cx="692395" cy="221034"/>
          </a:xfrm>
          <a:prstGeom prst="rightArrow">
            <a:avLst>
              <a:gd name="adj1" fmla="val 68144"/>
              <a:gd name="adj2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2879626"/>
      </p:ext>
    </p:extLst>
  </p:cSld>
  <p:clrMapOvr>
    <a:masterClrMapping/>
  </p:clrMapOvr>
  <p:transition>
    <p:fade/>
  </p:transition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9F3315-51B7-CFAA-CB42-ED1C35BDD7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/>
          <a:lstStyle/>
          <a:p>
            <a:fld id="{D9951811-B1C5-4817-A040-715EA813AD86}" type="datetime1">
              <a:rPr lang="en-GB" smtClean="0"/>
              <a:t>19/03/2026</a:t>
            </a:fld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0814F-115B-B21A-D2F4-306AA4671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FE6160-6DC1-03C3-B332-3ADF4ED4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 dirty="0"/>
              <a:t>Graph Theory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47CF5047-C92C-20F0-34F4-5F62FF93FC3D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4553772" cy="371567"/>
          </a:xfrm>
        </p:spPr>
        <p:txBody>
          <a:bodyPr/>
          <a:lstStyle/>
          <a:p>
            <a:r>
              <a:rPr lang="en-US"/>
              <a:t>The Language of Networks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31F251A-FD74-6114-B507-3887AF6379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74"/>
          <a:stretch>
            <a:fillRect/>
          </a:stretch>
        </p:blipFill>
        <p:spPr>
          <a:xfrm>
            <a:off x="6433209" y="876501"/>
            <a:ext cx="4474318" cy="193301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3D8F2D2-1D37-067C-A80F-015D77BA4D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10"/>
          <a:stretch>
            <a:fillRect/>
          </a:stretch>
        </p:blipFill>
        <p:spPr>
          <a:xfrm>
            <a:off x="6446581" y="4129119"/>
            <a:ext cx="4728160" cy="193301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B917C2EE-EF03-7105-B5B1-8C4CEA89388F}"/>
              </a:ext>
            </a:extLst>
          </p:cNvPr>
          <p:cNvSpPr txBox="1"/>
          <p:nvPr/>
        </p:nvSpPr>
        <p:spPr>
          <a:xfrm>
            <a:off x="6334298" y="662802"/>
            <a:ext cx="4761391" cy="2526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GB" b="1" dirty="0">
                <a:solidFill>
                  <a:schemeClr val="tx1"/>
                </a:solidFill>
              </a:rPr>
              <a:t>Directed Graph: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099681-B9AE-A957-3C9E-11E457384426}"/>
              </a:ext>
            </a:extLst>
          </p:cNvPr>
          <p:cNvSpPr txBox="1"/>
          <p:nvPr/>
        </p:nvSpPr>
        <p:spPr>
          <a:xfrm>
            <a:off x="6334298" y="3947595"/>
            <a:ext cx="3640282" cy="36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GB" b="1" dirty="0">
                <a:solidFill>
                  <a:schemeClr val="tx1"/>
                </a:solidFill>
              </a:rPr>
              <a:t>Directed Acyclic Graph (DAG):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BEAA69C-91E8-BDE1-B3B9-C2954BD4FC0A}"/>
              </a:ext>
            </a:extLst>
          </p:cNvPr>
          <p:cNvSpPr txBox="1"/>
          <p:nvPr/>
        </p:nvSpPr>
        <p:spPr>
          <a:xfrm>
            <a:off x="325800" y="1684266"/>
            <a:ext cx="1071611" cy="36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GB" b="1" dirty="0">
                <a:solidFill>
                  <a:schemeClr val="tx1"/>
                </a:solidFill>
              </a:rPr>
              <a:t>Graph: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695C50D-7650-ED51-BECA-4671D0BA953C}"/>
              </a:ext>
            </a:extLst>
          </p:cNvPr>
          <p:cNvCxnSpPr>
            <a:cxnSpLocks/>
          </p:cNvCxnSpPr>
          <p:nvPr/>
        </p:nvCxnSpPr>
        <p:spPr>
          <a:xfrm flipH="1">
            <a:off x="9119093" y="668464"/>
            <a:ext cx="546522" cy="46914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6B92A7E-9608-A5C9-0122-71963AE92D58}"/>
              </a:ext>
            </a:extLst>
          </p:cNvPr>
          <p:cNvSpPr txBox="1"/>
          <p:nvPr/>
        </p:nvSpPr>
        <p:spPr>
          <a:xfrm>
            <a:off x="9665615" y="478447"/>
            <a:ext cx="758536" cy="36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GB" sz="1800" dirty="0">
                <a:solidFill>
                  <a:schemeClr val="tx1"/>
                </a:solidFill>
              </a:rPr>
              <a:t>Cycle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AB202BC-B5BE-62C1-8DD8-385CBA59E7A2}"/>
              </a:ext>
            </a:extLst>
          </p:cNvPr>
          <p:cNvCxnSpPr>
            <a:cxnSpLocks/>
          </p:cNvCxnSpPr>
          <p:nvPr/>
        </p:nvCxnSpPr>
        <p:spPr>
          <a:xfrm>
            <a:off x="5388713" y="1179694"/>
            <a:ext cx="2088993" cy="3630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B23D5DF-E35F-04F6-BBA2-CDD6E612C74B}"/>
              </a:ext>
            </a:extLst>
          </p:cNvPr>
          <p:cNvSpPr txBox="1"/>
          <p:nvPr/>
        </p:nvSpPr>
        <p:spPr>
          <a:xfrm>
            <a:off x="4666678" y="736125"/>
            <a:ext cx="1235111" cy="6538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GB" sz="1800" dirty="0">
                <a:solidFill>
                  <a:schemeClr val="tx1"/>
                </a:solidFill>
              </a:rPr>
              <a:t>Directed Edge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4CD9A25C-792E-B2AE-A6B0-F76CF147C9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569"/>
          <a:stretch>
            <a:fillRect/>
          </a:stretch>
        </p:blipFill>
        <p:spPr>
          <a:xfrm>
            <a:off x="277688" y="2809514"/>
            <a:ext cx="5859526" cy="2245881"/>
          </a:xfrm>
          <a:prstGeom prst="rect">
            <a:avLst/>
          </a:prstGeom>
        </p:spPr>
      </p:pic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395EAD0-AD50-F2B4-AB7E-DE3B86BA5F1A}"/>
              </a:ext>
            </a:extLst>
          </p:cNvPr>
          <p:cNvCxnSpPr>
            <a:cxnSpLocks/>
          </p:cNvCxnSpPr>
          <p:nvPr/>
        </p:nvCxnSpPr>
        <p:spPr>
          <a:xfrm>
            <a:off x="975888" y="2504638"/>
            <a:ext cx="843043" cy="4900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D7CEF12-980B-08E3-54EC-93F87BB46F42}"/>
              </a:ext>
            </a:extLst>
          </p:cNvPr>
          <p:cNvCxnSpPr>
            <a:cxnSpLocks/>
          </p:cNvCxnSpPr>
          <p:nvPr/>
        </p:nvCxnSpPr>
        <p:spPr>
          <a:xfrm flipH="1">
            <a:off x="2848250" y="2352200"/>
            <a:ext cx="591202" cy="7695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75EA4CB7-1F7B-62E8-27F5-FB0C2556D2E9}"/>
              </a:ext>
            </a:extLst>
          </p:cNvPr>
          <p:cNvSpPr txBox="1"/>
          <p:nvPr/>
        </p:nvSpPr>
        <p:spPr>
          <a:xfrm>
            <a:off x="636527" y="2227509"/>
            <a:ext cx="1182404" cy="24938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GB" dirty="0">
                <a:solidFill>
                  <a:schemeClr val="tx1"/>
                </a:solidFill>
              </a:rPr>
              <a:t>Node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5C738E8-3040-31BD-DFBE-C3FB6C519963}"/>
              </a:ext>
            </a:extLst>
          </p:cNvPr>
          <p:cNvSpPr txBox="1"/>
          <p:nvPr/>
        </p:nvSpPr>
        <p:spPr>
          <a:xfrm>
            <a:off x="2848250" y="2075189"/>
            <a:ext cx="1182404" cy="24938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GB" dirty="0">
                <a:solidFill>
                  <a:schemeClr val="tx1"/>
                </a:solidFill>
              </a:rPr>
              <a:t>Edge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A681B8-6EE0-3528-77F7-89E867C1CEAD}"/>
              </a:ext>
            </a:extLst>
          </p:cNvPr>
          <p:cNvSpPr txBox="1"/>
          <p:nvPr/>
        </p:nvSpPr>
        <p:spPr>
          <a:xfrm>
            <a:off x="318902" y="5303430"/>
            <a:ext cx="5777098" cy="48481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GB" sz="1400" b="1" dirty="0">
                <a:solidFill>
                  <a:schemeClr val="tx1"/>
                </a:solidFill>
              </a:rPr>
              <a:t>Figure 3: </a:t>
            </a:r>
            <a:r>
              <a:rPr lang="en-GB" sz="1400" i="1" dirty="0"/>
              <a:t>Diagram of six node undirected g</a:t>
            </a:r>
            <a:r>
              <a:rPr lang="en-GB" sz="1400" i="1" dirty="0">
                <a:solidFill>
                  <a:schemeClr val="tx1"/>
                </a:solidFill>
              </a:rPr>
              <a:t>raph with eight undirected edges. </a:t>
            </a:r>
          </a:p>
        </p:txBody>
      </p:sp>
      <p:sp>
        <p:nvSpPr>
          <p:cNvPr id="2054" name="TextBox 2053">
            <a:extLst>
              <a:ext uri="{FF2B5EF4-FFF2-40B4-BE49-F238E27FC236}">
                <a16:creationId xmlns:a16="http://schemas.microsoft.com/office/drawing/2014/main" id="{D74CE5EC-538B-8553-B3BF-40B95824277C}"/>
              </a:ext>
            </a:extLst>
          </p:cNvPr>
          <p:cNvSpPr txBox="1"/>
          <p:nvPr/>
        </p:nvSpPr>
        <p:spPr>
          <a:xfrm>
            <a:off x="6496781" y="2654527"/>
            <a:ext cx="4598908" cy="755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lang="en-GB" sz="1400" b="1" dirty="0"/>
              <a:t>Figure 4: </a:t>
            </a:r>
            <a:r>
              <a:rPr lang="en-GB" sz="1400" i="1" dirty="0"/>
              <a:t>Diagram of six node directed graph with eight directed edges.  The red edges indicate the presence of a cycle.</a:t>
            </a:r>
          </a:p>
        </p:txBody>
      </p:sp>
      <p:sp>
        <p:nvSpPr>
          <p:cNvPr id="2061" name="TextBox 2060">
            <a:extLst>
              <a:ext uri="{FF2B5EF4-FFF2-40B4-BE49-F238E27FC236}">
                <a16:creationId xmlns:a16="http://schemas.microsoft.com/office/drawing/2014/main" id="{6C684B64-F903-B13A-92A1-48171C9C9B7B}"/>
              </a:ext>
            </a:extLst>
          </p:cNvPr>
          <p:cNvSpPr txBox="1"/>
          <p:nvPr/>
        </p:nvSpPr>
        <p:spPr>
          <a:xfrm>
            <a:off x="6512261" y="6001916"/>
            <a:ext cx="4662480" cy="529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lang="en-GB" sz="1400" b="1" dirty="0"/>
              <a:t>Figure 5: </a:t>
            </a:r>
            <a:r>
              <a:rPr lang="en-GB" sz="1400" i="1" dirty="0"/>
              <a:t>Diagram of six node directed acyclic graph with eight directed edges.  </a:t>
            </a:r>
          </a:p>
        </p:txBody>
      </p:sp>
    </p:spTree>
    <p:extLst>
      <p:ext uri="{BB962C8B-B14F-4D97-AF65-F5344CB8AC3E}">
        <p14:creationId xmlns:p14="http://schemas.microsoft.com/office/powerpoint/2010/main" val="325255384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5" grpId="0"/>
      <p:bldP spid="27" grpId="0"/>
      <p:bldP spid="46" grpId="0"/>
      <p:bldP spid="51" grpId="0"/>
      <p:bldP spid="2054" grpId="0"/>
      <p:bldP spid="206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8577D-CD6C-1BFE-36DB-9BC6FDCA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DCB2-B28F-0CFE-C3FC-A03DA66D3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 anchor="t">
            <a:normAutofit/>
          </a:bodyPr>
          <a:lstStyle/>
          <a:p>
            <a:r>
              <a:rPr lang="en-US" dirty="0"/>
              <a:t>Mathematical Models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AC93AB7-24E0-D878-F600-BB93EBC90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5799" y="1132670"/>
            <a:ext cx="5610956" cy="5018748"/>
          </a:xfrm>
        </p:spPr>
        <p:txBody>
          <a:bodyPr>
            <a:noAutofit/>
          </a:bodyPr>
          <a:lstStyle/>
          <a:p>
            <a:pPr>
              <a:lnSpc>
                <a:spcPct val="95000"/>
              </a:lnSpc>
              <a:spcAft>
                <a:spcPts val="600"/>
              </a:spcAft>
            </a:pPr>
            <a:r>
              <a:rPr lang="en-US" sz="1800" dirty="0"/>
              <a:t>These networks can have different and often complex topologies.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endParaRPr lang="en-US" sz="1800" dirty="0"/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lang="en-US" sz="1800" dirty="0"/>
              <a:t>Sharing properties that can be captured and compared using mathematical models </a:t>
            </a:r>
            <a:r>
              <a:rPr lang="en-US" sz="1800" dirty="0" err="1"/>
              <a:t>analysing</a:t>
            </a:r>
            <a:r>
              <a:rPr lang="en-US" sz="1800" dirty="0"/>
              <a:t> them as graphs. 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endParaRPr lang="en-US" sz="1800" dirty="0"/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lang="en-US" sz="1800" dirty="0"/>
              <a:t>Providing insight for useful questions; from: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endParaRPr lang="en-US" sz="1800" dirty="0"/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lang="en-US" sz="1800" dirty="0"/>
              <a:t> (1)	 “</a:t>
            </a:r>
            <a:r>
              <a:rPr lang="en-US" sz="1800" i="1" dirty="0"/>
              <a:t>What is the most important element in the network?” 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endParaRPr lang="en-US" sz="1800" dirty="0"/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lang="en-US" sz="1800" dirty="0"/>
              <a:t>to,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endParaRPr lang="en-US" sz="1800" dirty="0"/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lang="en-US" sz="1800" dirty="0"/>
              <a:t>(2) 	“</a:t>
            </a:r>
            <a:r>
              <a:rPr lang="en-US" sz="1800" i="1" dirty="0"/>
              <a:t>Given the characteristics of my network, how likely is it that one of its nodes forms the connections it does?”</a:t>
            </a:r>
            <a:endParaRPr lang="en-GB" sz="1800" i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C98980-B56E-7B8D-D218-9086E6FB7C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5494" y="1051756"/>
            <a:ext cx="4784118" cy="2560062"/>
          </a:xfrm>
          <a:prstGeom prst="rect">
            <a:avLst/>
          </a:prstGeom>
          <a:noFill/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36D3CD-A004-D9C0-9E6E-D774FF8D54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AF68E6AE-337C-4465-9B4F-F308E5DE081B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F1AA0F9A-05D5-CAF1-378B-A5D2D453C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5799" y="6478209"/>
            <a:ext cx="4596721" cy="260342"/>
          </a:xfrm>
        </p:spPr>
        <p:txBody>
          <a:bodyPr/>
          <a:lstStyle/>
          <a:p>
            <a:r>
              <a:rPr lang="en-GB" dirty="0"/>
              <a:t>[3]	GIF created by Sage Santo added to </a:t>
            </a:r>
            <a:r>
              <a:rPr lang="en-GB" dirty="0" err="1"/>
              <a:t>Pagerank</a:t>
            </a:r>
            <a:r>
              <a:rPr lang="en-GB" dirty="0"/>
              <a:t> Wikipedia October 2024.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665DBA-84A2-A338-8FF6-AEBC287C2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5</a:t>
            </a:fld>
            <a:endParaRPr lang="en-GB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3B0787FF-4BB7-771A-218C-D55619876021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Applying images to backgrounds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41A993-0C6A-7F2C-1532-1C121B2491D0}"/>
              </a:ext>
            </a:extLst>
          </p:cNvPr>
          <p:cNvSpPr txBox="1"/>
          <p:nvPr/>
        </p:nvSpPr>
        <p:spPr>
          <a:xfrm>
            <a:off x="6096000" y="3671811"/>
            <a:ext cx="484361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Fig 6:</a:t>
            </a:r>
            <a:r>
              <a:rPr lang="en-US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sz="14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An animation of the PageRank algorithm running on a small network of pages. The size of the nodes represents the perceived importance of the page, and arrows represent hyperlinks [3]</a:t>
            </a:r>
            <a:r>
              <a:rPr lang="en-US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  <a:endParaRPr lang="en-GB" i="1" dirty="0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9ABFEF27-E3F8-2A67-DE54-110351BF813C}"/>
              </a:ext>
            </a:extLst>
          </p:cNvPr>
          <p:cNvSpPr/>
          <p:nvPr/>
        </p:nvSpPr>
        <p:spPr>
          <a:xfrm>
            <a:off x="4488873" y="3897009"/>
            <a:ext cx="1354974" cy="28263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bg1"/>
              </a:solidFill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00614B05-D4F6-93DA-E381-43EFB247B7FA}"/>
              </a:ext>
            </a:extLst>
          </p:cNvPr>
          <p:cNvSpPr/>
          <p:nvPr/>
        </p:nvSpPr>
        <p:spPr>
          <a:xfrm>
            <a:off x="6128468" y="5469001"/>
            <a:ext cx="2419085" cy="28263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BC789A-93A1-C6FC-9929-1C598DACAC45}"/>
              </a:ext>
            </a:extLst>
          </p:cNvPr>
          <p:cNvSpPr txBox="1"/>
          <p:nvPr/>
        </p:nvSpPr>
        <p:spPr>
          <a:xfrm>
            <a:off x="9160690" y="5401473"/>
            <a:ext cx="1778922" cy="40477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GB" sz="2600" b="1" dirty="0">
                <a:solidFill>
                  <a:schemeClr val="accent1"/>
                </a:solidFill>
                <a:latin typeface="+mj-lt"/>
              </a:rPr>
              <a:t>This Work</a:t>
            </a:r>
          </a:p>
        </p:txBody>
      </p:sp>
    </p:spTree>
    <p:extLst>
      <p:ext uri="{BB962C8B-B14F-4D97-AF65-F5344CB8AC3E}">
        <p14:creationId xmlns:p14="http://schemas.microsoft.com/office/powerpoint/2010/main" val="2384112898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23BA0-4B5D-BB81-1758-2A16905D9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B73B2-57FE-D2AD-AF82-88711FFA8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b="1" kern="1200" dirty="0">
                <a:latin typeface="+mj-lt"/>
                <a:ea typeface="+mj-ea"/>
                <a:cs typeface="+mj-cs"/>
              </a:rPr>
              <a:t>Citation Networks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1FB4F5-D443-7F3C-4352-985DF9F5F8A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3827611E-091F-4C31-BDE6-5F5EA8484615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1035" name="Footer Placeholder 3">
            <a:extLst>
              <a:ext uri="{FF2B5EF4-FFF2-40B4-BE49-F238E27FC236}">
                <a16:creationId xmlns:a16="http://schemas.microsoft.com/office/drawing/2014/main" id="{D0453A2B-0328-4678-EC28-4B647B954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004" y="6468939"/>
            <a:ext cx="8004036" cy="429552"/>
          </a:xfrm>
        </p:spPr>
        <p:txBody>
          <a:bodyPr/>
          <a:lstStyle/>
          <a:p>
            <a:r>
              <a:rPr lang="en-US" sz="900" i="1" dirty="0"/>
              <a:t>[4]	(Gates, A. J., Ke, Q., Varol, O., &amp; </a:t>
            </a:r>
            <a:r>
              <a:rPr lang="en-US" sz="900" i="1" dirty="0" err="1"/>
              <a:t>Barabási</a:t>
            </a:r>
            <a:r>
              <a:rPr lang="en-US" sz="900" i="1" dirty="0"/>
              <a:t>, A. L. (2019). Nature’s reach: narrow work has broad impact. Nature, 575(7781), 32-34.)</a:t>
            </a:r>
          </a:p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87ACA7-89A0-7629-F240-C86067541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6</a:t>
            </a:fld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F60B78-7FA5-1C67-5CEB-A3F8B974F62D}"/>
              </a:ext>
            </a:extLst>
          </p:cNvPr>
          <p:cNvSpPr txBox="1"/>
          <p:nvPr/>
        </p:nvSpPr>
        <p:spPr>
          <a:xfrm>
            <a:off x="351978" y="4573201"/>
            <a:ext cx="4873989" cy="127417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r>
              <a:rPr lang="en-US" sz="1400" b="1" dirty="0"/>
              <a:t>Figure 7:</a:t>
            </a:r>
            <a:r>
              <a:rPr lang="en-US" sz="1400" b="1" i="1" dirty="0"/>
              <a:t> </a:t>
            </a:r>
            <a:r>
              <a:rPr lang="en-US" sz="1400" i="1" dirty="0"/>
              <a:t>Nature marked its 150th anniversary by commissioning data-driven analysis of the journal's history, mapping out the co-citation network connecting the 88,000 papers published since 1900. The resulting visualization highlighted the multidisciplinary scope of the journal and the co-citation of different disciplines [4]. 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BEA63FA-C4A4-081F-DE95-4D293B871BBA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34233" y="612917"/>
            <a:ext cx="11540763" cy="371567"/>
          </a:xfrm>
        </p:spPr>
        <p:txBody>
          <a:bodyPr vert="horz" lIns="0" tIns="0" rIns="0" bIns="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Scientific publication document citations  are everywhere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A78057-C37B-79DB-6BD8-A49CA00005E5}"/>
              </a:ext>
            </a:extLst>
          </p:cNvPr>
          <p:cNvSpPr txBox="1"/>
          <p:nvPr/>
        </p:nvSpPr>
        <p:spPr>
          <a:xfrm>
            <a:off x="6134101" y="3520788"/>
            <a:ext cx="59330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effectLst/>
              </a:rPr>
              <a:t>Figure 4: </a:t>
            </a:r>
            <a:r>
              <a:rPr lang="en-US" sz="1400" b="0" i="1" dirty="0">
                <a:effectLst/>
              </a:rPr>
              <a:t>A rendering of more than 1,000 brain cells out of those reconstructed from analysis of 1 cubic </a:t>
            </a:r>
            <a:r>
              <a:rPr lang="en-US" sz="1400" b="0" i="1" dirty="0" err="1">
                <a:effectLst/>
              </a:rPr>
              <a:t>millimetre</a:t>
            </a:r>
            <a:r>
              <a:rPr lang="en-US" sz="1400" b="0" i="1" dirty="0">
                <a:effectLst/>
              </a:rPr>
              <a:t> of mouse brain tissue.</a:t>
            </a:r>
            <a:endParaRPr lang="en-GB" sz="1400" i="1" dirty="0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F3C12A99-38F7-4B61-75BD-618BDB202C95}"/>
              </a:ext>
            </a:extLst>
          </p:cNvPr>
          <p:cNvSpPr/>
          <p:nvPr/>
        </p:nvSpPr>
        <p:spPr>
          <a:xfrm rot="10800000">
            <a:off x="4197926" y="1300194"/>
            <a:ext cx="692395" cy="221034"/>
          </a:xfrm>
          <a:prstGeom prst="rightArrow">
            <a:avLst>
              <a:gd name="adj1" fmla="val 68144"/>
              <a:gd name="adj2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413345B-8614-3FC4-A40C-42ED196400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10"/>
          <a:stretch>
            <a:fillRect/>
          </a:stretch>
        </p:blipFill>
        <p:spPr>
          <a:xfrm>
            <a:off x="6574071" y="1268866"/>
            <a:ext cx="5283696" cy="216013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A6A482B-59F7-C80F-D998-38DE8E3A3F94}"/>
                  </a:ext>
                </a:extLst>
              </p:cNvPr>
              <p:cNvSpPr txBox="1"/>
              <p:nvPr/>
            </p:nvSpPr>
            <p:spPr>
              <a:xfrm>
                <a:off x="5676901" y="2223418"/>
                <a:ext cx="914400" cy="5348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A6A482B-59F7-C80F-D998-38DE8E3A3F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901" y="2223418"/>
                <a:ext cx="914400" cy="53480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00" name="Picture 4">
            <a:extLst>
              <a:ext uri="{FF2B5EF4-FFF2-40B4-BE49-F238E27FC236}">
                <a16:creationId xmlns:a16="http://schemas.microsoft.com/office/drawing/2014/main" id="{60A8BE93-907A-CC39-B071-C17494FFE9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233" y="1389467"/>
            <a:ext cx="4936619" cy="3034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ED27F50-24EB-3E7F-FA03-E2485EB62DB3}"/>
                  </a:ext>
                </a:extLst>
              </p:cNvPr>
              <p:cNvSpPr txBox="1"/>
              <p:nvPr/>
            </p:nvSpPr>
            <p:spPr>
              <a:xfrm>
                <a:off x="5468691" y="4177980"/>
                <a:ext cx="1755069" cy="5348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 algn="l">
                  <a:lnSpc>
                    <a:spcPct val="105000"/>
                  </a:lnSpc>
                </a:pPr>
                <a:r>
                  <a:rPr lang="en-GB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Edge </a:t>
                </a:r>
                <a14:m>
                  <m:oMath xmlns:m="http://schemas.openxmlformats.org/officeDocument/2006/math">
                    <m:r>
                      <a:rPr lang="en-GB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en-GB" sz="3200" dirty="0">
                    <a:solidFill>
                      <a:schemeClr val="tx1"/>
                    </a:solidFill>
                  </a:rPr>
                  <a:t> </a:t>
                </a:r>
                <a:r>
                  <a:rPr lang="en-GB" dirty="0">
                    <a:solidFill>
                      <a:schemeClr val="tx1"/>
                    </a:solidFill>
                  </a:rPr>
                  <a:t>Citation</a:t>
                </a: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ED27F50-24EB-3E7F-FA03-E2485EB62D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8691" y="4177980"/>
                <a:ext cx="1755069" cy="534802"/>
              </a:xfrm>
              <a:prstGeom prst="rect">
                <a:avLst/>
              </a:prstGeom>
              <a:blipFill>
                <a:blip r:embed="rId5"/>
                <a:stretch>
                  <a:fillRect l="-7986" r="-7292" b="-90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5851ED4-6234-4C10-084D-5C3E6676B877}"/>
                  </a:ext>
                </a:extLst>
              </p:cNvPr>
              <p:cNvSpPr txBox="1"/>
              <p:nvPr/>
            </p:nvSpPr>
            <p:spPr>
              <a:xfrm>
                <a:off x="5482483" y="4766726"/>
                <a:ext cx="1780470" cy="5348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 algn="l">
                  <a:lnSpc>
                    <a:spcPct val="105000"/>
                  </a:lnSpc>
                </a:pPr>
                <a:r>
                  <a:rPr lang="en-GB" dirty="0">
                    <a:ea typeface="Cambria Math" panose="02040503050406030204" pitchFamily="18" charset="0"/>
                  </a:rPr>
                  <a:t>Node</a:t>
                </a:r>
                <a:r>
                  <a:rPr lang="en-GB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GB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 Paper</a:t>
                </a: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5851ED4-6234-4C10-084D-5C3E6676B8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2483" y="4766726"/>
                <a:ext cx="1780470" cy="534802"/>
              </a:xfrm>
              <a:prstGeom prst="rect">
                <a:avLst/>
              </a:prstGeom>
              <a:blipFill>
                <a:blip r:embed="rId6"/>
                <a:stretch>
                  <a:fillRect l="-7877" t="-1590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DF0CE681-47A6-67AD-B28A-1E60E0447BC8}"/>
                  </a:ext>
                </a:extLst>
              </p:cNvPr>
              <p:cNvSpPr/>
              <p:nvPr/>
            </p:nvSpPr>
            <p:spPr>
              <a:xfrm>
                <a:off x="5389116" y="4265019"/>
                <a:ext cx="1834644" cy="914401"/>
              </a:xfrm>
              <a:prstGeom prst="rect">
                <a:avLst/>
              </a:prstGeom>
              <a:noFill/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DF0CE681-47A6-67AD-B28A-1E60E0447B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116" y="4265019"/>
                <a:ext cx="1834644" cy="91440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3D5278C-32E9-BD3C-FE14-E970A984B8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03928" y="4322172"/>
            <a:ext cx="4171068" cy="198881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F92C9B5-44C1-ACF3-3EC8-989D2365A9B9}"/>
                  </a:ext>
                </a:extLst>
              </p:cNvPr>
              <p:cNvSpPr txBox="1"/>
              <p:nvPr/>
            </p:nvSpPr>
            <p:spPr>
              <a:xfrm>
                <a:off x="4438363" y="4221961"/>
                <a:ext cx="6096000" cy="5447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F92C9B5-44C1-ACF3-3EC8-989D2365A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363" y="4221961"/>
                <a:ext cx="6096000" cy="5447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B4BBC2D-10FF-ABE8-D3CF-631E9CAF583D}"/>
                  </a:ext>
                </a:extLst>
              </p:cNvPr>
              <p:cNvSpPr/>
              <p:nvPr/>
            </p:nvSpPr>
            <p:spPr>
              <a:xfrm>
                <a:off x="5389116" y="5222478"/>
                <a:ext cx="1834644" cy="1150927"/>
              </a:xfrm>
              <a:prstGeom prst="rect">
                <a:avLst/>
              </a:prstGeom>
              <a:noFill/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B4BBC2D-10FF-ABE8-D3CF-631E9CAF58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116" y="5222478"/>
                <a:ext cx="1834644" cy="115092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F5C0126E-C297-E021-0FC7-8C2B6194A42F}"/>
              </a:ext>
            </a:extLst>
          </p:cNvPr>
          <p:cNvSpPr txBox="1"/>
          <p:nvPr/>
        </p:nvSpPr>
        <p:spPr>
          <a:xfrm>
            <a:off x="5446291" y="5334637"/>
            <a:ext cx="2103600" cy="3832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GB" dirty="0">
                <a:solidFill>
                  <a:schemeClr val="tx1"/>
                </a:solidFill>
              </a:rPr>
              <a:t>1993- 2003: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6365B4-E4D2-2753-EDFE-6ABD7C2CF5D6}"/>
              </a:ext>
            </a:extLst>
          </p:cNvPr>
          <p:cNvSpPr txBox="1"/>
          <p:nvPr/>
        </p:nvSpPr>
        <p:spPr>
          <a:xfrm>
            <a:off x="5395288" y="5630328"/>
            <a:ext cx="1675084" cy="36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lang="en-GB" dirty="0"/>
              <a:t>27770 Papers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A0F1EE-0A7A-379F-89C8-70EAB32F0732}"/>
              </a:ext>
            </a:extLst>
          </p:cNvPr>
          <p:cNvSpPr txBox="1"/>
          <p:nvPr/>
        </p:nvSpPr>
        <p:spPr>
          <a:xfrm>
            <a:off x="5389116" y="5968232"/>
            <a:ext cx="2103600" cy="36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GB" dirty="0">
                <a:solidFill>
                  <a:schemeClr val="tx1"/>
                </a:solidFill>
              </a:rPr>
              <a:t>352807 Citations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36222B6-E697-7BF0-6817-5A512D7F89C2}"/>
                  </a:ext>
                </a:extLst>
              </p:cNvPr>
              <p:cNvSpPr txBox="1"/>
              <p:nvPr/>
            </p:nvSpPr>
            <p:spPr>
              <a:xfrm>
                <a:off x="4444716" y="5173138"/>
                <a:ext cx="6096000" cy="5447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36222B6-E697-7BF0-6817-5A512D7F89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4716" y="5173138"/>
                <a:ext cx="6096000" cy="5447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310801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842A5-E8CA-A8C0-F3ED-F2B059131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 anchor="t">
            <a:normAutofit/>
          </a:bodyPr>
          <a:lstStyle/>
          <a:p>
            <a:r>
              <a:rPr lang="en-US" dirty="0"/>
              <a:t>Selected Network Features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3FF72F62-CFD1-653B-1508-9485B2C0A48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17004" y="5083335"/>
                <a:ext cx="11684986" cy="355483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r>
                  <a:rPr lang="en-US" sz="1800" i="1" dirty="0"/>
                  <a:t>	“What are the dominant behaviors of the system, and how can we describe these mathematically?”</a:t>
                </a:r>
              </a:p>
              <a:p>
                <a:pPr>
                  <a:lnSpc>
                    <a:spcPct val="95000"/>
                  </a:lnSpc>
                  <a:spcAft>
                    <a:spcPts val="600"/>
                  </a:spcAft>
                </a:pPr>
                <a:endParaRPr lang="en-US" sz="1700" i="1" dirty="0"/>
              </a:p>
              <a:p>
                <a:pPr>
                  <a:lnSpc>
                    <a:spcPct val="95000"/>
                  </a:lnSpc>
                  <a:spcAft>
                    <a:spcPts val="600"/>
                  </a:spcAft>
                </a:pPr>
                <a:endParaRPr lang="en-US" sz="1700" dirty="0"/>
              </a:p>
              <a:p>
                <a:pPr>
                  <a:lnSpc>
                    <a:spcPct val="95000"/>
                  </a:lnSpc>
                  <a:spcAft>
                    <a:spcPts val="600"/>
                  </a:spcAft>
                </a:pPr>
                <a:endParaRPr lang="en-US" sz="1700" dirty="0"/>
              </a:p>
              <a:p>
                <a:pPr>
                  <a:lnSpc>
                    <a:spcPct val="95000"/>
                  </a:lnSpc>
                  <a:spcAft>
                    <a:spcPts val="600"/>
                  </a:spcAft>
                </a:pPr>
                <a:endParaRPr lang="en-US" sz="1700" dirty="0"/>
              </a:p>
              <a:p>
                <a:pPr>
                  <a:lnSpc>
                    <a:spcPct val="95000"/>
                  </a:lnSpc>
                  <a:spcAft>
                    <a:spcPts val="600"/>
                  </a:spcAft>
                </a:pPr>
                <a:endParaRPr lang="en-GB" sz="1700" dirty="0"/>
              </a:p>
            </p:txBody>
          </p:sp>
        </mc:Choice>
        <mc:Fallback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3FF72F62-CFD1-653B-1508-9485B2C0A4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17004" y="5083335"/>
                <a:ext cx="11684986" cy="355483"/>
              </a:xfrm>
              <a:blipFill>
                <a:blip r:embed="rId2"/>
                <a:stretch>
                  <a:fillRect l="-522" t="-25862" b="-137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1E90C2-09BF-E4DA-BAF0-FFA86E06B7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763F89BA-E380-4E3C-B040-31952AA5BAC2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276F6-204F-1430-0889-5A9525D99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7</a:t>
            </a:fld>
            <a:endParaRPr lang="en-GB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04DC8843-6038-A178-30EE-FAC0E96B17B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What are dominant behaviors do we wish to model?</a:t>
            </a:r>
            <a:endParaRPr lang="en-US" dirty="0"/>
          </a:p>
        </p:txBody>
      </p:sp>
      <p:sp>
        <p:nvSpPr>
          <p:cNvPr id="19" name="AutoShape 4">
            <a:extLst>
              <a:ext uri="{FF2B5EF4-FFF2-40B4-BE49-F238E27FC236}">
                <a16:creationId xmlns:a16="http://schemas.microsoft.com/office/drawing/2014/main" id="{339D3E8F-829F-B585-0B1C-0040CEFE12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D51A36-2F72-F026-C4A2-C1B29AB5D28B}"/>
              </a:ext>
            </a:extLst>
          </p:cNvPr>
          <p:cNvSpPr txBox="1"/>
          <p:nvPr/>
        </p:nvSpPr>
        <p:spPr>
          <a:xfrm>
            <a:off x="325437" y="1299786"/>
            <a:ext cx="11684986" cy="958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  <a:spcAft>
                <a:spcPts val="600"/>
              </a:spcAft>
            </a:pPr>
            <a:endParaRPr lang="en-US" sz="1800" i="1" dirty="0"/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lang="en-US" sz="1800" dirty="0"/>
              <a:t>(2)	 “</a:t>
            </a:r>
            <a:r>
              <a:rPr lang="en-US" sz="1800" i="1" dirty="0"/>
              <a:t>Given the characteristics of my </a:t>
            </a:r>
            <a:r>
              <a:rPr lang="en-US" dirty="0">
                <a:solidFill>
                  <a:schemeClr val="accent1"/>
                </a:solidFill>
              </a:rPr>
              <a:t>[citation] </a:t>
            </a:r>
            <a:r>
              <a:rPr lang="en-US" sz="1800" i="1" dirty="0"/>
              <a:t>network, how likely is it that one of </a:t>
            </a:r>
            <a:r>
              <a:rPr lang="en-US" i="1" dirty="0"/>
              <a:t>the</a:t>
            </a:r>
            <a:r>
              <a:rPr lang="en-US" sz="1800" i="1" dirty="0"/>
              <a:t> </a:t>
            </a:r>
            <a:r>
              <a:rPr lang="en-US" sz="1800" i="1" dirty="0">
                <a:solidFill>
                  <a:schemeClr val="accent1"/>
                </a:solidFill>
              </a:rPr>
              <a:t>[papers] </a:t>
            </a:r>
            <a:r>
              <a:rPr lang="en-US" sz="1800" i="1" dirty="0"/>
              <a:t>has the</a:t>
            </a:r>
            <a:r>
              <a:rPr lang="en-US" i="1" dirty="0"/>
              <a:t> number of</a:t>
            </a:r>
            <a:r>
              <a:rPr lang="en-US" sz="1800" i="1" dirty="0"/>
              <a:t> </a:t>
            </a:r>
            <a:r>
              <a:rPr lang="en-US" sz="1800" i="1" dirty="0">
                <a:solidFill>
                  <a:schemeClr val="accent1"/>
                </a:solidFill>
              </a:rPr>
              <a:t>[citations] </a:t>
            </a:r>
            <a:r>
              <a:rPr lang="en-US" sz="1800" i="1" dirty="0"/>
              <a:t>it does?”</a:t>
            </a:r>
            <a:endParaRPr lang="en-GB" sz="1800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B52526-B1FC-BB84-B6E1-031CE8B4C67D}"/>
              </a:ext>
            </a:extLst>
          </p:cNvPr>
          <p:cNvSpPr txBox="1"/>
          <p:nvPr/>
        </p:nvSpPr>
        <p:spPr>
          <a:xfrm>
            <a:off x="213272" y="3361607"/>
            <a:ext cx="11460655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  <a:spcAft>
                <a:spcPts val="600"/>
              </a:spcAft>
            </a:pPr>
            <a:r>
              <a:rPr lang="en-US" sz="1800" dirty="0"/>
              <a:t>As physicists, we know that a mathematical model of a real-world system can only capture certain aspects of the system under study. </a:t>
            </a:r>
          </a:p>
        </p:txBody>
      </p:sp>
    </p:spTree>
    <p:extLst>
      <p:ext uri="{BB962C8B-B14F-4D97-AF65-F5344CB8AC3E}">
        <p14:creationId xmlns:p14="http://schemas.microsoft.com/office/powerpoint/2010/main" val="61184951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5AC81-8926-C0EF-6D15-C4C94AA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2BEEB-8A6E-12DF-A9E8-44331CE65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b="1" kern="1200" dirty="0">
                <a:latin typeface="+mj-lt"/>
                <a:ea typeface="+mj-ea"/>
                <a:cs typeface="+mj-cs"/>
              </a:rPr>
              <a:t>Matthew Effect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0A77F9-693B-BB1F-0E83-812B2BA0BA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310031CB-E0DC-49E5-82DD-46BACB801860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6BA6AD-D30D-3518-334F-AEAAC4844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8</a:t>
            </a:fld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9DB98B-CFBF-7902-A92F-6EC396636552}"/>
              </a:ext>
            </a:extLst>
          </p:cNvPr>
          <p:cNvSpPr txBox="1"/>
          <p:nvPr/>
        </p:nvSpPr>
        <p:spPr>
          <a:xfrm>
            <a:off x="1657041" y="1048285"/>
            <a:ext cx="5548356" cy="34917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defTabSz="685765">
              <a:lnSpc>
                <a:spcPct val="105000"/>
              </a:lnSpc>
              <a:spcAft>
                <a:spcPts val="600"/>
              </a:spcAft>
              <a:buFont typeface="Arial" panose="020B0604020202020204" pitchFamily="34" charset="0"/>
            </a:pPr>
            <a:r>
              <a:rPr lang="en-US" i="1" dirty="0"/>
              <a:t>“For everyone who has will be given more.”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3E64CED-F924-344C-62E7-3847D051EFE2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 vert="horz" lIns="0" tIns="0" rIns="0" bIns="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The Matthew effect, Price’s model and the Barab</a:t>
            </a:r>
            <a:r>
              <a:rPr lang="en-GB" dirty="0"/>
              <a:t>á</a:t>
            </a:r>
            <a:r>
              <a:rPr lang="en-US" dirty="0" err="1"/>
              <a:t>si</a:t>
            </a:r>
            <a:r>
              <a:rPr lang="en-US" dirty="0"/>
              <a:t>–Albert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1ED31C6-9795-853A-1D12-01BBC1659DC1}"/>
                  </a:ext>
                </a:extLst>
              </p:cNvPr>
              <p:cNvSpPr txBox="1"/>
              <p:nvPr/>
            </p:nvSpPr>
            <p:spPr>
              <a:xfrm>
                <a:off x="7922714" y="5183797"/>
                <a:ext cx="2118479" cy="6674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Π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⇒</m:t>
                      </m:r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1ED31C6-9795-853A-1D12-01BBC1659D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2714" y="5183797"/>
                <a:ext cx="2118479" cy="66742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FF1533AA-9605-E75B-380E-459A432A2396}"/>
              </a:ext>
            </a:extLst>
          </p:cNvPr>
          <p:cNvSpPr txBox="1"/>
          <p:nvPr/>
        </p:nvSpPr>
        <p:spPr>
          <a:xfrm>
            <a:off x="7998015" y="4949722"/>
            <a:ext cx="3153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1999: Barab</a:t>
            </a:r>
            <a:r>
              <a:rPr lang="en-GB" dirty="0"/>
              <a:t>á</a:t>
            </a:r>
            <a:r>
              <a:rPr lang="en-US" dirty="0" err="1"/>
              <a:t>si</a:t>
            </a:r>
            <a:r>
              <a:rPr lang="en-US" dirty="0"/>
              <a:t>–Albert [6] : </a:t>
            </a:r>
            <a:endParaRPr lang="en-GB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7241107-D581-FF5C-A51F-7EA683A81E32}"/>
                  </a:ext>
                </a:extLst>
              </p:cNvPr>
              <p:cNvSpPr txBox="1"/>
              <p:nvPr/>
            </p:nvSpPr>
            <p:spPr>
              <a:xfrm>
                <a:off x="8050485" y="4481113"/>
                <a:ext cx="5099859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 xmlns:m="http://schemas.openxmlformats.org/officeDocument/2006/math">
                    <m:r>
                      <a:rPr lang="en-GB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1600" dirty="0"/>
                  <a:t> = initial number of citations a paper has</a:t>
                </a:r>
                <a:endParaRPr lang="en-GB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7241107-D581-FF5C-A51F-7EA683A81E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0485" y="4481113"/>
                <a:ext cx="5099859" cy="369332"/>
              </a:xfrm>
              <a:prstGeom prst="rect">
                <a:avLst/>
              </a:prstGeom>
              <a:blipFill>
                <a:blip r:embed="rId6"/>
                <a:stretch>
                  <a:fillRect l="-1435" t="-163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56A1D0F-EE1D-EAAF-C539-9771B4132946}"/>
                  </a:ext>
                </a:extLst>
              </p:cNvPr>
              <p:cNvSpPr txBox="1"/>
              <p:nvPr/>
            </p:nvSpPr>
            <p:spPr>
              <a:xfrm>
                <a:off x="8050485" y="3844987"/>
                <a:ext cx="3696034" cy="4506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l">
                  <a:lnSpc>
                    <a:spcPct val="105000"/>
                  </a:lnSpc>
                </a:pP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sz="1600" dirty="0"/>
                  <a:t> = number of citations the newly added </a:t>
                </a:r>
              </a:p>
              <a:p>
                <a:pPr algn="l">
                  <a:lnSpc>
                    <a:spcPct val="105000"/>
                  </a:lnSpc>
                </a:pPr>
                <a:r>
                  <a:rPr lang="en-GB" sz="1600" dirty="0"/>
                  <a:t>paper gives</a:t>
                </a:r>
                <a:endParaRPr lang="en-GB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56A1D0F-EE1D-EAAF-C539-9771B41329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0485" y="3844987"/>
                <a:ext cx="3696034" cy="450685"/>
              </a:xfrm>
              <a:prstGeom prst="rect">
                <a:avLst/>
              </a:prstGeom>
              <a:blipFill>
                <a:blip r:embed="rId7"/>
                <a:stretch>
                  <a:fillRect l="-3465" t="-14865" r="-3795" b="-378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2ADC579E-B574-17B7-5F35-DC6345EB0116}"/>
              </a:ext>
            </a:extLst>
          </p:cNvPr>
          <p:cNvSpPr txBox="1"/>
          <p:nvPr/>
        </p:nvSpPr>
        <p:spPr>
          <a:xfrm>
            <a:off x="390244" y="6101831"/>
            <a:ext cx="76602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/>
              <a:t>Fig 8: </a:t>
            </a:r>
            <a:r>
              <a:rPr lang="en-GB" sz="1400" i="1" dirty="0"/>
              <a:t>Video demonstrating preferential attachment representing the Matthew effect [5]</a:t>
            </a:r>
            <a:r>
              <a:rPr lang="en-GB" sz="1400" i="1" dirty="0">
                <a:solidFill>
                  <a:schemeClr val="tx1"/>
                </a:solidFill>
              </a:rPr>
              <a:t>.</a:t>
            </a:r>
            <a:endParaRPr lang="en-GB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8016D5-E4F1-BECC-A18C-E59441DC5D67}"/>
                  </a:ext>
                </a:extLst>
              </p:cNvPr>
              <p:cNvSpPr txBox="1"/>
              <p:nvPr/>
            </p:nvSpPr>
            <p:spPr>
              <a:xfrm>
                <a:off x="7985072" y="2816227"/>
                <a:ext cx="4434373" cy="3329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sz="1600" dirty="0"/>
                  <a:t> = number of citations</a:t>
                </a:r>
                <a:endParaRPr lang="en-GB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8016D5-E4F1-BECC-A18C-E59441DC5D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5072" y="2816227"/>
                <a:ext cx="4434373" cy="332912"/>
              </a:xfrm>
              <a:prstGeom prst="rect">
                <a:avLst/>
              </a:prstGeom>
              <a:blipFill>
                <a:blip r:embed="rId8"/>
                <a:stretch>
                  <a:fillRect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27FDA06-BF10-D927-A18F-66B4F706CB81}"/>
                  </a:ext>
                </a:extLst>
              </p:cNvPr>
              <p:cNvSpPr txBox="1"/>
              <p:nvPr/>
            </p:nvSpPr>
            <p:spPr>
              <a:xfrm>
                <a:off x="7985072" y="3204357"/>
                <a:ext cx="5122974" cy="591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sz="1600" dirty="0"/>
                  <a:t> = timestep indicating how many </a:t>
                </a:r>
              </a:p>
              <a:p>
                <a:pPr>
                  <a:lnSpc>
                    <a:spcPct val="105000"/>
                  </a:lnSpc>
                </a:pPr>
                <a:r>
                  <a:rPr lang="en-GB" sz="1600" dirty="0"/>
                  <a:t>nodes added</a:t>
                </a:r>
                <a:endParaRPr lang="en-GB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27FDA06-BF10-D927-A18F-66B4F706CB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5072" y="3204357"/>
                <a:ext cx="5122974" cy="591444"/>
              </a:xfrm>
              <a:prstGeom prst="rect">
                <a:avLst/>
              </a:prstGeom>
              <a:blipFill>
                <a:blip r:embed="rId9"/>
                <a:stretch>
                  <a:fillRect l="-714" t="-3093" b="-1340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BA45DD9A-7E01-2EE8-7572-6B648DF067D1}"/>
              </a:ext>
            </a:extLst>
          </p:cNvPr>
          <p:cNvSpPr/>
          <p:nvPr/>
        </p:nvSpPr>
        <p:spPr>
          <a:xfrm>
            <a:off x="7985072" y="2711928"/>
            <a:ext cx="4126149" cy="2180224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CC832B-D02A-5570-5756-9D1F5C382A8C}"/>
              </a:ext>
            </a:extLst>
          </p:cNvPr>
          <p:cNvSpPr txBox="1"/>
          <p:nvPr/>
        </p:nvSpPr>
        <p:spPr>
          <a:xfrm>
            <a:off x="7935648" y="895471"/>
            <a:ext cx="1888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1976</a:t>
            </a:r>
            <a:r>
              <a:rPr lang="en-US" dirty="0"/>
              <a:t>: Price [5]: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8E0D8A2-5EDE-4638-50C5-7C22D9503A2C}"/>
                  </a:ext>
                </a:extLst>
              </p:cNvPr>
              <p:cNvSpPr txBox="1"/>
              <p:nvPr/>
            </p:nvSpPr>
            <p:spPr>
              <a:xfrm>
                <a:off x="8341498" y="1678207"/>
                <a:ext cx="3769723" cy="11120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en-GB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2+</m:t>
                              </m:r>
                              <m:d>
                                <m:dPr>
                                  <m:ctrlPr>
                                    <a:rPr lang="en-GB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num>
                                    <m:den>
                                      <m:r>
                                        <a:rPr lang="en-GB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1+</m:t>
                              </m:r>
                              <m:d>
                                <m:dPr>
                                  <m:ctrlPr>
                                    <a:rPr lang="en-GB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num>
                                    <m:den>
                                      <m:r>
                                        <a:rPr lang="en-GB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</m:e>
                              </m:d>
                            </m:e>
                          </m:d>
                        </m:den>
                      </m:f>
                      <m:r>
                        <a:rPr lang="en-GB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2+</m:t>
                              </m:r>
                              <m:f>
                                <m:fPr>
                                  <m:ctrlPr>
                                    <a:rPr lang="en-GB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num>
                                <m:den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GB" sz="1600" b="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8E0D8A2-5EDE-4638-50C5-7C22D9503A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1498" y="1678207"/>
                <a:ext cx="3769723" cy="111204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70117AD-FC6E-72A8-46CA-3F15A60F3E74}"/>
                  </a:ext>
                </a:extLst>
              </p:cNvPr>
              <p:cNvSpPr txBox="1"/>
              <p:nvPr/>
            </p:nvSpPr>
            <p:spPr>
              <a:xfrm>
                <a:off x="8433992" y="1279815"/>
                <a:ext cx="3006436" cy="5135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d>
                      <m:dPr>
                        <m:ctrlP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𝑍</m:t>
                        </m:r>
                        <m:d>
                          <m:dPr>
                            <m:ctrlPr>
                              <a:rPr lang="en-GB" sz="1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1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den>
                    </m:f>
                    <m:d>
                      <m:dPr>
                        <m:ctrlP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d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  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70117AD-FC6E-72A8-46CA-3F15A60F3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3992" y="1279815"/>
                <a:ext cx="3006436" cy="51353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9CC1D1DC-4B43-AE6D-6D38-5EDF1AE9F5F2}"/>
              </a:ext>
            </a:extLst>
          </p:cNvPr>
          <p:cNvSpPr/>
          <p:nvPr/>
        </p:nvSpPr>
        <p:spPr>
          <a:xfrm>
            <a:off x="7985072" y="948383"/>
            <a:ext cx="4163632" cy="1724363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5449B70-B978-F719-32E4-241C50897F17}"/>
              </a:ext>
            </a:extLst>
          </p:cNvPr>
          <p:cNvSpPr/>
          <p:nvPr/>
        </p:nvSpPr>
        <p:spPr>
          <a:xfrm>
            <a:off x="7998015" y="4966001"/>
            <a:ext cx="4126780" cy="1376021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A2153E3-BA6C-7D13-78CB-ADF06241C7B3}"/>
                  </a:ext>
                </a:extLst>
              </p:cNvPr>
              <p:cNvSpPr txBox="1"/>
              <p:nvPr/>
            </p:nvSpPr>
            <p:spPr>
              <a:xfrm>
                <a:off x="7883563" y="5799306"/>
                <a:ext cx="29990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)=[2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A2153E3-BA6C-7D13-78CB-ADF06241C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3563" y="5799306"/>
                <a:ext cx="2999007" cy="369332"/>
              </a:xfrm>
              <a:prstGeom prst="rect">
                <a:avLst/>
              </a:prstGeom>
              <a:blipFill>
                <a:blip r:embed="rId12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Footer Placeholder 3">
            <a:extLst>
              <a:ext uri="{FF2B5EF4-FFF2-40B4-BE49-F238E27FC236}">
                <a16:creationId xmlns:a16="http://schemas.microsoft.com/office/drawing/2014/main" id="{62D2E7EB-DD66-80C9-D2EB-211DD2196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5800" y="6573134"/>
            <a:ext cx="10182180" cy="218961"/>
          </a:xfrm>
        </p:spPr>
        <p:txBody>
          <a:bodyPr/>
          <a:lstStyle/>
          <a:p>
            <a:r>
              <a:rPr lang="en-GB" dirty="0"/>
              <a:t>[5]	</a:t>
            </a:r>
            <a:r>
              <a:rPr lang="en-US" dirty="0"/>
              <a:t>Derek J. de Solla Price. ‘A general theory of bibliometric and other cumulative </a:t>
            </a:r>
            <a:r>
              <a:rPr lang="en-US" dirty="0" err="1"/>
              <a:t>advant</a:t>
            </a:r>
            <a:r>
              <a:rPr lang="en-US" dirty="0"/>
              <a:t> age processes’. In: Journal of the American Society for Information Science 27.5 (1976), pp. 292–306.</a:t>
            </a:r>
          </a:p>
          <a:p>
            <a:r>
              <a:rPr lang="en-US" dirty="0"/>
              <a:t>[6]	A.-L. Barab</a:t>
            </a:r>
            <a:r>
              <a:rPr lang="en-GB" dirty="0"/>
              <a:t>á</a:t>
            </a:r>
            <a:r>
              <a:rPr lang="en-US" dirty="0" err="1"/>
              <a:t>si</a:t>
            </a:r>
            <a:r>
              <a:rPr lang="en-US" dirty="0"/>
              <a:t> and R. Albert. ‘Emergence of scaling in random networks’. In: Science 286.5439 (1999), pp. 509–512. 	 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2563E33-DE3A-0B0A-0B43-6A9E430F48B0}"/>
                  </a:ext>
                </a:extLst>
              </p:cNvPr>
              <p:cNvSpPr txBox="1"/>
              <p:nvPr/>
            </p:nvSpPr>
            <p:spPr>
              <a:xfrm>
                <a:off x="11383416" y="979693"/>
                <a:ext cx="422929" cy="2971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l"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GB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2563E33-DE3A-0B0A-0B43-6A9E430F48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3416" y="979693"/>
                <a:ext cx="422929" cy="29718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3942584-797A-EB80-F346-0383F51C2656}"/>
                  </a:ext>
                </a:extLst>
              </p:cNvPr>
              <p:cNvSpPr txBox="1"/>
              <p:nvPr/>
            </p:nvSpPr>
            <p:spPr>
              <a:xfrm>
                <a:off x="11280484" y="5527158"/>
                <a:ext cx="6581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3942584-797A-EB80-F346-0383F51C2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0484" y="5527158"/>
                <a:ext cx="65816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ScreenRecording_03-18-2026 09-54-29_1">
            <a:hlinkClick r:id="" action="ppaction://media"/>
            <a:extLst>
              <a:ext uri="{FF2B5EF4-FFF2-40B4-BE49-F238E27FC236}">
                <a16:creationId xmlns:a16="http://schemas.microsoft.com/office/drawing/2014/main" id="{6ED226F7-E43F-1C7E-C741-7AC90393F5C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5"/>
          <a:stretch>
            <a:fillRect/>
          </a:stretch>
        </p:blipFill>
        <p:spPr>
          <a:xfrm>
            <a:off x="445482" y="1362352"/>
            <a:ext cx="6729806" cy="468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17753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999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9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video>
              <p:cMediaNode vol="80000">
                <p:cTn id="50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  <p:bldLst>
      <p:bldP spid="29" grpId="0"/>
      <p:bldP spid="32" grpId="0"/>
      <p:bldP spid="33" grpId="0"/>
      <p:bldP spid="34" grpId="0"/>
      <p:bldP spid="36" grpId="0"/>
      <p:bldP spid="6" grpId="0"/>
      <p:bldP spid="8" grpId="0"/>
      <p:bldP spid="11" grpId="0" animBg="1"/>
      <p:bldP spid="12" grpId="0"/>
      <p:bldP spid="13" grpId="0"/>
      <p:bldP spid="14" grpId="0"/>
      <p:bldP spid="16" grpId="0" animBg="1"/>
      <p:bldP spid="17" grpId="0" animBg="1"/>
      <p:bldP spid="30" grpId="0"/>
      <p:bldP spid="45" grpId="0"/>
      <p:bldP spid="4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4F674-D976-C379-F19E-3EC33B4AB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FF3C8-C3FC-196A-75CB-ADC1B0CC5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b="1" kern="1200" dirty="0">
                <a:latin typeface="+mj-lt"/>
                <a:ea typeface="+mj-ea"/>
                <a:cs typeface="+mj-cs"/>
              </a:rPr>
              <a:t>Cumulative Advantage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C9FC07-B294-3147-4F1C-F21AA38B1A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310031CB-E0DC-49E5-82DD-46BACB801860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24862-9620-D458-936F-38DE1784F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9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EC9C2EB-875B-E20A-3C9B-C3DBC698FFF2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 vert="horz" lIns="0" tIns="0" rIns="0" bIns="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The Matthew effect, Price’s model and the Barab</a:t>
            </a:r>
            <a:r>
              <a:rPr lang="en-GB" dirty="0"/>
              <a:t>á</a:t>
            </a:r>
            <a:r>
              <a:rPr lang="en-US" dirty="0" err="1"/>
              <a:t>si</a:t>
            </a:r>
            <a:r>
              <a:rPr lang="en-US" dirty="0"/>
              <a:t>–Albert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310A11F-A8B2-6BE3-9A2D-4841C4E93C26}"/>
                  </a:ext>
                </a:extLst>
              </p:cNvPr>
              <p:cNvSpPr txBox="1"/>
              <p:nvPr/>
            </p:nvSpPr>
            <p:spPr>
              <a:xfrm>
                <a:off x="8050485" y="4481113"/>
                <a:ext cx="5099859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 xmlns:m="http://schemas.openxmlformats.org/officeDocument/2006/math">
                    <m:r>
                      <a:rPr lang="en-GB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1600" dirty="0"/>
                  <a:t> = initial number of citations a paper has</a:t>
                </a:r>
                <a:endParaRPr lang="en-GB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310A11F-A8B2-6BE3-9A2D-4841C4E93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0485" y="4481113"/>
                <a:ext cx="5099859" cy="369332"/>
              </a:xfrm>
              <a:prstGeom prst="rect">
                <a:avLst/>
              </a:prstGeom>
              <a:blipFill>
                <a:blip r:embed="rId2"/>
                <a:stretch>
                  <a:fillRect l="-1435" t="-163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B2DC046-0B53-030B-9746-48B90ABDA76C}"/>
                  </a:ext>
                </a:extLst>
              </p:cNvPr>
              <p:cNvSpPr txBox="1"/>
              <p:nvPr/>
            </p:nvSpPr>
            <p:spPr>
              <a:xfrm>
                <a:off x="8050485" y="3844987"/>
                <a:ext cx="3696034" cy="4506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l">
                  <a:lnSpc>
                    <a:spcPct val="105000"/>
                  </a:lnSpc>
                </a:pP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sz="1600" dirty="0"/>
                  <a:t> = number of citations the newly added </a:t>
                </a:r>
              </a:p>
              <a:p>
                <a:pPr algn="l">
                  <a:lnSpc>
                    <a:spcPct val="105000"/>
                  </a:lnSpc>
                </a:pPr>
                <a:r>
                  <a:rPr lang="en-GB" sz="1600" dirty="0"/>
                  <a:t>paper gives</a:t>
                </a:r>
                <a:endParaRPr lang="en-GB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B2DC046-0B53-030B-9746-48B90ABDA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0485" y="3844987"/>
                <a:ext cx="3696034" cy="450685"/>
              </a:xfrm>
              <a:prstGeom prst="rect">
                <a:avLst/>
              </a:prstGeom>
              <a:blipFill>
                <a:blip r:embed="rId3"/>
                <a:stretch>
                  <a:fillRect l="-3465" t="-14865" r="-3795" b="-378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D6CF3C44-0DF3-F99A-E44C-270D08FB0A3D}"/>
              </a:ext>
            </a:extLst>
          </p:cNvPr>
          <p:cNvSpPr txBox="1"/>
          <p:nvPr/>
        </p:nvSpPr>
        <p:spPr>
          <a:xfrm>
            <a:off x="681257" y="5538205"/>
            <a:ext cx="766024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chemeClr val="tx1"/>
                </a:solidFill>
              </a:rPr>
              <a:t>Figure 9: </a:t>
            </a:r>
            <a:r>
              <a:rPr lang="en-GB" sz="1400" i="1" dirty="0">
                <a:solidFill>
                  <a:schemeClr val="tx1"/>
                </a:solidFill>
              </a:rPr>
              <a:t>Price model plotted vs its Power Law Approximation .</a:t>
            </a:r>
            <a:endParaRPr lang="en-GB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4A27492-9CCC-7233-CD40-D68371DDB964}"/>
                  </a:ext>
                </a:extLst>
              </p:cNvPr>
              <p:cNvSpPr txBox="1"/>
              <p:nvPr/>
            </p:nvSpPr>
            <p:spPr>
              <a:xfrm>
                <a:off x="7985072" y="2816227"/>
                <a:ext cx="4434373" cy="3329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sz="1600" dirty="0"/>
                  <a:t> = number of citations</a:t>
                </a:r>
                <a:endParaRPr lang="en-GB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4A27492-9CCC-7233-CD40-D68371DDB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5072" y="2816227"/>
                <a:ext cx="4434373" cy="332912"/>
              </a:xfrm>
              <a:prstGeom prst="rect">
                <a:avLst/>
              </a:prstGeom>
              <a:blipFill>
                <a:blip r:embed="rId4"/>
                <a:stretch>
                  <a:fillRect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331A8F-CEDD-D7EB-04FC-815541E66DB1}"/>
                  </a:ext>
                </a:extLst>
              </p:cNvPr>
              <p:cNvSpPr txBox="1"/>
              <p:nvPr/>
            </p:nvSpPr>
            <p:spPr>
              <a:xfrm>
                <a:off x="7985072" y="3204357"/>
                <a:ext cx="5122974" cy="591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 xmlns:m="http://schemas.openxmlformats.org/officeDocument/2006/math">
                    <m:r>
                      <a:rPr lang="en-GB" sz="16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GB" sz="1600" dirty="0"/>
                  <a:t> = timestep indicating how many </a:t>
                </a:r>
              </a:p>
              <a:p>
                <a:pPr>
                  <a:lnSpc>
                    <a:spcPct val="105000"/>
                  </a:lnSpc>
                </a:pPr>
                <a:r>
                  <a:rPr lang="en-GB" sz="1600" dirty="0"/>
                  <a:t>nodes added</a:t>
                </a:r>
                <a:endParaRPr lang="en-GB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331A8F-CEDD-D7EB-04FC-815541E66D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5072" y="3204357"/>
                <a:ext cx="5122974" cy="591444"/>
              </a:xfrm>
              <a:prstGeom prst="rect">
                <a:avLst/>
              </a:prstGeom>
              <a:blipFill>
                <a:blip r:embed="rId5"/>
                <a:stretch>
                  <a:fillRect l="-714" t="-3093" b="-1340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4178BC1B-EA68-6E53-5749-B4A1245CFD64}"/>
              </a:ext>
            </a:extLst>
          </p:cNvPr>
          <p:cNvSpPr/>
          <p:nvPr/>
        </p:nvSpPr>
        <p:spPr>
          <a:xfrm>
            <a:off x="7985072" y="2711928"/>
            <a:ext cx="4163632" cy="2180224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2439EF-FF8C-8228-85A9-592B1C2ABE7C}"/>
              </a:ext>
            </a:extLst>
          </p:cNvPr>
          <p:cNvSpPr txBox="1"/>
          <p:nvPr/>
        </p:nvSpPr>
        <p:spPr>
          <a:xfrm>
            <a:off x="7935648" y="895471"/>
            <a:ext cx="1888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1976</a:t>
            </a:r>
            <a:r>
              <a:rPr lang="en-US" dirty="0"/>
              <a:t>: Price [5]: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1D722E-C9CB-EC1A-E88F-5B91631E1139}"/>
                  </a:ext>
                </a:extLst>
              </p:cNvPr>
              <p:cNvSpPr txBox="1"/>
              <p:nvPr/>
            </p:nvSpPr>
            <p:spPr>
              <a:xfrm>
                <a:off x="8341498" y="1678207"/>
                <a:ext cx="3769723" cy="11120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GB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en-GB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2+</m:t>
                              </m:r>
                              <m:d>
                                <m:dPr>
                                  <m:ctrlPr>
                                    <a:rPr lang="en-GB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num>
                                    <m:den>
                                      <m:r>
                                        <a:rPr lang="en-GB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1+</m:t>
                              </m:r>
                              <m:d>
                                <m:dPr>
                                  <m:ctrlPr>
                                    <a:rPr lang="en-GB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num>
                                    <m:den>
                                      <m:r>
                                        <a:rPr lang="en-GB" sz="1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</m:e>
                              </m:d>
                            </m:e>
                          </m:d>
                        </m:den>
                      </m:f>
                      <m:r>
                        <a:rPr lang="en-GB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p>
                        <m:sSupPr>
                          <m:ctrlP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GB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GB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2+</m:t>
                              </m:r>
                              <m:f>
                                <m:fPr>
                                  <m:ctrlPr>
                                    <a:rPr lang="en-GB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num>
                                <m:den>
                                  <m:r>
                                    <a:rPr lang="en-GB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en-GB" sz="1600" b="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1D722E-C9CB-EC1A-E88F-5B91631E11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1498" y="1678207"/>
                <a:ext cx="3769723" cy="111204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6ECC5E-6E4C-3EB2-5880-E8F6FD340489}"/>
                  </a:ext>
                </a:extLst>
              </p:cNvPr>
              <p:cNvSpPr txBox="1"/>
              <p:nvPr/>
            </p:nvSpPr>
            <p:spPr>
              <a:xfrm>
                <a:off x="8433992" y="1279815"/>
                <a:ext cx="3006436" cy="5135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d>
                      <m:dPr>
                        <m:ctrlP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𝑍</m:t>
                        </m:r>
                        <m:d>
                          <m:dPr>
                            <m:ctrlPr>
                              <a:rPr lang="en-GB" sz="1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1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den>
                    </m:f>
                    <m:d>
                      <m:dPr>
                        <m:ctrlP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GB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d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  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6ECC5E-6E4C-3EB2-5880-E8F6FD3404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3992" y="1279815"/>
                <a:ext cx="3006436" cy="51353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D686E0BA-D235-0525-2BE3-65D467835047}"/>
              </a:ext>
            </a:extLst>
          </p:cNvPr>
          <p:cNvSpPr/>
          <p:nvPr/>
        </p:nvSpPr>
        <p:spPr>
          <a:xfrm>
            <a:off x="7985072" y="948383"/>
            <a:ext cx="4163632" cy="1724363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1CE4C4A-01FA-6987-753B-4883F9F64D8F}"/>
                  </a:ext>
                </a:extLst>
              </p:cNvPr>
              <p:cNvSpPr txBox="1"/>
              <p:nvPr/>
            </p:nvSpPr>
            <p:spPr>
              <a:xfrm>
                <a:off x="11383416" y="979693"/>
                <a:ext cx="422929" cy="2971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l"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GB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1CE4C4A-01FA-6987-753B-4883F9F64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3416" y="979693"/>
                <a:ext cx="422929" cy="2971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BCB356D-309A-ABD2-B5F4-0757D01509C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7" t="2347" r="5599" b="2311"/>
          <a:stretch>
            <a:fillRect/>
          </a:stretch>
        </p:blipFill>
        <p:spPr>
          <a:xfrm>
            <a:off x="-3174" y="1472015"/>
            <a:ext cx="7903678" cy="4096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3678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FE146-5CB2-BE02-637E-DE0FADDC7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8C40E-DA4B-A1FB-EF13-7C59DF8B5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b="1" kern="1200" dirty="0">
                <a:latin typeface="+mj-lt"/>
                <a:ea typeface="+mj-ea"/>
                <a:cs typeface="+mj-cs"/>
              </a:rPr>
              <a:t>Homophily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A2FB24-B7A8-3538-9235-D15E470600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310031CB-E0DC-49E5-82DD-46BACB801860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7283A2-2109-B1F0-2F48-E5E77ECD4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10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5A0985CD-6C5D-EC70-0A7E-9D68EEDC24A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34233" y="705925"/>
            <a:ext cx="11540763" cy="371567"/>
          </a:xfrm>
        </p:spPr>
        <p:txBody>
          <a:bodyPr vert="horz" lIns="0" tIns="0" rIns="0" bIns="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Homophily: The idea that similarity breeds connection.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06E140-D42F-F2EE-63AA-17A0AD868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90" y="1666755"/>
            <a:ext cx="11918420" cy="300090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958B4E5-2863-3E19-1F7F-0C27FD2C4C9B}"/>
              </a:ext>
            </a:extLst>
          </p:cNvPr>
          <p:cNvSpPr txBox="1"/>
          <p:nvPr/>
        </p:nvSpPr>
        <p:spPr>
          <a:xfrm>
            <a:off x="226167" y="1240093"/>
            <a:ext cx="11104201" cy="36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lang="en-GB" sz="1800" dirty="0">
                <a:solidFill>
                  <a:schemeClr val="tx1"/>
                </a:solidFill>
              </a:rPr>
              <a:t>2018: Karimi et al [7]. use </a:t>
            </a:r>
            <a:r>
              <a:rPr lang="en-GB" sz="1800" dirty="0" err="1">
                <a:solidFill>
                  <a:schemeClr val="tx1"/>
                </a:solidFill>
              </a:rPr>
              <a:t>Barab</a:t>
            </a:r>
            <a:r>
              <a:rPr lang="en-GB" dirty="0" err="1"/>
              <a:t>á</a:t>
            </a:r>
            <a:r>
              <a:rPr lang="en-GB" sz="1800" dirty="0" err="1">
                <a:solidFill>
                  <a:schemeClr val="tx1"/>
                </a:solidFill>
              </a:rPr>
              <a:t>si</a:t>
            </a:r>
            <a:r>
              <a:rPr lang="en-GB" sz="1800" dirty="0">
                <a:solidFill>
                  <a:schemeClr val="tx1"/>
                </a:solidFill>
              </a:rPr>
              <a:t>-Albert model </a:t>
            </a:r>
            <a:r>
              <a:rPr lang="en-GB" dirty="0"/>
              <a:t>and </a:t>
            </a:r>
            <a:r>
              <a:rPr lang="en-GB" sz="1800" dirty="0">
                <a:solidFill>
                  <a:schemeClr val="tx1"/>
                </a:solidFill>
              </a:rPr>
              <a:t>incorporate homophily: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4A081B0-324F-C695-7584-9481E73C4B31}"/>
                  </a:ext>
                </a:extLst>
              </p:cNvPr>
              <p:cNvSpPr txBox="1"/>
              <p:nvPr/>
            </p:nvSpPr>
            <p:spPr>
              <a:xfrm>
                <a:off x="2816847" y="5614877"/>
                <a:ext cx="2517153" cy="47827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GB" dirty="0">
                    <a:solidFill>
                      <a:schemeClr val="tx1"/>
                    </a:solidFill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GB" b="0" i="1" smtClean="0">
                            <a:solidFill>
                              <a:srgbClr val="FFA5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GB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=1−</m:t>
                    </m:r>
                    <m:sSub>
                      <m:sSubPr>
                        <m:ctrlP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GB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4A081B0-324F-C695-7584-9481E73C4B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6847" y="5614877"/>
                <a:ext cx="2517153" cy="478270"/>
              </a:xfrm>
              <a:prstGeom prst="rect">
                <a:avLst/>
              </a:prstGeom>
              <a:blipFill>
                <a:blip r:embed="rId3"/>
                <a:stretch>
                  <a:fillRect l="-3390" t="-139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25312F9-9383-F28D-1A41-B5B9F2B98646}"/>
                  </a:ext>
                </a:extLst>
              </p:cNvPr>
              <p:cNvSpPr txBox="1"/>
              <p:nvPr/>
            </p:nvSpPr>
            <p:spPr>
              <a:xfrm>
                <a:off x="7182465" y="5467652"/>
                <a:ext cx="1720734" cy="5710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GB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25312F9-9383-F28D-1A41-B5B9F2B986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465" y="5467652"/>
                <a:ext cx="1720734" cy="571026"/>
              </a:xfrm>
              <a:prstGeom prst="rect">
                <a:avLst/>
              </a:prstGeom>
              <a:blipFill>
                <a:blip r:embed="rId4"/>
                <a:stretch>
                  <a:fillRect b="-425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B71DAF-7DC8-0B78-AED4-00E292C2752B}"/>
                  </a:ext>
                </a:extLst>
              </p:cNvPr>
              <p:cNvSpPr txBox="1"/>
              <p:nvPr/>
            </p:nvSpPr>
            <p:spPr>
              <a:xfrm>
                <a:off x="5856219" y="5654678"/>
                <a:ext cx="512918" cy="3630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 algn="l"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B71DAF-7DC8-0B78-AED4-00E292C275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219" y="5654678"/>
                <a:ext cx="512918" cy="36304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FE88446E-F07A-5721-FF2C-E28EA44ABB15}"/>
              </a:ext>
            </a:extLst>
          </p:cNvPr>
          <p:cNvSpPr txBox="1"/>
          <p:nvPr/>
        </p:nvSpPr>
        <p:spPr>
          <a:xfrm>
            <a:off x="226167" y="4768886"/>
            <a:ext cx="8735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chemeClr val="tx1"/>
                </a:solidFill>
              </a:rPr>
              <a:t>Figure 10: </a:t>
            </a:r>
            <a:r>
              <a:rPr lang="en-GB" sz="1400" i="1" dirty="0">
                <a:solidFill>
                  <a:schemeClr val="tx1"/>
                </a:solidFill>
              </a:rPr>
              <a:t>Figure demonstrating homophily</a:t>
            </a:r>
            <a:endParaRPr lang="en-GB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55C74B-80CC-B593-35E2-A46B7CB9E9EF}"/>
                  </a:ext>
                </a:extLst>
              </p:cNvPr>
              <p:cNvSpPr txBox="1"/>
              <p:nvPr/>
            </p:nvSpPr>
            <p:spPr>
              <a:xfrm>
                <a:off x="8903199" y="5562487"/>
                <a:ext cx="65234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855C74B-80CC-B593-35E2-A46B7CB9E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3199" y="5562487"/>
                <a:ext cx="65234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44EBDE3A-4D54-1A91-7D85-8DBA1EC47494}"/>
              </a:ext>
            </a:extLst>
          </p:cNvPr>
          <p:cNvSpPr txBox="1"/>
          <p:nvPr/>
        </p:nvSpPr>
        <p:spPr>
          <a:xfrm>
            <a:off x="226167" y="6530972"/>
            <a:ext cx="1087447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50" dirty="0">
                <a:solidFill>
                  <a:schemeClr val="accent1"/>
                </a:solidFill>
              </a:rPr>
              <a:t>[7]	Fariba Karimi et al. ‘Homophily Influences Ranking of Minorities in Social Networks’. In: Proceedings of the National Academy of Sciences 115.37 (2018), pp. 9032–9037. </a:t>
            </a:r>
            <a:r>
              <a:rPr lang="en-US" sz="850" dirty="0" err="1">
                <a:solidFill>
                  <a:schemeClr val="accent1"/>
                </a:solidFill>
              </a:rPr>
              <a:t>doi</a:t>
            </a:r>
            <a:r>
              <a:rPr lang="en-US" sz="850" dirty="0">
                <a:solidFill>
                  <a:schemeClr val="accent1"/>
                </a:solidFill>
              </a:rPr>
              <a:t>: 10. 1073/pnas.1803598115.</a:t>
            </a:r>
            <a:endParaRPr lang="en-GB" sz="850" dirty="0">
              <a:solidFill>
                <a:schemeClr val="accent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E80E29-1487-E0FB-1C13-5D8853C0A96E}"/>
              </a:ext>
            </a:extLst>
          </p:cNvPr>
          <p:cNvSpPr/>
          <p:nvPr/>
        </p:nvSpPr>
        <p:spPr>
          <a:xfrm>
            <a:off x="2708787" y="5420000"/>
            <a:ext cx="6774426" cy="732075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2868182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6AD3-F446-3086-6D77-8DD19968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DCB27-1790-7C56-51EE-21F1FC099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b="1" kern="1200"/>
              <a:t>Motivating the result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393FF-9D0A-4F9F-7ADD-E43F994722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52097"/>
            <a:ext cx="10566181" cy="562930"/>
          </a:xfrm>
        </p:spPr>
        <p:txBody>
          <a:bodyPr vert="horz" lIns="0" tIns="0" rIns="0" bIns="0" rtlCol="0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lang="en-GB" sz="2100" dirty="0"/>
              <a:t>If we want to be more accurately answer question (2) for a greater majority of the nodes in our network,</a:t>
            </a:r>
          </a:p>
          <a:p>
            <a:pPr>
              <a:spcAft>
                <a:spcPts val="600"/>
              </a:spcAft>
            </a:pPr>
            <a:endParaRPr lang="en-GB" sz="1800" dirty="0"/>
          </a:p>
          <a:p>
            <a:pPr>
              <a:spcAft>
                <a:spcPts val="600"/>
              </a:spcAft>
            </a:pPr>
            <a:endParaRPr lang="en-GB" sz="18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8644DE-AB6D-E34D-E7B7-01E7AB36E1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310031CB-E0DC-49E5-82DD-46BACB801860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7CC5A7-72FD-54D6-F6C6-B5F9F6839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11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41D5BBB-012F-8998-4550-33735318E16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 vert="horz" lIns="0" tIns="0" rIns="0" bIns="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Preferential attachment and the Homophily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E28937-3775-E7B1-5EEB-D331BF516B00}"/>
              </a:ext>
            </a:extLst>
          </p:cNvPr>
          <p:cNvSpPr txBox="1"/>
          <p:nvPr/>
        </p:nvSpPr>
        <p:spPr>
          <a:xfrm>
            <a:off x="325799" y="1095361"/>
            <a:ext cx="11643973" cy="165995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defTabSz="685765">
              <a:lnSpc>
                <a:spcPct val="105000"/>
              </a:lnSpc>
              <a:spcAft>
                <a:spcPts val="600"/>
              </a:spcAft>
              <a:buFont typeface="Arial" panose="020B0604020202020204" pitchFamily="34" charset="0"/>
            </a:pP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CF4CDC-77C3-8006-C20B-9EA6CF73E264}"/>
              </a:ext>
            </a:extLst>
          </p:cNvPr>
          <p:cNvSpPr txBox="1"/>
          <p:nvPr/>
        </p:nvSpPr>
        <p:spPr>
          <a:xfrm>
            <a:off x="231154" y="2171099"/>
            <a:ext cx="9902061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  <a:spcAft>
                <a:spcPts val="600"/>
              </a:spcAft>
            </a:pPr>
            <a:r>
              <a:rPr lang="en-US" sz="1800" dirty="0"/>
              <a:t>(2) 	“</a:t>
            </a:r>
            <a:r>
              <a:rPr lang="en-US" sz="1800" i="1" dirty="0"/>
              <a:t>Given the </a:t>
            </a:r>
            <a:r>
              <a:rPr lang="en-US" i="1" dirty="0">
                <a:solidFill>
                  <a:schemeClr val="accent1"/>
                </a:solidFill>
              </a:rPr>
              <a:t>[Matthew effect and Homophily] </a:t>
            </a:r>
            <a:r>
              <a:rPr lang="en-US" sz="1800" i="1" dirty="0"/>
              <a:t>characteristics of my </a:t>
            </a:r>
            <a:r>
              <a:rPr lang="en-US" sz="1800" i="1" dirty="0">
                <a:solidFill>
                  <a:schemeClr val="accent1"/>
                </a:solidFill>
              </a:rPr>
              <a:t>[citation] </a:t>
            </a:r>
            <a:r>
              <a:rPr lang="en-US" sz="1800" i="1" dirty="0"/>
              <a:t>network</a:t>
            </a:r>
            <a:r>
              <a:rPr lang="en-US" sz="1800" i="1" dirty="0">
                <a:solidFill>
                  <a:schemeClr val="accent1"/>
                </a:solidFill>
              </a:rPr>
              <a:t> </a:t>
            </a:r>
            <a:r>
              <a:rPr lang="en-US" i="1" dirty="0"/>
              <a:t>how likely is it that one of the </a:t>
            </a:r>
            <a:r>
              <a:rPr lang="en-US" i="1" dirty="0">
                <a:solidFill>
                  <a:schemeClr val="accent1"/>
                </a:solidFill>
              </a:rPr>
              <a:t>[papers] </a:t>
            </a:r>
            <a:r>
              <a:rPr lang="en-US" i="1" dirty="0"/>
              <a:t>has the number of </a:t>
            </a:r>
            <a:r>
              <a:rPr lang="en-US" i="1" dirty="0">
                <a:solidFill>
                  <a:schemeClr val="accent1"/>
                </a:solidFill>
              </a:rPr>
              <a:t>[citations] </a:t>
            </a:r>
            <a:r>
              <a:rPr lang="en-US" i="1" dirty="0"/>
              <a:t>it does?”</a:t>
            </a:r>
            <a:endParaRPr lang="en-GB" sz="18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EC4778-DE3E-F9EA-BF9E-E7B6BCA17D5B}"/>
              </a:ext>
            </a:extLst>
          </p:cNvPr>
          <p:cNvSpPr txBox="1"/>
          <p:nvPr/>
        </p:nvSpPr>
        <p:spPr>
          <a:xfrm>
            <a:off x="231154" y="3261191"/>
            <a:ext cx="1120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800" dirty="0"/>
              <a:t>Then we need to incorporate homophily not to the </a:t>
            </a:r>
            <a:r>
              <a:rPr lang="en-GB" sz="1800" dirty="0" err="1"/>
              <a:t>Bara</a:t>
            </a:r>
            <a:r>
              <a:rPr lang="en-GB" dirty="0" err="1"/>
              <a:t>bá</a:t>
            </a:r>
            <a:r>
              <a:rPr lang="en-US" dirty="0" err="1"/>
              <a:t>si</a:t>
            </a:r>
            <a:r>
              <a:rPr lang="en-US" dirty="0"/>
              <a:t>–Albert Model</a:t>
            </a:r>
            <a:r>
              <a:rPr lang="en-GB" sz="1800" dirty="0"/>
              <a:t>, but to the Price model: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F0CAAA-8A4A-858C-250A-E4A11BBB6589}"/>
              </a:ext>
            </a:extLst>
          </p:cNvPr>
          <p:cNvSpPr txBox="1"/>
          <p:nvPr/>
        </p:nvSpPr>
        <p:spPr>
          <a:xfrm>
            <a:off x="231154" y="4184455"/>
            <a:ext cx="21884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800" dirty="0"/>
              <a:t>So, if not: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273E7E-5EEB-A914-04CD-E7B6028AC47A}"/>
                  </a:ext>
                </a:extLst>
              </p:cNvPr>
              <p:cNvSpPr txBox="1"/>
              <p:nvPr/>
            </p:nvSpPr>
            <p:spPr>
              <a:xfrm>
                <a:off x="-259080" y="4551829"/>
                <a:ext cx="7406567" cy="11117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Π</m:t>
                      </m:r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  <m:d>
                            <m:dPr>
                              <m:ctrlPr>
                                <a:rPr lang="en-GB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GB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⇒</m:t>
                      </m:r>
                      <m:sSub>
                        <m:sSub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GB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en-GB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2+</m:t>
                              </m:r>
                              <m:d>
                                <m:dPr>
                                  <m:ctrlPr>
                                    <a:rPr lang="en-GB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1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1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num>
                                    <m:den>
                                      <m:r>
                                        <a:rPr lang="en-GB" sz="1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1+</m:t>
                              </m:r>
                              <m:d>
                                <m:dPr>
                                  <m:ctrlPr>
                                    <a:rPr lang="en-GB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1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1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num>
                                    <m:den>
                                      <m:r>
                                        <a:rPr lang="en-GB" sz="1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</m:e>
                              </m:d>
                            </m:e>
                          </m:d>
                        </m:den>
                      </m:f>
                      <m:r>
                        <a:rPr lang="en-GB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273E7E-5EEB-A914-04CD-E7B6028AC4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9080" y="4551829"/>
                <a:ext cx="7406567" cy="111177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407F6CA8-37C3-45CA-B5EA-7894A8BE0A38}"/>
              </a:ext>
            </a:extLst>
          </p:cNvPr>
          <p:cNvSpPr txBox="1"/>
          <p:nvPr/>
        </p:nvSpPr>
        <p:spPr>
          <a:xfrm>
            <a:off x="7556196" y="4180362"/>
            <a:ext cx="7980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800" dirty="0"/>
              <a:t>But: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8B6D040-DE03-3595-923A-4F8F69B4F732}"/>
                  </a:ext>
                </a:extLst>
              </p:cNvPr>
              <p:cNvSpPr txBox="1"/>
              <p:nvPr/>
            </p:nvSpPr>
            <p:spPr>
              <a:xfrm>
                <a:off x="7337987" y="4879045"/>
                <a:ext cx="4341393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GB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  <m:r>
                        <a:rPr lang="en-GB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r>
                        <a:rPr lang="en-GB" sz="20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?</m:t>
                      </m:r>
                      <m:r>
                        <a:rPr lang="en-GB" sz="2000" b="1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,∞</m:t>
                          </m:r>
                        </m:sub>
                      </m:sSub>
                      <m:r>
                        <a:rPr lang="en-GB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GB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  <m:r>
                        <a:rPr lang="en-GB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20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8B6D040-DE03-3595-923A-4F8F69B4F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7987" y="4879045"/>
                <a:ext cx="4341393" cy="413511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2ECC62-D6DD-7AAA-A893-612DF05FE7AD}"/>
                  </a:ext>
                </a:extLst>
              </p:cNvPr>
              <p:cNvSpPr txBox="1"/>
              <p:nvPr/>
            </p:nvSpPr>
            <p:spPr>
              <a:xfrm>
                <a:off x="6538779" y="4901839"/>
                <a:ext cx="72493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2ECC62-D6DD-7AAA-A893-612DF05FE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779" y="4901839"/>
                <a:ext cx="72493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5AFC13-EF73-672D-5897-CED9E168E93B}"/>
                  </a:ext>
                </a:extLst>
              </p:cNvPr>
              <p:cNvSpPr txBox="1"/>
              <p:nvPr/>
            </p:nvSpPr>
            <p:spPr>
              <a:xfrm>
                <a:off x="11617008" y="4901135"/>
                <a:ext cx="4991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5AFC13-EF73-672D-5897-CED9E168E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7008" y="4901135"/>
                <a:ext cx="49911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705558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/>
      <p:bldP spid="19" grpId="0"/>
      <p:bldP spid="21" grpId="0"/>
      <p:bldP spid="8" grpId="0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0D954-4B0E-1DE7-366A-CDE64E422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11B48405-52A4-F0E0-ADAC-315C537EFC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66" t="8039" r="3730" b="2489"/>
          <a:stretch>
            <a:fillRect/>
          </a:stretch>
        </p:blipFill>
        <p:spPr>
          <a:xfrm>
            <a:off x="74902" y="2334110"/>
            <a:ext cx="8344826" cy="39706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DCC1B4D-A83B-E174-0026-FFDC1D212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b="1" kern="1200" dirty="0"/>
              <a:t>Key Result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5A98F7-05C2-E0E8-0E47-97020AAB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310031CB-E0DC-49E5-82DD-46BACB801860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27FE92-09E4-1E76-240D-BD05E826E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12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45DB45F-6980-98EC-EFCD-335015ACD955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617" y="707860"/>
            <a:ext cx="11540763" cy="371567"/>
          </a:xfrm>
        </p:spPr>
        <p:txBody>
          <a:bodyPr vert="horz" lIns="0" tIns="0" rIns="0" bIns="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Preferential attachment and the Homophily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CC3303-ECF1-F5EF-7A01-0862D6256867}"/>
              </a:ext>
            </a:extLst>
          </p:cNvPr>
          <p:cNvSpPr txBox="1"/>
          <p:nvPr/>
        </p:nvSpPr>
        <p:spPr>
          <a:xfrm>
            <a:off x="2218806" y="1359959"/>
            <a:ext cx="2783642" cy="165995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defTabSz="685765">
              <a:lnSpc>
                <a:spcPct val="105000"/>
              </a:lnSpc>
              <a:spcAft>
                <a:spcPts val="600"/>
              </a:spcAft>
              <a:buFont typeface="Arial" panose="020B0604020202020204" pitchFamily="34" charset="0"/>
            </a:pP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6FBC8CD-F998-8707-52D6-3AECA4E2579E}"/>
                  </a:ext>
                </a:extLst>
              </p:cNvPr>
              <p:cNvSpPr txBox="1"/>
              <p:nvPr/>
            </p:nvSpPr>
            <p:spPr>
              <a:xfrm>
                <a:off x="-102361" y="1322288"/>
                <a:ext cx="5953432" cy="9466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GB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GB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+(1−</m:t>
                              </m:r>
                              <m:sSub>
                                <m:sSubPr>
                                  <m:ctrlP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GB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  <m:d>
                                <m:dPr>
                                  <m:ctrlP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solidFill>
                                            <a:schemeClr val="tx2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  <m:d>
                            <m:dPr>
                              <m:ctrlPr>
                                <a:rPr lang="en-GB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GB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GB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6FBC8CD-F998-8707-52D6-3AECA4E25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2361" y="1322288"/>
                <a:ext cx="5953432" cy="9466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E5387A6-9439-AAD9-FE81-90D7A181062E}"/>
                  </a:ext>
                </a:extLst>
              </p:cNvPr>
              <p:cNvSpPr txBox="1"/>
              <p:nvPr/>
            </p:nvSpPr>
            <p:spPr>
              <a:xfrm>
                <a:off x="5763950" y="1051914"/>
                <a:ext cx="4519077" cy="1117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,∞</m:t>
                          </m:r>
                        </m:sub>
                      </m:sSub>
                      <m:r>
                        <a:rPr lang="en-GB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GB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               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=0</m:t>
                              </m:r>
                            </m:e>
                            <m:e>
                              <m: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&amp;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f>
                                <m:f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  <m: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GB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ℤ</m:t>
                                  </m:r>
                                </m:e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p>
                            </m:e>
                          </m:eqAr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E5387A6-9439-AAD9-FE81-90D7A1810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3950" y="1051914"/>
                <a:ext cx="4519077" cy="1117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7499653-2525-9BBF-1ED7-ACDE5DD4040B}"/>
                  </a:ext>
                </a:extLst>
              </p:cNvPr>
              <p:cNvSpPr txBox="1"/>
              <p:nvPr/>
            </p:nvSpPr>
            <p:spPr>
              <a:xfrm>
                <a:off x="8494239" y="2752790"/>
                <a:ext cx="2247566" cy="534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1+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den>
                        </m:f>
                      </m:e>
                    </m:d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𝑍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𝑚𝑡</m:t>
                        </m:r>
                      </m:den>
                    </m:f>
                  </m:oMath>
                </a14:m>
                <a:r>
                  <a:rPr lang="en-GB" dirty="0"/>
                  <a:t>,</a:t>
                </a: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7499653-2525-9BBF-1ED7-ACDE5DD404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239" y="2752790"/>
                <a:ext cx="2247566" cy="534249"/>
              </a:xfrm>
              <a:prstGeom prst="rect">
                <a:avLst/>
              </a:prstGeom>
              <a:blipFill>
                <a:blip r:embed="rId5"/>
                <a:stretch>
                  <a:fillRect l="-1626" r="-1897" b="-114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3C2E0DA-20BD-2850-B4B3-4FEC5D17536E}"/>
                  </a:ext>
                </a:extLst>
              </p:cNvPr>
              <p:cNvSpPr txBox="1"/>
              <p:nvPr/>
            </p:nvSpPr>
            <p:spPr>
              <a:xfrm>
                <a:off x="8514122" y="2284849"/>
                <a:ext cx="1670846" cy="495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GB" dirty="0"/>
                  <a:t>,</a:t>
                </a: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3C2E0DA-20BD-2850-B4B3-4FEC5D175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4122" y="2284849"/>
                <a:ext cx="1670846" cy="495457"/>
              </a:xfrm>
              <a:prstGeom prst="rect">
                <a:avLst/>
              </a:prstGeom>
              <a:blipFill>
                <a:blip r:embed="rId6"/>
                <a:stretch>
                  <a:fillRect l="-2555" t="-123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D5F8465-9CD0-9049-2F1D-E5D24F1A9B2E}"/>
                  </a:ext>
                </a:extLst>
              </p:cNvPr>
              <p:cNvSpPr txBox="1"/>
              <p:nvPr/>
            </p:nvSpPr>
            <p:spPr>
              <a:xfrm>
                <a:off x="8494239" y="4663449"/>
                <a:ext cx="3220628" cy="5671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marL="285750" indent="-285750">
                  <a:lnSpc>
                    <a:spcPct val="105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Initial number of citations a paper has: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=2,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D5F8465-9CD0-9049-2F1D-E5D24F1A9B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239" y="4663449"/>
                <a:ext cx="3220628" cy="567178"/>
              </a:xfrm>
              <a:prstGeom prst="rect">
                <a:avLst/>
              </a:prstGeom>
              <a:blipFill>
                <a:blip r:embed="rId7"/>
                <a:stretch>
                  <a:fillRect l="-3970" t="-15054" b="-26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7793A0A-6D75-4485-BBD8-A8058023925B}"/>
                  </a:ext>
                </a:extLst>
              </p:cNvPr>
              <p:cNvSpPr txBox="1"/>
              <p:nvPr/>
            </p:nvSpPr>
            <p:spPr>
              <a:xfrm>
                <a:off x="8574654" y="3251475"/>
                <a:ext cx="2258692" cy="5342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marL="285750" indent="-285750">
                  <a:lnSpc>
                    <a:spcPct val="105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=1+(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𝑍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𝑚𝑡</m:t>
                        </m:r>
                      </m:den>
                    </m:f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7793A0A-6D75-4485-BBD8-A80580239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4654" y="3251475"/>
                <a:ext cx="2258692" cy="534248"/>
              </a:xfrm>
              <a:prstGeom prst="rect">
                <a:avLst/>
              </a:prstGeom>
              <a:blipFill>
                <a:blip r:embed="rId8"/>
                <a:stretch>
                  <a:fillRect l="-594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BB84EB9-41C4-1F1C-F904-65D70EC5C699}"/>
                  </a:ext>
                </a:extLst>
              </p:cNvPr>
              <p:cNvSpPr txBox="1"/>
              <p:nvPr/>
            </p:nvSpPr>
            <p:spPr>
              <a:xfrm>
                <a:off x="8493800" y="5310063"/>
                <a:ext cx="3453202" cy="56717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marL="285750" indent="-285750">
                  <a:lnSpc>
                    <a:spcPct val="105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Number of citations the newly added paper gives: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BB84EB9-41C4-1F1C-F904-65D70EC5C6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00" y="5310063"/>
                <a:ext cx="3453202" cy="567179"/>
              </a:xfrm>
              <a:prstGeom prst="rect">
                <a:avLst/>
              </a:prstGeom>
              <a:blipFill>
                <a:blip r:embed="rId9"/>
                <a:stretch>
                  <a:fillRect l="-3704" t="-15054" r="-1058" b="-247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C6E239C-B66A-DE8A-F8D6-66BA3928CDC7}"/>
                  </a:ext>
                </a:extLst>
              </p:cNvPr>
              <p:cNvSpPr txBox="1"/>
              <p:nvPr/>
            </p:nvSpPr>
            <p:spPr>
              <a:xfrm>
                <a:off x="8418159" y="5913223"/>
                <a:ext cx="353361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H</a:t>
                </a:r>
                <a:r>
                  <a:rPr lang="en-GB" dirty="0">
                    <a:solidFill>
                      <a:schemeClr val="tx1"/>
                    </a:solidFill>
                  </a:rPr>
                  <a:t>omophily parameter:</a:t>
                </a:r>
                <a14:m>
                  <m:oMath xmlns:m="http://schemas.openxmlformats.org/officeDocument/2006/math">
                    <m:r>
                      <a:rPr lang="en-GB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=0.7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C6E239C-B66A-DE8A-F8D6-66BA3928CD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159" y="5913223"/>
                <a:ext cx="3533617" cy="369332"/>
              </a:xfrm>
              <a:prstGeom prst="rect">
                <a:avLst/>
              </a:prstGeom>
              <a:blipFill>
                <a:blip r:embed="rId10"/>
                <a:stretch>
                  <a:fillRect l="-1207" t="-8197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Rectangle 55">
            <a:extLst>
              <a:ext uri="{FF2B5EF4-FFF2-40B4-BE49-F238E27FC236}">
                <a16:creationId xmlns:a16="http://schemas.microsoft.com/office/drawing/2014/main" id="{0310ABD5-036C-BA80-843A-F8EB5A1BB781}"/>
              </a:ext>
            </a:extLst>
          </p:cNvPr>
          <p:cNvSpPr/>
          <p:nvPr/>
        </p:nvSpPr>
        <p:spPr>
          <a:xfrm>
            <a:off x="8417474" y="3764450"/>
            <a:ext cx="3650595" cy="2592203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bg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0279054-977C-3CA5-0B4C-414C8E92037E}"/>
              </a:ext>
            </a:extLst>
          </p:cNvPr>
          <p:cNvSpPr/>
          <p:nvPr/>
        </p:nvSpPr>
        <p:spPr>
          <a:xfrm>
            <a:off x="8417474" y="2334110"/>
            <a:ext cx="3650596" cy="1394359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6D27745-9F84-D2F1-1CF6-F912C3AC47E0}"/>
              </a:ext>
            </a:extLst>
          </p:cNvPr>
          <p:cNvSpPr/>
          <p:nvPr/>
        </p:nvSpPr>
        <p:spPr>
          <a:xfrm>
            <a:off x="46388" y="1071940"/>
            <a:ext cx="12021682" cy="1108095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98EBAB-D859-98E9-C4A9-2F94B6958A02}"/>
                  </a:ext>
                </a:extLst>
              </p:cNvPr>
              <p:cNvSpPr txBox="1"/>
              <p:nvPr/>
            </p:nvSpPr>
            <p:spPr>
              <a:xfrm>
                <a:off x="9561094" y="1631586"/>
                <a:ext cx="28505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 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98EBAB-D859-98E9-C4A9-2F94B6958A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1094" y="1631586"/>
                <a:ext cx="2850542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FA4EA9F-917F-3BA3-7F22-32CD4BCCCCE6}"/>
                  </a:ext>
                </a:extLst>
              </p:cNvPr>
              <p:cNvSpPr txBox="1"/>
              <p:nvPr/>
            </p:nvSpPr>
            <p:spPr>
              <a:xfrm>
                <a:off x="8417474" y="3883180"/>
                <a:ext cx="3402818" cy="7008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05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F</a:t>
                </a:r>
                <a:r>
                  <a:rPr lang="en-GB" dirty="0">
                    <a:solidFill>
                      <a:schemeClr val="tx1"/>
                    </a:solidFill>
                  </a:rPr>
                  <a:t>raction of nodes in</a:t>
                </a:r>
                <a:r>
                  <a:rPr lang="en-GB" dirty="0"/>
                  <a:t> network of type: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=0.4, </m:t>
                    </m:r>
                    <m:sSub>
                      <m:sSubPr>
                        <m:ctrlPr>
                          <a:rPr lang="en-GB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y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FA4EA9F-917F-3BA3-7F22-32CD4BCCC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7474" y="3883180"/>
                <a:ext cx="3402818" cy="700833"/>
              </a:xfrm>
              <a:prstGeom prst="rect">
                <a:avLst/>
              </a:prstGeom>
              <a:blipFill>
                <a:blip r:embed="rId12"/>
                <a:stretch>
                  <a:fillRect l="-1254" t="-5217" r="-1434" b="-9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C5A8A5C-13A8-6774-F08D-8E2D60FA9449}"/>
                  </a:ext>
                </a:extLst>
              </p:cNvPr>
              <p:cNvSpPr txBox="1"/>
              <p:nvPr/>
            </p:nvSpPr>
            <p:spPr>
              <a:xfrm>
                <a:off x="5565812" y="1423542"/>
                <a:ext cx="48985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⇒</m:t>
                    </m:r>
                  </m:oMath>
                </a14:m>
                <a:r>
                  <a:rPr lang="en-GB" sz="2400" b="1" dirty="0"/>
                  <a:t> </a:t>
                </a: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C5A8A5C-13A8-6774-F08D-8E2D60FA94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5812" y="1423542"/>
                <a:ext cx="489856" cy="461665"/>
              </a:xfrm>
              <a:prstGeom prst="rect">
                <a:avLst/>
              </a:prstGeom>
              <a:blipFill>
                <a:blip r:embed="rId13"/>
                <a:stretch>
                  <a:fillRect r="-37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Rectangle 39">
            <a:extLst>
              <a:ext uri="{FF2B5EF4-FFF2-40B4-BE49-F238E27FC236}">
                <a16:creationId xmlns:a16="http://schemas.microsoft.com/office/drawing/2014/main" id="{42DAECDC-6143-3A01-66A2-DDD0704A3B18}"/>
              </a:ext>
            </a:extLst>
          </p:cNvPr>
          <p:cNvSpPr/>
          <p:nvPr/>
        </p:nvSpPr>
        <p:spPr>
          <a:xfrm>
            <a:off x="3249442" y="4396648"/>
            <a:ext cx="3005804" cy="11390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7A11DBA-3AF7-8C9F-E86A-4E81E4F2AF66}"/>
                  </a:ext>
                </a:extLst>
              </p:cNvPr>
              <p:cNvSpPr txBox="1"/>
              <p:nvPr/>
            </p:nvSpPr>
            <p:spPr>
              <a:xfrm>
                <a:off x="3313959" y="4549688"/>
                <a:ext cx="2910348" cy="88477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l">
                  <a:lnSpc>
                    <a:spcPct val="105000"/>
                  </a:lnSpc>
                </a:pPr>
                <a:r>
                  <a:rPr lang="en-GB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28,005 node citation network: 11,028 nodes are type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GB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algn="l">
                  <a:lnSpc>
                    <a:spcPct val="105000"/>
                  </a:lnSpc>
                </a:pPr>
                <a:r>
                  <a:rPr lang="en-GB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16,977 are type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</m:oMath>
                </a14:m>
                <a:r>
                  <a:rPr lang="en-GB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GB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7A11DBA-3AF7-8C9F-E86A-4E81E4F2A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3959" y="4549688"/>
                <a:ext cx="2910348" cy="884770"/>
              </a:xfrm>
              <a:prstGeom prst="rect">
                <a:avLst/>
              </a:prstGeom>
              <a:blipFill>
                <a:blip r:embed="rId14"/>
                <a:stretch>
                  <a:fillRect l="-5031" t="-9655" r="-1048" b="-124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7CCC3D4-769F-2B2F-A187-D25D7BDB75BA}"/>
                  </a:ext>
                </a:extLst>
              </p:cNvPr>
              <p:cNvSpPr txBox="1"/>
              <p:nvPr/>
            </p:nvSpPr>
            <p:spPr>
              <a:xfrm>
                <a:off x="11231387" y="1126423"/>
                <a:ext cx="74557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7CCC3D4-769F-2B2F-A187-D25D7BDB7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31387" y="1126423"/>
                <a:ext cx="745577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485BAA48-D2AC-65AB-C0BE-3BA4B90FEA47}"/>
              </a:ext>
            </a:extLst>
          </p:cNvPr>
          <p:cNvSpPr txBox="1"/>
          <p:nvPr/>
        </p:nvSpPr>
        <p:spPr>
          <a:xfrm>
            <a:off x="74902" y="6107873"/>
            <a:ext cx="8735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chemeClr val="tx1"/>
                </a:solidFill>
              </a:rPr>
              <a:t>Figure 11: </a:t>
            </a:r>
            <a:r>
              <a:rPr lang="en-GB" sz="1400" i="1" dirty="0">
                <a:solidFill>
                  <a:schemeClr val="tx1"/>
                </a:solidFill>
              </a:rPr>
              <a:t>Plot of probability paper of given type has a given citation count and power law approximation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283913666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0" grpId="0" animBg="1"/>
      <p:bldP spid="35" grpId="0"/>
      <p:bldP spid="4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65E3D-0E63-C621-0A46-5FD1764A2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D0634-2283-94C4-B737-D987BCAE8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b="1" kern="1200" dirty="0"/>
              <a:t>Key Result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E9999B-59CF-7204-B66D-4DAB2805F1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310031CB-E0DC-49E5-82DD-46BACB801860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EFBB2A-36CD-199F-E8D5-6DFBCEFF4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13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3895190-D06E-89D7-69D6-CF17BD5626B2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617" y="707860"/>
            <a:ext cx="11540763" cy="371567"/>
          </a:xfrm>
        </p:spPr>
        <p:txBody>
          <a:bodyPr vert="horz" lIns="0" tIns="0" rIns="0" bIns="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Preferential attachment and the Homophily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8503CD2-4C41-C1F9-7736-32BD78C993A4}"/>
                  </a:ext>
                </a:extLst>
              </p:cNvPr>
              <p:cNvSpPr txBox="1"/>
              <p:nvPr/>
            </p:nvSpPr>
            <p:spPr>
              <a:xfrm>
                <a:off x="-102361" y="1322288"/>
                <a:ext cx="5953432" cy="9466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GB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GB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GB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GB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+(1−</m:t>
                              </m:r>
                              <m:sSub>
                                <m:sSubPr>
                                  <m:ctrlPr>
                                    <a:rPr lang="en-GB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GB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GB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  <m:d>
                                <m:dPr>
                                  <m:ctrlPr>
                                    <a:rPr lang="en-GB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GB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  <m:d>
                            <m:dPr>
                              <m:ctrlPr>
                                <a:rPr lang="en-GB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GB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GB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GB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  <m:d>
                            <m:dPr>
                              <m:ctrlPr>
                                <a:rPr lang="en-GB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8503CD2-4C41-C1F9-7736-32BD78C99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2361" y="1322288"/>
                <a:ext cx="5953432" cy="94666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8CF99AC-D340-97D3-1F26-112F68FDDA1D}"/>
                  </a:ext>
                </a:extLst>
              </p:cNvPr>
              <p:cNvSpPr txBox="1"/>
              <p:nvPr/>
            </p:nvSpPr>
            <p:spPr>
              <a:xfrm>
                <a:off x="5763950" y="1051914"/>
                <a:ext cx="4519077" cy="1117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,∞</m:t>
                          </m:r>
                        </m:sub>
                      </m:sSub>
                      <m:r>
                        <a:rPr lang="en-GB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GB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=0</m:t>
                              </m:r>
                            </m:e>
                            <m:e>
                              <m: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&amp;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f>
                                <m:f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  <m: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GB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ℤ</m:t>
                                  </m:r>
                                </m:e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p>
                            </m:e>
                          </m:eqAr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8CF99AC-D340-97D3-1F26-112F68FDDA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3950" y="1051914"/>
                <a:ext cx="4519077" cy="1117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2C5EC70-A759-800F-9862-77583537EA63}"/>
                  </a:ext>
                </a:extLst>
              </p:cNvPr>
              <p:cNvSpPr txBox="1"/>
              <p:nvPr/>
            </p:nvSpPr>
            <p:spPr>
              <a:xfrm>
                <a:off x="8494239" y="2752790"/>
                <a:ext cx="2247566" cy="534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1+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den>
                        </m:f>
                      </m:e>
                    </m:d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𝑍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𝑚𝑡</m:t>
                        </m:r>
                      </m:den>
                    </m:f>
                  </m:oMath>
                </a14:m>
                <a:r>
                  <a:rPr lang="en-GB" dirty="0"/>
                  <a:t>,</a:t>
                </a: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2C5EC70-A759-800F-9862-77583537E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239" y="2752790"/>
                <a:ext cx="2247566" cy="534249"/>
              </a:xfrm>
              <a:prstGeom prst="rect">
                <a:avLst/>
              </a:prstGeom>
              <a:blipFill>
                <a:blip r:embed="rId4"/>
                <a:stretch>
                  <a:fillRect l="-1626" r="-1897" b="-114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56A4609-7938-AA58-BA40-780024306800}"/>
                  </a:ext>
                </a:extLst>
              </p:cNvPr>
              <p:cNvSpPr txBox="1"/>
              <p:nvPr/>
            </p:nvSpPr>
            <p:spPr>
              <a:xfrm>
                <a:off x="8514122" y="2284849"/>
                <a:ext cx="1670846" cy="495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GB" dirty="0"/>
                  <a:t>,</a:t>
                </a: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56A4609-7938-AA58-BA40-780024306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4122" y="2284849"/>
                <a:ext cx="1670846" cy="495457"/>
              </a:xfrm>
              <a:prstGeom prst="rect">
                <a:avLst/>
              </a:prstGeom>
              <a:blipFill>
                <a:blip r:embed="rId5"/>
                <a:stretch>
                  <a:fillRect l="-2555" t="-123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C24D4BE-AE1A-50D9-53CB-5F49AD0DBD39}"/>
                  </a:ext>
                </a:extLst>
              </p:cNvPr>
              <p:cNvSpPr txBox="1"/>
              <p:nvPr/>
            </p:nvSpPr>
            <p:spPr>
              <a:xfrm>
                <a:off x="8494239" y="4663449"/>
                <a:ext cx="3220628" cy="5671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marL="285750" indent="-285750">
                  <a:lnSpc>
                    <a:spcPct val="105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Initial number of citations a paper has: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=2,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C24D4BE-AE1A-50D9-53CB-5F49AD0DBD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239" y="4663449"/>
                <a:ext cx="3220628" cy="567178"/>
              </a:xfrm>
              <a:prstGeom prst="rect">
                <a:avLst/>
              </a:prstGeom>
              <a:blipFill>
                <a:blip r:embed="rId6"/>
                <a:stretch>
                  <a:fillRect l="-3970" t="-15054" b="-26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08953EF-45FD-ACB9-A951-898B1103CD23}"/>
                  </a:ext>
                </a:extLst>
              </p:cNvPr>
              <p:cNvSpPr txBox="1"/>
              <p:nvPr/>
            </p:nvSpPr>
            <p:spPr>
              <a:xfrm>
                <a:off x="8574654" y="3251475"/>
                <a:ext cx="2258692" cy="53424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marL="285750" indent="-285750">
                  <a:lnSpc>
                    <a:spcPct val="105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=1+(</m:t>
                    </m:r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𝑍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𝑚𝑡</m:t>
                        </m:r>
                      </m:den>
                    </m:f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08953EF-45FD-ACB9-A951-898B1103C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4654" y="3251475"/>
                <a:ext cx="2258692" cy="534248"/>
              </a:xfrm>
              <a:prstGeom prst="rect">
                <a:avLst/>
              </a:prstGeom>
              <a:blipFill>
                <a:blip r:embed="rId7"/>
                <a:stretch>
                  <a:fillRect l="-594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581CBB4-C9C6-D30A-705B-EFFD9F608F54}"/>
                  </a:ext>
                </a:extLst>
              </p:cNvPr>
              <p:cNvSpPr txBox="1"/>
              <p:nvPr/>
            </p:nvSpPr>
            <p:spPr>
              <a:xfrm>
                <a:off x="8493800" y="5310063"/>
                <a:ext cx="3453202" cy="56717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marL="285750" indent="-285750">
                  <a:lnSpc>
                    <a:spcPct val="105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Number of citations the newly added paper gives: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581CBB4-C9C6-D30A-705B-EFFD9F608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00" y="5310063"/>
                <a:ext cx="3453202" cy="567179"/>
              </a:xfrm>
              <a:prstGeom prst="rect">
                <a:avLst/>
              </a:prstGeom>
              <a:blipFill>
                <a:blip r:embed="rId8"/>
                <a:stretch>
                  <a:fillRect l="-3704" t="-15054" r="-1058" b="-2473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86B3734-E37D-B36D-2871-CF1AB0C686EC}"/>
                  </a:ext>
                </a:extLst>
              </p:cNvPr>
              <p:cNvSpPr txBox="1"/>
              <p:nvPr/>
            </p:nvSpPr>
            <p:spPr>
              <a:xfrm>
                <a:off x="8418159" y="5913223"/>
                <a:ext cx="353361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H</a:t>
                </a:r>
                <a:r>
                  <a:rPr lang="en-GB" dirty="0">
                    <a:solidFill>
                      <a:schemeClr val="tx1"/>
                    </a:solidFill>
                  </a:rPr>
                  <a:t>omophily parameter:</a:t>
                </a:r>
                <a14:m>
                  <m:oMath xmlns:m="http://schemas.openxmlformats.org/officeDocument/2006/math">
                    <m:r>
                      <a:rPr lang="en-GB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=0.7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86B3734-E37D-B36D-2871-CF1AB0C686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159" y="5913223"/>
                <a:ext cx="3533617" cy="369332"/>
              </a:xfrm>
              <a:prstGeom prst="rect">
                <a:avLst/>
              </a:prstGeom>
              <a:blipFill>
                <a:blip r:embed="rId9"/>
                <a:stretch>
                  <a:fillRect l="-1207" t="-8197" b="-245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Rectangle 55">
            <a:extLst>
              <a:ext uri="{FF2B5EF4-FFF2-40B4-BE49-F238E27FC236}">
                <a16:creationId xmlns:a16="http://schemas.microsoft.com/office/drawing/2014/main" id="{8E3F39A8-1A1F-BF6A-C6A9-7817E21C4325}"/>
              </a:ext>
            </a:extLst>
          </p:cNvPr>
          <p:cNvSpPr/>
          <p:nvPr/>
        </p:nvSpPr>
        <p:spPr>
          <a:xfrm>
            <a:off x="8417474" y="3764450"/>
            <a:ext cx="3650595" cy="2592203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bg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D241BE3-5707-CF9D-4BCB-F594CF6D9E42}"/>
              </a:ext>
            </a:extLst>
          </p:cNvPr>
          <p:cNvSpPr/>
          <p:nvPr/>
        </p:nvSpPr>
        <p:spPr>
          <a:xfrm>
            <a:off x="8417474" y="2334110"/>
            <a:ext cx="3650596" cy="1394359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46DB99A-F80C-4C97-AEB9-F3510674302A}"/>
              </a:ext>
            </a:extLst>
          </p:cNvPr>
          <p:cNvSpPr/>
          <p:nvPr/>
        </p:nvSpPr>
        <p:spPr>
          <a:xfrm>
            <a:off x="46388" y="1071940"/>
            <a:ext cx="12021682" cy="1108095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FA03C0D-3C5F-7114-553B-6F2D62A16968}"/>
                  </a:ext>
                </a:extLst>
              </p:cNvPr>
              <p:cNvSpPr txBox="1"/>
              <p:nvPr/>
            </p:nvSpPr>
            <p:spPr>
              <a:xfrm>
                <a:off x="9561094" y="1631586"/>
                <a:ext cx="28505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 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FA03C0D-3C5F-7114-553B-6F2D62A16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1094" y="1631586"/>
                <a:ext cx="2850542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FD83FE8-2A3A-5136-9327-92FF7F92EAE4}"/>
                  </a:ext>
                </a:extLst>
              </p:cNvPr>
              <p:cNvSpPr txBox="1"/>
              <p:nvPr/>
            </p:nvSpPr>
            <p:spPr>
              <a:xfrm>
                <a:off x="8417474" y="3883180"/>
                <a:ext cx="3402818" cy="7008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05000"/>
                  </a:lnSpc>
                  <a:buFont typeface="Arial" panose="020B0604020202020204" pitchFamily="34" charset="0"/>
                  <a:buChar char="•"/>
                </a:pPr>
                <a:r>
                  <a:rPr lang="en-GB" dirty="0"/>
                  <a:t>F</a:t>
                </a:r>
                <a:r>
                  <a:rPr lang="en-GB" dirty="0">
                    <a:solidFill>
                      <a:schemeClr val="tx1"/>
                    </a:solidFill>
                  </a:rPr>
                  <a:t>raction of nodes in</a:t>
                </a:r>
                <a:r>
                  <a:rPr lang="en-GB" dirty="0"/>
                  <a:t> network of type: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=0.4,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y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=0.6</m:t>
                    </m:r>
                  </m:oMath>
                </a14:m>
                <a:endParaRPr lang="en-GB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FD83FE8-2A3A-5136-9327-92FF7F92E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7474" y="3883180"/>
                <a:ext cx="3402818" cy="700833"/>
              </a:xfrm>
              <a:prstGeom prst="rect">
                <a:avLst/>
              </a:prstGeom>
              <a:blipFill>
                <a:blip r:embed="rId11"/>
                <a:stretch>
                  <a:fillRect l="-1254" t="-5217" r="-1434" b="-9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8F16D22-A780-ED60-0960-E12E9E688A76}"/>
                  </a:ext>
                </a:extLst>
              </p:cNvPr>
              <p:cNvSpPr txBox="1"/>
              <p:nvPr/>
            </p:nvSpPr>
            <p:spPr>
              <a:xfrm>
                <a:off x="5565812" y="1423542"/>
                <a:ext cx="48985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⇒</m:t>
                    </m:r>
                  </m:oMath>
                </a14:m>
                <a:r>
                  <a:rPr lang="en-GB" sz="2400" b="1" dirty="0"/>
                  <a:t> </a:t>
                </a: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8F16D22-A780-ED60-0960-E12E9E688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5812" y="1423542"/>
                <a:ext cx="489856" cy="461665"/>
              </a:xfrm>
              <a:prstGeom prst="rect">
                <a:avLst/>
              </a:prstGeom>
              <a:blipFill>
                <a:blip r:embed="rId12"/>
                <a:stretch>
                  <a:fillRect r="-37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2285AF0-F2CA-D7B2-9C2A-8D7B79E51CC8}"/>
                  </a:ext>
                </a:extLst>
              </p:cNvPr>
              <p:cNvSpPr txBox="1"/>
              <p:nvPr/>
            </p:nvSpPr>
            <p:spPr>
              <a:xfrm>
                <a:off x="11231387" y="1126423"/>
                <a:ext cx="74557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2285AF0-F2CA-D7B2-9C2A-8D7B79E51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31387" y="1126423"/>
                <a:ext cx="745577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62B591D-49D8-B32B-DDD4-562313202279}"/>
                  </a:ext>
                </a:extLst>
              </p:cNvPr>
              <p:cNvSpPr txBox="1"/>
              <p:nvPr/>
            </p:nvSpPr>
            <p:spPr>
              <a:xfrm>
                <a:off x="1104824" y="3562041"/>
                <a:ext cx="5025045" cy="4658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d>
                        <m:dPr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GB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d>
                            <m:dPr>
                              <m:begChr m:val="⟨"/>
                              <m:endChr m:val="⟩"/>
                              <m:ctrlPr>
                                <a:rPr lang="en-GB" sz="200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d>
                          <m:r>
                            <a:rPr lang="en-GB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d>
                            <m:dPr>
                              <m:begChr m:val="⟨"/>
                              <m:endChr m:val="⟩"/>
                              <m:ctrlPr>
                                <a:rPr lang="en-GB" sz="200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d>
                          <m: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GB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r>
                        <a:rPr lang="en-GB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en-GB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GB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62B591D-49D8-B32B-DDD4-5623132022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24" y="3562041"/>
                <a:ext cx="5025045" cy="46580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88A981E-DBC0-5377-EC05-A82AE8EAEB0F}"/>
              </a:ext>
            </a:extLst>
          </p:cNvPr>
          <p:cNvCxnSpPr>
            <a:cxnSpLocks/>
          </p:cNvCxnSpPr>
          <p:nvPr/>
        </p:nvCxnSpPr>
        <p:spPr>
          <a:xfrm flipV="1">
            <a:off x="2898287" y="3982363"/>
            <a:ext cx="0" cy="66501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8772248-37A3-FA61-A816-85208A45D7E8}"/>
              </a:ext>
            </a:extLst>
          </p:cNvPr>
          <p:cNvCxnSpPr>
            <a:cxnSpLocks/>
          </p:cNvCxnSpPr>
          <p:nvPr/>
        </p:nvCxnSpPr>
        <p:spPr>
          <a:xfrm flipV="1">
            <a:off x="2898287" y="3982363"/>
            <a:ext cx="739833" cy="66501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9D9D0AD-833C-90C8-29B8-06C1BB054350}"/>
              </a:ext>
            </a:extLst>
          </p:cNvPr>
          <p:cNvSpPr txBox="1"/>
          <p:nvPr/>
        </p:nvSpPr>
        <p:spPr>
          <a:xfrm>
            <a:off x="2707094" y="4647381"/>
            <a:ext cx="2948331" cy="26600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GB" dirty="0">
                <a:solidFill>
                  <a:schemeClr val="tx1"/>
                </a:solidFill>
              </a:rPr>
              <a:t>So, what are these terms?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3084CE8-A5B6-8A1B-2AFA-A79181B96F1F}"/>
                  </a:ext>
                </a:extLst>
              </p:cNvPr>
              <p:cNvSpPr txBox="1"/>
              <p:nvPr/>
            </p:nvSpPr>
            <p:spPr>
              <a:xfrm>
                <a:off x="2420748" y="5371165"/>
                <a:ext cx="210519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GB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  <m:r>
                        <a:rPr lang="en-GB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⟨"/>
                          <m:endChr m:val="⟩"/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3084CE8-A5B6-8A1B-2AFA-A79181B96F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0748" y="5371165"/>
                <a:ext cx="2105198" cy="369332"/>
              </a:xfrm>
              <a:prstGeom prst="rect">
                <a:avLst/>
              </a:prstGeom>
              <a:blipFill>
                <a:blip r:embed="rId1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AF4FFA0-9E13-1E13-47C7-3774AB505535}"/>
              </a:ext>
            </a:extLst>
          </p:cNvPr>
          <p:cNvCxnSpPr>
            <a:cxnSpLocks/>
          </p:cNvCxnSpPr>
          <p:nvPr/>
        </p:nvCxnSpPr>
        <p:spPr>
          <a:xfrm flipH="1">
            <a:off x="1433581" y="2029769"/>
            <a:ext cx="1201464" cy="14280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D8EF691-0696-61E7-CC6E-0F1C0FC5699A}"/>
              </a:ext>
            </a:extLst>
          </p:cNvPr>
          <p:cNvCxnSpPr>
            <a:cxnSpLocks/>
          </p:cNvCxnSpPr>
          <p:nvPr/>
        </p:nvCxnSpPr>
        <p:spPr>
          <a:xfrm flipH="1">
            <a:off x="1612490" y="2000918"/>
            <a:ext cx="3293807" cy="15322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620724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1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9F3A4-EEB1-FC8D-9990-918410735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1A5D2-A27E-93EC-5F2A-1F8A1018C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b="1" kern="1200" dirty="0">
                <a:latin typeface="+mj-lt"/>
                <a:ea typeface="+mj-ea"/>
                <a:cs typeface="+mj-cs"/>
              </a:rPr>
              <a:t>Asymptotic Values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D6877-C48D-ED7F-0256-DB8335BE09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310031CB-E0DC-49E5-82DD-46BACB801860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D7237-EDBC-ABF7-656E-4CC9DCD8A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14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F3E6C-D5A2-2445-9690-E701FDE75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97448" y="1449421"/>
                <a:ext cx="2685529" cy="782456"/>
              </a:xfrm>
            </p:spPr>
            <p:txBody>
              <a:bodyPr vert="horz" lIns="0" tIns="0" rIns="0" bIns="0" rtlCol="0">
                <a:noAutofit/>
              </a:bodyPr>
              <a:lstStyle/>
              <a:p>
                <a:pPr>
                  <a:lnSpc>
                    <a:spcPct val="95000"/>
                  </a:lnSpc>
                  <a:spcAft>
                    <a:spcPts val="600"/>
                  </a:spcAft>
                </a:pP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GB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  <m:r>
                      <a:rPr lang="en-GB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GB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GB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</m:oMath>
                </a14:m>
                <a:r>
                  <a:rPr lang="en-GB" dirty="0"/>
                  <a:t> converging. The value of these terms is estimated by: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F3E6C-D5A2-2445-9690-E701FDE75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97448" y="1449421"/>
                <a:ext cx="2685529" cy="782456"/>
              </a:xfrm>
              <a:blipFill>
                <a:blip r:embed="rId2"/>
                <a:stretch>
                  <a:fillRect l="-5215" t="-11719" r="-2721" b="-187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ubtitle 3">
            <a:extLst>
              <a:ext uri="{FF2B5EF4-FFF2-40B4-BE49-F238E27FC236}">
                <a16:creationId xmlns:a16="http://schemas.microsoft.com/office/drawing/2014/main" id="{37B1FF42-AAF6-08A5-FFA0-4F7078AAB6B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 vert="horz" lIns="0" tIns="0" rIns="0" bIns="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Numerical Result Demonstrating term convergence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484DD5D-5770-529F-7532-14F3E95F1502}"/>
                  </a:ext>
                </a:extLst>
              </p:cNvPr>
              <p:cNvSpPr txBox="1"/>
              <p:nvPr/>
            </p:nvSpPr>
            <p:spPr>
              <a:xfrm>
                <a:off x="325800" y="5535062"/>
                <a:ext cx="8685196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1400" b="1" i="1" dirty="0">
                    <a:solidFill>
                      <a:schemeClr val="tx1"/>
                    </a:solidFill>
                  </a:rPr>
                  <a:t>Figure </a:t>
                </a:r>
                <a:r>
                  <a:rPr lang="en-GB" sz="1400" b="1" i="1" dirty="0"/>
                  <a:t>12</a:t>
                </a:r>
                <a:r>
                  <a:rPr lang="en-GB" sz="1400" b="1" i="1" dirty="0">
                    <a:solidFill>
                      <a:schemeClr val="tx1"/>
                    </a:solidFill>
                  </a:rPr>
                  <a:t>: </a:t>
                </a:r>
                <a:r>
                  <a:rPr lang="en-GB" sz="1400" i="1" dirty="0">
                    <a:solidFill>
                      <a:schemeClr val="tx1"/>
                    </a:solidFill>
                  </a:rPr>
                  <a:t>Mean in-degree for the type </a:t>
                </a:r>
                <a14:m>
                  <m:oMath xmlns:m="http://schemas.openxmlformats.org/officeDocument/2006/math">
                    <m:r>
                      <a:rPr lang="en-GB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sz="1400" i="1" dirty="0"/>
                  <a:t> and </a:t>
                </a:r>
                <a14:m>
                  <m:oMath xmlns:m="http://schemas.openxmlformats.org/officeDocument/2006/math"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sz="1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400" i="1" dirty="0"/>
                  <a:t>nodes sampled by taking the arithmetic mean in-degree every 100 nodes. The values of 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GB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GB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  <m:r>
                      <a:rPr lang="en-GB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1400" i="1" dirty="0"/>
                  <a:t>and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GB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GB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e>
                    </m:d>
                  </m:oMath>
                </a14:m>
                <a:r>
                  <a:rPr lang="en-GB" sz="1400" i="1" dirty="0"/>
                  <a:t> are taken as the arithmetic mean of this values for the last 5% of these values once the network has settled. In this case this was 14 points.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484DD5D-5770-529F-7532-14F3E95F15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800" y="5535062"/>
                <a:ext cx="8685196" cy="738664"/>
              </a:xfrm>
              <a:prstGeom prst="rect">
                <a:avLst/>
              </a:prstGeom>
              <a:blipFill>
                <a:blip r:embed="rId3"/>
                <a:stretch>
                  <a:fillRect l="-211" t="-1653" r="-561" b="-74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Picture 24">
            <a:extLst>
              <a:ext uri="{FF2B5EF4-FFF2-40B4-BE49-F238E27FC236}">
                <a16:creationId xmlns:a16="http://schemas.microsoft.com/office/drawing/2014/main" id="{17D6AF37-2718-7DB8-2F73-95A5601D6E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87" y="991763"/>
            <a:ext cx="9250761" cy="454106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DD112-CB8A-A478-E91F-BA822D3AC447}"/>
                  </a:ext>
                </a:extLst>
              </p:cNvPr>
              <p:cNvSpPr txBox="1"/>
              <p:nvPr/>
            </p:nvSpPr>
            <p:spPr>
              <a:xfrm>
                <a:off x="9305881" y="2609607"/>
                <a:ext cx="2569115" cy="545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d>
                              <m:dPr>
                                <m:begChr m:val="⟨"/>
                                <m:endChr m:val="⟩"/>
                                <m:ctrlPr>
                                  <a:rPr lang="en-GB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GB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GB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d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GB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GB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 sz="2000" dirty="0"/>
                      <m:t>0.000131</m:t>
                    </m:r>
                    <m:r>
                      <m:rPr>
                        <m:nor/>
                      </m:rPr>
                      <a:rPr lang="en-GB" sz="2000" dirty="0" smtClean="0"/>
                      <m:t>2</m:t>
                    </m:r>
                  </m:oMath>
                </a14:m>
                <a:endParaRPr lang="en-GB" sz="20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DD112-CB8A-A478-E91F-BA822D3AC4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881" y="2609607"/>
                <a:ext cx="2569115" cy="54521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DD3FC97-EB3E-2B29-D2C0-0D14E0E95228}"/>
                  </a:ext>
                </a:extLst>
              </p:cNvPr>
              <p:cNvSpPr txBox="1"/>
              <p:nvPr/>
            </p:nvSpPr>
            <p:spPr>
              <a:xfrm>
                <a:off x="9250760" y="4459737"/>
                <a:ext cx="21939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GB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  <m:r>
                        <a:rPr lang="en-GB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⟨"/>
                          <m:endChr m:val="⟩"/>
                          <m:ctrlP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DD3FC97-EB3E-2B29-D2C0-0D14E0E95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0760" y="4459737"/>
                <a:ext cx="2193987" cy="369332"/>
              </a:xfrm>
              <a:prstGeom prst="rect">
                <a:avLst/>
              </a:prstGeom>
              <a:blipFill>
                <a:blip r:embed="rId6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D27B89-0564-3473-A432-3079540C387E}"/>
                  </a:ext>
                </a:extLst>
              </p:cNvPr>
              <p:cNvSpPr txBox="1"/>
              <p:nvPr/>
            </p:nvSpPr>
            <p:spPr>
              <a:xfrm>
                <a:off x="11228674" y="4498835"/>
                <a:ext cx="914400" cy="4547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>
                    <a:solidFill>
                      <a:schemeClr val="accent6">
                        <a:lumMod val="75000"/>
                        <a:lumOff val="25000"/>
                      </a:schemeClr>
                    </a:solidFill>
                  </a:rPr>
                  <a:t>✔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D27B89-0564-3473-A432-3079540C38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8674" y="4498835"/>
                <a:ext cx="914400" cy="454742"/>
              </a:xfrm>
              <a:prstGeom prst="rect">
                <a:avLst/>
              </a:prstGeom>
              <a:blipFill>
                <a:blip r:embed="rId7"/>
                <a:stretch>
                  <a:fillRect l="-6000" t="-18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C95D3E9-7693-A530-8A0F-E2A1A73052AF}"/>
                  </a:ext>
                </a:extLst>
              </p:cNvPr>
              <p:cNvSpPr txBox="1"/>
              <p:nvPr/>
            </p:nvSpPr>
            <p:spPr>
              <a:xfrm>
                <a:off x="9355654" y="3417623"/>
                <a:ext cx="2569115" cy="5977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d>
                              <m:dPr>
                                <m:begChr m:val="⟨"/>
                                <m:endChr m:val="⟩"/>
                                <m:ctrlPr>
                                  <a:rPr lang="en-GB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GB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GB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d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GB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GB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den>
                    </m:f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 sz="2000" dirty="0"/>
                      <m:t>0.000131</m:t>
                    </m:r>
                    <m:r>
                      <m:rPr>
                        <m:nor/>
                      </m:rPr>
                      <a:rPr lang="en-GB" sz="2000" b="0" i="0" dirty="0" smtClean="0"/>
                      <m:t>0</m:t>
                    </m:r>
                  </m:oMath>
                </a14:m>
                <a:endParaRPr lang="en-GB" sz="20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C95D3E9-7693-A530-8A0F-E2A1A7305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5654" y="3417623"/>
                <a:ext cx="2569115" cy="59779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830311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8D742-D2A8-25D7-4F4A-C88AF533C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02F79-E149-51C6-126E-97B503F1A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b="1" kern="1200" dirty="0"/>
              <a:t>Proof of Result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A68800-823A-EBC2-2BE6-1A0267FB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310031CB-E0DC-49E5-82DD-46BACB801860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95183D-D248-4E00-EA88-4E8451054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15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9614751-B2C3-BF2E-2985-16D33EE6177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799" y="762608"/>
            <a:ext cx="3164653" cy="371567"/>
          </a:xfrm>
        </p:spPr>
        <p:txBody>
          <a:bodyPr vert="horz" lIns="0" tIns="0" rIns="0" bIns="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Inspecting the result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C7DB29-2FF1-3C19-C0BC-1A0CA4666C8B}"/>
              </a:ext>
            </a:extLst>
          </p:cNvPr>
          <p:cNvSpPr txBox="1"/>
          <p:nvPr/>
        </p:nvSpPr>
        <p:spPr>
          <a:xfrm>
            <a:off x="325799" y="1095361"/>
            <a:ext cx="11643973" cy="165995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defTabSz="685765">
              <a:lnSpc>
                <a:spcPct val="105000"/>
              </a:lnSpc>
              <a:spcAft>
                <a:spcPts val="600"/>
              </a:spcAft>
              <a:buFont typeface="Arial" panose="020B0604020202020204" pitchFamily="34" charset="0"/>
            </a:pP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34DAEC-FC82-C1BB-6939-453A81D90BCB}"/>
              </a:ext>
            </a:extLst>
          </p:cNvPr>
          <p:cNvSpPr txBox="1"/>
          <p:nvPr/>
        </p:nvSpPr>
        <p:spPr>
          <a:xfrm>
            <a:off x="222228" y="1507864"/>
            <a:ext cx="9902061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  <a:spcAft>
                <a:spcPts val="600"/>
              </a:spcAft>
            </a:pPr>
            <a:r>
              <a:rPr lang="en-US" sz="1800" dirty="0"/>
              <a:t>(2) 	“</a:t>
            </a:r>
            <a:r>
              <a:rPr lang="en-US" sz="1800" i="1" dirty="0"/>
              <a:t>Given the </a:t>
            </a:r>
            <a:r>
              <a:rPr lang="en-US" i="1" dirty="0">
                <a:solidFill>
                  <a:schemeClr val="accent1"/>
                </a:solidFill>
              </a:rPr>
              <a:t>[Matthew effect and Homophily]</a:t>
            </a:r>
            <a:r>
              <a:rPr lang="en-US" sz="1800" i="1" dirty="0"/>
              <a:t> characteristics of my </a:t>
            </a:r>
            <a:r>
              <a:rPr lang="en-US" sz="1800" i="1" dirty="0">
                <a:solidFill>
                  <a:schemeClr val="accent1"/>
                </a:solidFill>
              </a:rPr>
              <a:t>[citation] </a:t>
            </a:r>
            <a:r>
              <a:rPr lang="en-US" sz="1800" i="1" dirty="0"/>
              <a:t>network</a:t>
            </a:r>
            <a:r>
              <a:rPr lang="en-US" sz="1800" i="1" dirty="0">
                <a:solidFill>
                  <a:schemeClr val="accent1"/>
                </a:solidFill>
              </a:rPr>
              <a:t> </a:t>
            </a:r>
            <a:r>
              <a:rPr lang="en-US" i="1" dirty="0"/>
              <a:t>how likely is it that one of the </a:t>
            </a:r>
            <a:r>
              <a:rPr lang="en-US" i="1" dirty="0">
                <a:solidFill>
                  <a:schemeClr val="accent1"/>
                </a:solidFill>
              </a:rPr>
              <a:t>[papers] </a:t>
            </a:r>
            <a:r>
              <a:rPr lang="en-US" i="1" dirty="0"/>
              <a:t>has the number of </a:t>
            </a:r>
            <a:r>
              <a:rPr lang="en-US" i="1" dirty="0">
                <a:solidFill>
                  <a:schemeClr val="accent1"/>
                </a:solidFill>
              </a:rPr>
              <a:t>[citations] </a:t>
            </a:r>
            <a:r>
              <a:rPr lang="en-US" i="1" dirty="0"/>
              <a:t>it does?”</a:t>
            </a:r>
            <a:endParaRPr lang="en-GB" sz="1800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394B1E-369F-9513-D6B2-7E6BDE68A2E3}"/>
              </a:ext>
            </a:extLst>
          </p:cNvPr>
          <p:cNvSpPr txBox="1"/>
          <p:nvPr/>
        </p:nvSpPr>
        <p:spPr>
          <a:xfrm>
            <a:off x="231154" y="2704806"/>
            <a:ext cx="21884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800" dirty="0"/>
              <a:t>So, if not: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50AF1EE-23F4-7032-98F1-270092E8728E}"/>
                  </a:ext>
                </a:extLst>
              </p:cNvPr>
              <p:cNvSpPr txBox="1"/>
              <p:nvPr/>
            </p:nvSpPr>
            <p:spPr>
              <a:xfrm>
                <a:off x="222228" y="3109695"/>
                <a:ext cx="4241836" cy="11117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GB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en-GB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2+</m:t>
                              </m:r>
                              <m:d>
                                <m:dPr>
                                  <m:ctrlPr>
                                    <a:rPr lang="en-GB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1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1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num>
                                    <m:den>
                                      <m:r>
                                        <a:rPr lang="en-GB" sz="1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1+</m:t>
                              </m:r>
                              <m:d>
                                <m:dPr>
                                  <m:ctrlPr>
                                    <a:rPr lang="en-GB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1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1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num>
                                    <m:den>
                                      <m:r>
                                        <a:rPr lang="en-GB" sz="18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</m:e>
                              </m:d>
                            </m:e>
                          </m:d>
                        </m:den>
                      </m:f>
                      <m:r>
                        <a:rPr lang="en-GB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GB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50AF1EE-23F4-7032-98F1-270092E87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28" y="3109695"/>
                <a:ext cx="4241836" cy="111177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F3AD918F-A865-7BD4-56C9-50E20A433A95}"/>
              </a:ext>
            </a:extLst>
          </p:cNvPr>
          <p:cNvSpPr txBox="1"/>
          <p:nvPr/>
        </p:nvSpPr>
        <p:spPr>
          <a:xfrm>
            <a:off x="7319964" y="2740363"/>
            <a:ext cx="7980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800" dirty="0"/>
              <a:t>But: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C3CA51-D7D0-C377-40FC-46E4F0EB30FF}"/>
                  </a:ext>
                </a:extLst>
              </p:cNvPr>
              <p:cNvSpPr txBox="1"/>
              <p:nvPr/>
            </p:nvSpPr>
            <p:spPr>
              <a:xfrm>
                <a:off x="4481694" y="3480918"/>
                <a:ext cx="7645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C3CA51-D7D0-C377-40FC-46E4F0EB3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1694" y="3480918"/>
                <a:ext cx="76459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85C2035-6FD2-54DB-A951-0DED4A68FBDF}"/>
                  </a:ext>
                </a:extLst>
              </p:cNvPr>
              <p:cNvSpPr txBox="1"/>
              <p:nvPr/>
            </p:nvSpPr>
            <p:spPr>
              <a:xfrm>
                <a:off x="10940053" y="3480918"/>
                <a:ext cx="4991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85C2035-6FD2-54DB-A951-0DED4A68FB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40053" y="3480918"/>
                <a:ext cx="49911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4A3D3DF-31C6-63EF-6D3A-D65DE035BAAB}"/>
                  </a:ext>
                </a:extLst>
              </p:cNvPr>
              <p:cNvSpPr txBox="1"/>
              <p:nvPr/>
            </p:nvSpPr>
            <p:spPr>
              <a:xfrm>
                <a:off x="6607086" y="3074138"/>
                <a:ext cx="4241836" cy="1117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,∞</m:t>
                          </m:r>
                        </m:sub>
                      </m:sSub>
                      <m:r>
                        <a:rPr lang="en-GB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GB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=0</m:t>
                              </m:r>
                            </m:e>
                            <m:e>
                              <m: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&amp;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f>
                                <m:f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  <m: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GB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ℤ</m:t>
                                  </m:r>
                                </m:e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p>
                            </m:e>
                          </m:eqAr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4A3D3DF-31C6-63EF-6D3A-D65DE035BA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086" y="3074138"/>
                <a:ext cx="4241836" cy="1117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0BB037AF-3765-44A6-5CCD-EEB0200CFDB7}"/>
              </a:ext>
            </a:extLst>
          </p:cNvPr>
          <p:cNvSpPr txBox="1"/>
          <p:nvPr/>
        </p:nvSpPr>
        <p:spPr>
          <a:xfrm>
            <a:off x="222228" y="4855600"/>
            <a:ext cx="1120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800" dirty="0"/>
              <a:t>So how do we check the validity of this result?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84D846-FB70-A68C-6253-DB451023DD36}"/>
              </a:ext>
            </a:extLst>
          </p:cNvPr>
          <p:cNvSpPr txBox="1"/>
          <p:nvPr/>
        </p:nvSpPr>
        <p:spPr>
          <a:xfrm>
            <a:off x="222228" y="5614522"/>
            <a:ext cx="1120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800" dirty="0"/>
              <a:t>Here’s what I don’t think we should do…</a:t>
            </a:r>
          </a:p>
        </p:txBody>
      </p:sp>
    </p:spTree>
    <p:extLst>
      <p:ext uri="{BB962C8B-B14F-4D97-AF65-F5344CB8AC3E}">
        <p14:creationId xmlns:p14="http://schemas.microsoft.com/office/powerpoint/2010/main" val="321146935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/>
      <p:bldP spid="19" grpId="0"/>
      <p:bldP spid="8" grpId="0"/>
      <p:bldP spid="11" grpId="0"/>
      <p:bldP spid="9" grpId="0"/>
      <p:bldP spid="15" grpId="0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9061D-4D70-446B-BB1B-7A3D0943A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C9AAF-D077-7B66-F4B0-B511EF352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b="1" kern="1200" dirty="0" err="1">
                <a:latin typeface="+mj-lt"/>
                <a:ea typeface="+mj-ea"/>
                <a:cs typeface="+mj-cs"/>
              </a:rPr>
              <a:t>Visualisation</a:t>
            </a:r>
            <a:r>
              <a:rPr lang="en-US" b="1" kern="1200" dirty="0">
                <a:latin typeface="+mj-lt"/>
                <a:ea typeface="+mj-ea"/>
                <a:cs typeface="+mj-cs"/>
              </a:rPr>
              <a:t> Finite-Size Effects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09563E-2B58-54D9-9DA1-DC1222F9E4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310031CB-E0DC-49E5-82DD-46BACB801860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016DC2-A0E5-9F62-026F-EF5430984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16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AEC4B32-1FA9-0FD1-CFF8-E8A88BCAD0E1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 vert="horz" lIns="0" tIns="0" rIns="0" bIns="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Finite-size effects and motivation for statistical validation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D742716-9C0F-F37B-4BC2-80161DE93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95"/>
          <a:stretch>
            <a:fillRect/>
          </a:stretch>
        </p:blipFill>
        <p:spPr>
          <a:xfrm>
            <a:off x="87566" y="1205825"/>
            <a:ext cx="12071495" cy="4251841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564B04C0-FA2B-4B2B-4CEA-8C588DDC7ABA}"/>
              </a:ext>
            </a:extLst>
          </p:cNvPr>
          <p:cNvSpPr/>
          <p:nvPr/>
        </p:nvSpPr>
        <p:spPr>
          <a:xfrm>
            <a:off x="4367308" y="3754627"/>
            <a:ext cx="1887938" cy="152536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1C7930-8D7F-7726-11F9-1EFF675C3377}"/>
              </a:ext>
            </a:extLst>
          </p:cNvPr>
          <p:cNvSpPr/>
          <p:nvPr/>
        </p:nvSpPr>
        <p:spPr>
          <a:xfrm>
            <a:off x="2300994" y="1298553"/>
            <a:ext cx="198120" cy="1447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1D6928-6865-91B0-C260-F64C1E7C0626}"/>
              </a:ext>
            </a:extLst>
          </p:cNvPr>
          <p:cNvSpPr/>
          <p:nvPr/>
        </p:nvSpPr>
        <p:spPr>
          <a:xfrm>
            <a:off x="8310716" y="1312864"/>
            <a:ext cx="198120" cy="1447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E5DBEC-23E5-0B82-165D-394ACF35FB60}"/>
              </a:ext>
            </a:extLst>
          </p:cNvPr>
          <p:cNvSpPr/>
          <p:nvPr/>
        </p:nvSpPr>
        <p:spPr>
          <a:xfrm>
            <a:off x="5388713" y="1919419"/>
            <a:ext cx="448207" cy="1862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E98021-7951-8C55-4D1C-56C67F15599B}"/>
              </a:ext>
            </a:extLst>
          </p:cNvPr>
          <p:cNvSpPr/>
          <p:nvPr/>
        </p:nvSpPr>
        <p:spPr>
          <a:xfrm>
            <a:off x="11426789" y="1919419"/>
            <a:ext cx="448207" cy="1862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D9C7E0-B886-230A-6969-D84E521C30E6}"/>
                  </a:ext>
                </a:extLst>
              </p:cNvPr>
              <p:cNvSpPr txBox="1"/>
              <p:nvPr/>
            </p:nvSpPr>
            <p:spPr>
              <a:xfrm>
                <a:off x="2300994" y="1284242"/>
                <a:ext cx="182880" cy="1734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l"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GB" sz="13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AD9C7E0-B886-230A-6969-D84E521C3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0994" y="1284242"/>
                <a:ext cx="182880" cy="173402"/>
              </a:xfrm>
              <a:prstGeom prst="rect">
                <a:avLst/>
              </a:prstGeom>
              <a:blipFill>
                <a:blip r:embed="rId3"/>
                <a:stretch>
                  <a:fillRect b="-178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91A6D-B55B-C732-13EC-FC903EB854C1}"/>
                  </a:ext>
                </a:extLst>
              </p:cNvPr>
              <p:cNvSpPr txBox="1"/>
              <p:nvPr/>
            </p:nvSpPr>
            <p:spPr>
              <a:xfrm>
                <a:off x="8325956" y="1269931"/>
                <a:ext cx="182880" cy="1734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l"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3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sz="13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91A6D-B55B-C732-13EC-FC903EB85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5956" y="1269931"/>
                <a:ext cx="182880" cy="173402"/>
              </a:xfrm>
              <a:prstGeom prst="rect">
                <a:avLst/>
              </a:prstGeom>
              <a:blipFill>
                <a:blip r:embed="rId4"/>
                <a:stretch>
                  <a:fillRect l="-10000" r="-6667" b="-4482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3D6BCF3-EB10-C3D2-789C-808035C3AA60}"/>
              </a:ext>
            </a:extLst>
          </p:cNvPr>
          <p:cNvSpPr txBox="1"/>
          <p:nvPr/>
        </p:nvSpPr>
        <p:spPr>
          <a:xfrm>
            <a:off x="5388713" y="1919419"/>
            <a:ext cx="845820" cy="20282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GB"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Law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0DF2C1-4AF8-0A61-C99F-C6034009A1D4}"/>
              </a:ext>
            </a:extLst>
          </p:cNvPr>
          <p:cNvSpPr txBox="1"/>
          <p:nvPr/>
        </p:nvSpPr>
        <p:spPr>
          <a:xfrm>
            <a:off x="11400979" y="1909186"/>
            <a:ext cx="845820" cy="20282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GB" sz="1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Law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7ADB904-01B1-0679-6B31-22FA0265686C}"/>
              </a:ext>
            </a:extLst>
          </p:cNvPr>
          <p:cNvSpPr/>
          <p:nvPr/>
        </p:nvSpPr>
        <p:spPr>
          <a:xfrm>
            <a:off x="10500205" y="3754627"/>
            <a:ext cx="1887938" cy="1525364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accent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844DD0-DF2B-3E0E-FE55-AE1714D492BD}"/>
              </a:ext>
            </a:extLst>
          </p:cNvPr>
          <p:cNvSpPr txBox="1"/>
          <p:nvPr/>
        </p:nvSpPr>
        <p:spPr>
          <a:xfrm>
            <a:off x="222455" y="5410118"/>
            <a:ext cx="117470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i="1" dirty="0">
                <a:solidFill>
                  <a:schemeClr val="tx1"/>
                </a:solidFill>
              </a:rPr>
              <a:t>Figure </a:t>
            </a:r>
            <a:r>
              <a:rPr lang="en-GB" sz="1400" b="1" i="1" dirty="0"/>
              <a:t>13</a:t>
            </a:r>
            <a:r>
              <a:rPr lang="en-GB" sz="1400" b="1" i="1" dirty="0">
                <a:solidFill>
                  <a:schemeClr val="tx1"/>
                </a:solidFill>
              </a:rPr>
              <a:t>: </a:t>
            </a:r>
            <a:r>
              <a:rPr lang="en-GB" sz="1400" i="1" dirty="0">
                <a:solidFill>
                  <a:schemeClr val="tx1"/>
                </a:solidFill>
              </a:rPr>
              <a:t>Log-log plot with logarithmic binning for artificial data points compared with the newly derived result and its Power law approximation.</a:t>
            </a:r>
            <a:endParaRPr lang="en-GB" sz="1400" i="1" dirty="0"/>
          </a:p>
        </p:txBody>
      </p:sp>
    </p:spTree>
    <p:extLst>
      <p:ext uri="{BB962C8B-B14F-4D97-AF65-F5344CB8AC3E}">
        <p14:creationId xmlns:p14="http://schemas.microsoft.com/office/powerpoint/2010/main" val="254448782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E018A-8BF2-8B02-B77E-FA4FE501D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9687B-EFBB-8A6E-A63F-D4E38EEE9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 anchor="t">
            <a:normAutofit/>
          </a:bodyPr>
          <a:lstStyle/>
          <a:p>
            <a:r>
              <a:rPr lang="en-GB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1180C-83C0-6636-1317-BDE7D568A0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9761" y="991763"/>
            <a:ext cx="11708884" cy="747899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en-US" sz="2400" dirty="0"/>
              <a:t>(2) 	“</a:t>
            </a:r>
            <a:r>
              <a:rPr lang="en-US" sz="2400" i="1" dirty="0"/>
              <a:t>Given the </a:t>
            </a:r>
            <a:r>
              <a:rPr lang="en-US" sz="2400" i="1" dirty="0">
                <a:solidFill>
                  <a:schemeClr val="accent1"/>
                </a:solidFill>
              </a:rPr>
              <a:t>[Matthew effect and Homophily] </a:t>
            </a:r>
            <a:r>
              <a:rPr lang="en-US" sz="2400" i="1" dirty="0"/>
              <a:t>characteristics of my </a:t>
            </a:r>
            <a:r>
              <a:rPr lang="en-US" sz="2400" i="1" dirty="0">
                <a:solidFill>
                  <a:schemeClr val="accent1"/>
                </a:solidFill>
              </a:rPr>
              <a:t>[citation] </a:t>
            </a:r>
            <a:r>
              <a:rPr lang="en-US" sz="2400" i="1" dirty="0"/>
              <a:t>network</a:t>
            </a:r>
            <a:r>
              <a:rPr lang="en-US" sz="2400" i="1" dirty="0">
                <a:solidFill>
                  <a:schemeClr val="accent1"/>
                </a:solidFill>
              </a:rPr>
              <a:t> </a:t>
            </a:r>
            <a:r>
              <a:rPr lang="en-US" sz="2400" i="1" dirty="0"/>
              <a:t>how likely is it that one of the </a:t>
            </a:r>
            <a:r>
              <a:rPr lang="en-US" sz="2400" i="1" dirty="0">
                <a:solidFill>
                  <a:schemeClr val="accent1"/>
                </a:solidFill>
              </a:rPr>
              <a:t>[papers] </a:t>
            </a:r>
            <a:r>
              <a:rPr lang="en-US" sz="2400" i="1" dirty="0"/>
              <a:t>has the number of </a:t>
            </a:r>
            <a:r>
              <a:rPr lang="en-US" sz="2400" i="1" dirty="0">
                <a:solidFill>
                  <a:schemeClr val="accent1"/>
                </a:solidFill>
              </a:rPr>
              <a:t>[citations] </a:t>
            </a:r>
            <a:r>
              <a:rPr lang="en-US" sz="2400" i="1" dirty="0"/>
              <a:t>it does?”</a:t>
            </a:r>
            <a:endParaRPr lang="en-GB" sz="2400" i="1" dirty="0"/>
          </a:p>
          <a:p>
            <a:pPr marL="342900" indent="-342900">
              <a:spcAft>
                <a:spcPts val="600"/>
              </a:spcAft>
              <a:buAutoNum type="arabicParenR"/>
            </a:pPr>
            <a:endParaRPr lang="en-GB" sz="2400" dirty="0"/>
          </a:p>
          <a:p>
            <a:pPr>
              <a:spcAft>
                <a:spcPts val="600"/>
              </a:spcAft>
            </a:pPr>
            <a:endParaRPr lang="en-GB" sz="2400" dirty="0"/>
          </a:p>
          <a:p>
            <a:pPr marL="342900" indent="-342900">
              <a:spcAft>
                <a:spcPts val="600"/>
              </a:spcAft>
              <a:buAutoNum type="arabicParenR"/>
            </a:pPr>
            <a:endParaRPr lang="en-GB" sz="24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D63EB8-B3AD-AF43-0A30-555F932EB5E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F735A267-51F8-4C83-A436-AD44CC5F5103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40FE4B-AE8C-29C6-E293-87F533F4B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17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895DF23-EE4F-2BAA-97DA-C49BA4E30AB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This Presentation Has Contained</a:t>
            </a:r>
            <a:endParaRPr lang="en-US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69C415B1-9218-AF6E-4CD9-789866DF75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761" y="1739662"/>
            <a:ext cx="3228289" cy="1984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603551-9695-E1F3-ABC6-0A00D46DBE7B}"/>
                  </a:ext>
                </a:extLst>
              </p:cNvPr>
              <p:cNvSpPr txBox="1"/>
              <p:nvPr/>
            </p:nvSpPr>
            <p:spPr>
              <a:xfrm>
                <a:off x="2927801" y="2215156"/>
                <a:ext cx="1750142" cy="6093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603551-9695-E1F3-ABC6-0A00D46DBE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7801" y="2215156"/>
                <a:ext cx="1750142" cy="6093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AEC4F8F-A10B-B8AE-3625-C05BA3B83B0A}"/>
                  </a:ext>
                </a:extLst>
              </p:cNvPr>
              <p:cNvSpPr txBox="1"/>
              <p:nvPr/>
            </p:nvSpPr>
            <p:spPr>
              <a:xfrm>
                <a:off x="4377558" y="2205527"/>
                <a:ext cx="6096000" cy="6093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AEC4F8F-A10B-B8AE-3625-C05BA3B83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7558" y="2205527"/>
                <a:ext cx="6096000" cy="6093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>
            <a:extLst>
              <a:ext uri="{FF2B5EF4-FFF2-40B4-BE49-F238E27FC236}">
                <a16:creationId xmlns:a16="http://schemas.microsoft.com/office/drawing/2014/main" id="{382F9F68-D68E-735B-BB24-D226EBD5EF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559" y="3137712"/>
            <a:ext cx="3079776" cy="172275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EE529EF-AF89-6598-5C7A-386B4DBBD0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40620" y="5144058"/>
            <a:ext cx="4887880" cy="123070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F586D4-C46D-C890-D0D7-8B8EF356DBE6}"/>
                  </a:ext>
                </a:extLst>
              </p:cNvPr>
              <p:cNvSpPr txBox="1"/>
              <p:nvPr/>
            </p:nvSpPr>
            <p:spPr>
              <a:xfrm>
                <a:off x="7839175" y="1930386"/>
                <a:ext cx="4179470" cy="1117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,∞</m:t>
                          </m:r>
                        </m:sub>
                      </m:sSub>
                      <m:r>
                        <a:rPr lang="en-GB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GB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GB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=0</m:t>
                              </m:r>
                            </m:e>
                            <m:e>
                              <m: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&amp;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0,</m:t>
                                  </m:r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f>
                                <m:f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  <m:r>
                                <a:rPr lang="en-GB" sz="1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GB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GB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ℤ</m:t>
                                  </m:r>
                                </m:e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</m:sup>
                              </m:sSup>
                            </m:e>
                          </m:eqAr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F586D4-C46D-C890-D0D7-8B8EF356D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9175" y="1930386"/>
                <a:ext cx="4179470" cy="111799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3863ED2-A8E0-FA8E-42F7-3AF980544FF7}"/>
                  </a:ext>
                </a:extLst>
              </p:cNvPr>
              <p:cNvSpPr txBox="1"/>
              <p:nvPr/>
            </p:nvSpPr>
            <p:spPr>
              <a:xfrm>
                <a:off x="5112974" y="4772944"/>
                <a:ext cx="914400" cy="4975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3863ED2-A8E0-FA8E-42F7-3AF980544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2974" y="4772944"/>
                <a:ext cx="914400" cy="49755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10F6F0D9-01F4-9D6B-FC1C-CA3C981917C5}"/>
              </a:ext>
            </a:extLst>
          </p:cNvPr>
          <p:cNvSpPr txBox="1"/>
          <p:nvPr/>
        </p:nvSpPr>
        <p:spPr>
          <a:xfrm>
            <a:off x="8303444" y="4297910"/>
            <a:ext cx="3700555" cy="156832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85750" indent="-285750" algn="l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GB" dirty="0"/>
              <a:t>I</a:t>
            </a:r>
            <a:r>
              <a:rPr lang="en-GB" dirty="0">
                <a:solidFill>
                  <a:schemeClr val="tx1"/>
                </a:solidFill>
              </a:rPr>
              <a:t>nitial insight from inspecting a log binned plot</a:t>
            </a:r>
            <a:r>
              <a:rPr lang="en-GB" dirty="0"/>
              <a:t> </a:t>
            </a:r>
          </a:p>
          <a:p>
            <a:pPr marL="285750" indent="-285750" algn="l">
              <a:lnSpc>
                <a:spcPct val="105000"/>
              </a:lnSpc>
              <a:buFont typeface="Arial" panose="020B0604020202020204" pitchFamily="34" charset="0"/>
              <a:buChar char="•"/>
            </a:pPr>
            <a:r>
              <a:rPr lang="en-GB" dirty="0"/>
              <a:t>S</a:t>
            </a:r>
            <a:r>
              <a:rPr lang="en-GB" dirty="0">
                <a:solidFill>
                  <a:schemeClr val="tx1"/>
                </a:solidFill>
              </a:rPr>
              <a:t>tatistical analysis required to assess the goodness of fit for finite-sized cases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15E7720-29DF-64B2-7509-24DD38EBD111}"/>
              </a:ext>
            </a:extLst>
          </p:cNvPr>
          <p:cNvSpPr/>
          <p:nvPr/>
        </p:nvSpPr>
        <p:spPr>
          <a:xfrm>
            <a:off x="8065781" y="4237556"/>
            <a:ext cx="3650596" cy="1568328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2B93710-8923-F240-EBD0-05193CEB6215}"/>
                  </a:ext>
                </a:extLst>
              </p:cNvPr>
              <p:cNvSpPr txBox="1"/>
              <p:nvPr/>
            </p:nvSpPr>
            <p:spPr>
              <a:xfrm>
                <a:off x="9335557" y="3566524"/>
                <a:ext cx="914400" cy="914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 algn="l"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⇓</m:t>
                      </m:r>
                    </m:oMath>
                  </m:oMathPara>
                </a14:m>
                <a:endParaRPr lang="en-GB" sz="3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2B93710-8923-F240-EBD0-05193CEB6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5557" y="3566524"/>
                <a:ext cx="914400" cy="9144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071ACF03-2C46-9D61-3954-F71673F4167B}"/>
              </a:ext>
            </a:extLst>
          </p:cNvPr>
          <p:cNvSpPr/>
          <p:nvPr/>
        </p:nvSpPr>
        <p:spPr>
          <a:xfrm>
            <a:off x="7933235" y="1698671"/>
            <a:ext cx="4100260" cy="1568328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85E7472-DF80-0C8A-4F6E-6F1D000D148C}"/>
                  </a:ext>
                </a:extLst>
              </p:cNvPr>
              <p:cNvSpPr txBox="1"/>
              <p:nvPr/>
            </p:nvSpPr>
            <p:spPr>
              <a:xfrm>
                <a:off x="11200183" y="2831323"/>
                <a:ext cx="10323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85E7472-DF80-0C8A-4F6E-6F1D000D14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00183" y="2831323"/>
                <a:ext cx="1032387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" name="Picture 29">
            <a:extLst>
              <a:ext uri="{FF2B5EF4-FFF2-40B4-BE49-F238E27FC236}">
                <a16:creationId xmlns:a16="http://schemas.microsoft.com/office/drawing/2014/main" id="{FB79DF9B-F889-545B-4D31-8EBB5F9A831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10"/>
          <a:stretch>
            <a:fillRect/>
          </a:stretch>
        </p:blipFill>
        <p:spPr>
          <a:xfrm>
            <a:off x="4283559" y="1739662"/>
            <a:ext cx="2573231" cy="105201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7C0EF8A-A296-D200-AD22-93A234FB8278}"/>
                  </a:ext>
                </a:extLst>
              </p:cNvPr>
              <p:cNvSpPr txBox="1"/>
              <p:nvPr/>
            </p:nvSpPr>
            <p:spPr>
              <a:xfrm>
                <a:off x="2573432" y="2677165"/>
                <a:ext cx="6115664" cy="5447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GB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7C0EF8A-A296-D200-AD22-93A234FB8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3432" y="2677165"/>
                <a:ext cx="6115664" cy="54476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564903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12" grpId="0"/>
      <p:bldP spid="16" grpId="0"/>
      <p:bldP spid="22" grpId="0"/>
      <p:bldP spid="23" grpId="0"/>
      <p:bldP spid="24" grpId="0"/>
      <p:bldP spid="25" grpId="0" animBg="1"/>
      <p:bldP spid="26" grpId="0"/>
      <p:bldP spid="27" grpId="0" animBg="1"/>
      <p:bldP spid="29" grpId="0"/>
      <p:bldP spid="3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500" y="3338513"/>
            <a:ext cx="9144000" cy="182880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GB" dirty="0"/>
              <a:t>Predicting Network Behaviour</a:t>
            </a:r>
          </a:p>
          <a:p>
            <a:r>
              <a:rPr lang="en-US" dirty="0"/>
              <a:t>20/03/2026</a:t>
            </a:r>
          </a:p>
        </p:txBody>
      </p:sp>
    </p:spTree>
    <p:extLst>
      <p:ext uri="{BB962C8B-B14F-4D97-AF65-F5344CB8AC3E}">
        <p14:creationId xmlns:p14="http://schemas.microsoft.com/office/powerpoint/2010/main" val="2287451629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E7C96-D0FF-6897-F56D-98719361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2752E-01C9-9E24-99FE-ED064F956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b="1" kern="1200" dirty="0">
                <a:latin typeface="+mj-lt"/>
                <a:ea typeface="+mj-ea"/>
                <a:cs typeface="+mj-cs"/>
              </a:rPr>
              <a:t>Our Network Model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EF4A00-8650-1B77-24F7-FE9DE54886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310031CB-E0DC-49E5-82DD-46BACB801860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15" name="Footer Placeholder 3">
            <a:extLst>
              <a:ext uri="{FF2B5EF4-FFF2-40B4-BE49-F238E27FC236}">
                <a16:creationId xmlns:a16="http://schemas.microsoft.com/office/drawing/2014/main" id="{4E738F27-EB52-E37E-6225-A38A43AEF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261" y="6393702"/>
            <a:ext cx="3423452" cy="137272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4CC97E-5E77-C901-CE55-6DCB6EFE8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19</a:t>
            </a:fld>
            <a:endParaRPr lang="en-GB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281D9C7-7B39-431F-8AA9-62EFC53C472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42546" y="651537"/>
            <a:ext cx="11540763" cy="371567"/>
          </a:xfrm>
        </p:spPr>
        <p:txBody>
          <a:bodyPr vert="horz" lIns="0" tIns="0" rIns="0" bIns="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Price’s model and the Homophily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41CE90-B2DE-2252-7249-7C697F81751C}"/>
              </a:ext>
            </a:extLst>
          </p:cNvPr>
          <p:cNvSpPr txBox="1"/>
          <p:nvPr/>
        </p:nvSpPr>
        <p:spPr>
          <a:xfrm>
            <a:off x="11258172" y="3208713"/>
            <a:ext cx="55450" cy="55821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endParaRPr lang="en-GB" sz="1600" dirty="0">
              <a:solidFill>
                <a:schemeClr val="tx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B5449E-3CA8-6706-EC4B-AB987AB8C6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200" y="1165866"/>
            <a:ext cx="11849454" cy="452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97753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BE4122E3-E4F5-D4C6-F7D8-57173557A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 dirty="0"/>
              <a:t>New Statistical Test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241883A-7BF2-B14E-DCBF-7856E57CF54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385"/>
          <a:stretch>
            <a:fillRect/>
          </a:stretch>
        </p:blipFill>
        <p:spPr>
          <a:xfrm>
            <a:off x="242311" y="1394618"/>
            <a:ext cx="5583238" cy="4866481"/>
          </a:xfrm>
          <a:prstGeom prst="rect">
            <a:avLst/>
          </a:prstGeom>
          <a:noFill/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4572197-D9B2-DCAF-B971-DCE74A990B2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385"/>
          <a:stretch>
            <a:fillRect/>
          </a:stretch>
        </p:blipFill>
        <p:spPr>
          <a:xfrm>
            <a:off x="6283325" y="1394619"/>
            <a:ext cx="5583238" cy="4866481"/>
          </a:xfrm>
          <a:prstGeom prst="rect">
            <a:avLst/>
          </a:prstGeom>
          <a:noFill/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871210-5313-7CBD-F7F9-E92E8A31B8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349" y="6393702"/>
            <a:ext cx="1233647" cy="137270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AEE23BCF-757C-48E4-AB43-882F0A78532C}" type="datetime1">
              <a:rPr lang="en-GB" smtClean="0"/>
              <a:pPr>
                <a:spcAft>
                  <a:spcPts val="600"/>
                </a:spcAft>
              </a:pPr>
              <a:t>19/03/2026</a:t>
            </a:fld>
            <a:endParaRPr lang="en-GB"/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B62E709D-3C4C-D97B-CE4F-6F5215426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261" y="6393702"/>
            <a:ext cx="3423452" cy="137272"/>
          </a:xfr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97634-52EE-1513-4FE1-79C954AFA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755" y="6393702"/>
            <a:ext cx="318491" cy="137272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CBA53E11-492D-48B3-9F9B-09541CA2A39A}" type="slidenum">
              <a:rPr lang="en-GB" smtClean="0"/>
              <a:pPr>
                <a:spcAft>
                  <a:spcPts val="600"/>
                </a:spcAft>
              </a:pPr>
              <a:t>20</a:t>
            </a:fld>
            <a:endParaRPr lang="en-GB"/>
          </a:p>
        </p:txBody>
      </p:sp>
      <p:sp>
        <p:nvSpPr>
          <p:cNvPr id="22" name="Subtitle 7">
            <a:extLst>
              <a:ext uri="{FF2B5EF4-FFF2-40B4-BE49-F238E27FC236}">
                <a16:creationId xmlns:a16="http://schemas.microsoft.com/office/drawing/2014/main" id="{C7D7F467-15BA-E9DF-A586-991829F4753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4743" y="762646"/>
            <a:ext cx="9973669" cy="371567"/>
          </a:xfrm>
        </p:spPr>
        <p:txBody>
          <a:bodyPr/>
          <a:lstStyle/>
          <a:p>
            <a:r>
              <a:rPr lang="en-US" dirty="0"/>
              <a:t>Creation of a new goodness of fit test to assess our derivation result</a:t>
            </a:r>
          </a:p>
        </p:txBody>
      </p:sp>
    </p:spTree>
    <p:extLst>
      <p:ext uri="{BB962C8B-B14F-4D97-AF65-F5344CB8AC3E}">
        <p14:creationId xmlns:p14="http://schemas.microsoft.com/office/powerpoint/2010/main" val="264073201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College Standard Font Them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Arial_Imperial_PowerPoint_16_9_simplified template_with_instrucs" id="{E2003566-CB3B-AF4B-AC63-3C69992DFC2C}" vid="{F435D263-C53D-E44B-AFB4-0237A8A90C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5288c7d-624b-4bae-b299-4fe5d0610d1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351BB3BA7DF8049908BB49A723BB590" ma:contentTypeVersion="15" ma:contentTypeDescription="Create a new document." ma:contentTypeScope="" ma:versionID="4ac4c166463666f33abacb083c24d533">
  <xsd:schema xmlns:xsd="http://www.w3.org/2001/XMLSchema" xmlns:xs="http://www.w3.org/2001/XMLSchema" xmlns:p="http://schemas.microsoft.com/office/2006/metadata/properties" xmlns:ns3="45288c7d-624b-4bae-b299-4fe5d0610d1b" xmlns:ns4="c444c9ef-e7e2-4e61-96ed-b28c69821563" targetNamespace="http://schemas.microsoft.com/office/2006/metadata/properties" ma:root="true" ma:fieldsID="41a107b2f709c4034c119a86864eb389" ns3:_="" ns4:_="">
    <xsd:import namespace="45288c7d-624b-4bae-b299-4fe5d0610d1b"/>
    <xsd:import namespace="c444c9ef-e7e2-4e61-96ed-b28c6982156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288c7d-624b-4bae-b299-4fe5d0610d1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44c9ef-e7e2-4e61-96ed-b28c69821563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BCC2720-3352-404F-8526-0437378EE58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D7BB4C6-127E-40DB-83D0-BAD626190316}">
  <ds:schemaRefs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microsoft.com/office/2006/metadata/properties"/>
    <ds:schemaRef ds:uri="http://purl.org/dc/terms/"/>
    <ds:schemaRef ds:uri="http://www.w3.org/XML/1998/namespace"/>
    <ds:schemaRef ds:uri="c444c9ef-e7e2-4e61-96ed-b28c69821563"/>
    <ds:schemaRef ds:uri="http://schemas.openxmlformats.org/package/2006/metadata/core-properties"/>
    <ds:schemaRef ds:uri="45288c7d-624b-4bae-b299-4fe5d0610d1b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38116F5B-4DF9-41D7-9EBB-6E0E7305BB2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5288c7d-624b-4bae-b299-4fe5d0610d1b"/>
    <ds:schemaRef ds:uri="c444c9ef-e7e2-4e61-96ed-b28c6982156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Arial_Imperial_PowerPoint_16_9_simplified template_with_instrucs</Template>
  <TotalTime>2684</TotalTime>
  <Words>1731</Words>
  <Application>Microsoft Office PowerPoint</Application>
  <PresentationFormat>Widescreen</PresentationFormat>
  <Paragraphs>245</Paragraphs>
  <Slides>20</Slides>
  <Notes>4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Cambria Math</vt:lpstr>
      <vt:lpstr>Inter Medium</vt:lpstr>
      <vt:lpstr>pt-sans-pro</vt:lpstr>
      <vt:lpstr>Times New Roman</vt:lpstr>
      <vt:lpstr>ICL PPT Theme</vt:lpstr>
      <vt:lpstr>Modelling Citation Networks</vt:lpstr>
      <vt:lpstr>Outline</vt:lpstr>
      <vt:lpstr>We exist in an interconnected world</vt:lpstr>
      <vt:lpstr>Graph Theory</vt:lpstr>
      <vt:lpstr>Mathematical Models</vt:lpstr>
      <vt:lpstr>Citation Networks</vt:lpstr>
      <vt:lpstr>Selected Network Features</vt:lpstr>
      <vt:lpstr>Matthew Effect</vt:lpstr>
      <vt:lpstr>Cumulative Advantage</vt:lpstr>
      <vt:lpstr>Homophily</vt:lpstr>
      <vt:lpstr>Motivating the result</vt:lpstr>
      <vt:lpstr>Key Result</vt:lpstr>
      <vt:lpstr>Key Result</vt:lpstr>
      <vt:lpstr>Asymptotic Values</vt:lpstr>
      <vt:lpstr>Proof of Result</vt:lpstr>
      <vt:lpstr>Visualisation Finite-Size Effects</vt:lpstr>
      <vt:lpstr>Conclusion</vt:lpstr>
      <vt:lpstr>Thank you</vt:lpstr>
      <vt:lpstr>Our Network Model</vt:lpstr>
      <vt:lpstr>New Statistical Test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Diamond, Sid</dc:creator>
  <cp:lastModifiedBy>Diamond, Sid</cp:lastModifiedBy>
  <cp:revision>2</cp:revision>
  <dcterms:created xsi:type="dcterms:W3CDTF">2026-03-17T14:04:05Z</dcterms:created>
  <dcterms:modified xsi:type="dcterms:W3CDTF">2026-03-19T21:51:36Z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0x0101003351BB3BA7DF8049908BB49A723BB590</vt:lpwstr>
  </property>
</Properties>
</file>