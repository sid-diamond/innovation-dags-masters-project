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8" r:id="rId2"/>
  </p:sldIdLst>
  <p:sldSz cx="21383625" cy="30275213"/>
  <p:notesSz cx="6858000" cy="9144000"/>
  <p:embeddedFontLst>
    <p:embeddedFont>
      <p:font typeface="Cambria Math" panose="02040503050406030204" pitchFamily="18" charset="0"/>
      <p:regular r:id="rId4"/>
    </p:embeddedFont>
    <p:embeddedFont>
      <p:font typeface="Imperial Sans Text" panose="020B0604020202020204" charset="0"/>
      <p:regular r:id="rId5"/>
      <p:bold r:id="rId6"/>
    </p:embeddedFont>
    <p:embeddedFont>
      <p:font typeface="Imperial Sans Text Extrabold" panose="020B0604020202020204" charset="0"/>
      <p:bold r:id="rId7"/>
    </p:embeddedFont>
    <p:embeddedFont>
      <p:font typeface="Imperial Sans Text Semibold" panose="020B0604020202020204" charset="0"/>
      <p:bold r:id="rId8"/>
    </p:embeddedFont>
  </p:embeddedFontLst>
  <p:defaultTextStyle>
    <a:defPPr>
      <a:defRPr lang="en-US"/>
    </a:defPPr>
    <a:lvl1pPr marL="0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1pPr>
    <a:lvl2pPr marL="1239727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2pPr>
    <a:lvl3pPr marL="2479451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3pPr>
    <a:lvl4pPr marL="3719178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4pPr>
    <a:lvl5pPr marL="4958902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5pPr>
    <a:lvl6pPr marL="6198629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6pPr>
    <a:lvl7pPr marL="7438356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7pPr>
    <a:lvl8pPr marL="8678080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8pPr>
    <a:lvl9pPr marL="9917807" algn="l" defTabSz="2479451" rtl="0" eaLnBrk="1" latinLnBrk="0" hangingPunct="1">
      <a:defRPr sz="488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58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5" autoAdjust="0"/>
    <p:restoredTop sz="94660"/>
  </p:normalViewPr>
  <p:slideViewPr>
    <p:cSldViewPr snapToGrid="0" showGuides="1">
      <p:cViewPr>
        <p:scale>
          <a:sx n="70" d="100"/>
          <a:sy n="70" d="100"/>
        </p:scale>
        <p:origin x="38" y="-2371"/>
      </p:cViewPr>
      <p:guideLst>
        <p:guide orient="horz" pos="9558"/>
        <p:guide pos="673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2"/>
        <a:sy n="1" d="2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27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451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178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8902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629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356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080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7807" algn="l" defTabSz="2479451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ion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C48B9CE-FD65-AE40-130C-DBE00526E69A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7449512" y="10439326"/>
            <a:ext cx="13135602" cy="102204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3DD5FEA-0146-896B-ABD3-41CBD58D0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6B1F1E-F449-B29F-6C17-6D2E110AEBD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18F015B-6C73-4A9C-BCFC-C5B1BB098CD2}" type="datetime1">
              <a:rPr lang="en-GB" noProof="0" smtClean="0"/>
              <a:t>18/02/2026</a:t>
            </a:fld>
            <a:endParaRPr lang="en-GB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601A43-521E-7D2C-E6A2-455F8466DBC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noProof="0"/>
              <a:t>imperial.ac.uk</a:t>
            </a:r>
            <a:endParaRPr lang="en-GB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6A93B-F7C5-B8B9-F174-1D4991E5A0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BA53E11-492D-48B3-9F9B-09541CA2A39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5262" y="2206800"/>
            <a:ext cx="6427787" cy="207644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600" b="0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 marL="601381" indent="0" algn="ctr">
              <a:buNone/>
              <a:defRPr sz="2631"/>
            </a:lvl2pPr>
            <a:lvl3pPr marL="1202763" indent="0" algn="ctr">
              <a:buNone/>
              <a:defRPr sz="2368"/>
            </a:lvl3pPr>
            <a:lvl4pPr marL="1804144" indent="0" algn="ctr">
              <a:buNone/>
              <a:defRPr sz="2105"/>
            </a:lvl4pPr>
            <a:lvl5pPr marL="2405526" indent="0" algn="ctr">
              <a:buNone/>
              <a:defRPr sz="2105"/>
            </a:lvl5pPr>
            <a:lvl6pPr marL="3006907" indent="0" algn="ctr">
              <a:buNone/>
              <a:defRPr sz="2105"/>
            </a:lvl6pPr>
            <a:lvl7pPr marL="3608290" indent="0" algn="ctr">
              <a:buNone/>
              <a:defRPr sz="2105"/>
            </a:lvl7pPr>
            <a:lvl8pPr marL="4209670" indent="0" algn="ctr">
              <a:buNone/>
              <a:defRPr sz="2105"/>
            </a:lvl8pPr>
            <a:lvl9pPr marL="4811053" indent="0" algn="ctr">
              <a:buNone/>
              <a:defRPr sz="2105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F84EA4A9-8368-74EA-F27A-3450838EAA8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0575" y="20815200"/>
            <a:ext cx="6427788" cy="605990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D437EA09-33CD-6FA8-4A6D-5CE7BFF619C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475538" y="20815200"/>
            <a:ext cx="13117511" cy="605990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14">
            <a:extLst>
              <a:ext uri="{FF2B5EF4-FFF2-40B4-BE49-F238E27FC236}">
                <a16:creationId xmlns:a16="http://schemas.microsoft.com/office/drawing/2014/main" id="{38BCB398-97B2-A11D-4F34-20FD1C3A57A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165261" y="26461750"/>
            <a:ext cx="3132000" cy="1764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noProof="0" dirty="0"/>
              <a:t>Click icon to add a supporter or partner logo</a:t>
            </a:r>
          </a:p>
        </p:txBody>
      </p:sp>
      <p:sp>
        <p:nvSpPr>
          <p:cNvPr id="33" name="Picture Placeholder 14">
            <a:extLst>
              <a:ext uri="{FF2B5EF4-FFF2-40B4-BE49-F238E27FC236}">
                <a16:creationId xmlns:a16="http://schemas.microsoft.com/office/drawing/2014/main" id="{75C6CEFE-B735-0385-C658-4587C1DD75E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7461049" y="26461750"/>
            <a:ext cx="3132000" cy="1764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noProof="0" dirty="0"/>
              <a:t>Click icon to add a supporter or partner logo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CA73C-0476-5A07-BF41-8F4A73CC8D0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0575" y="4911725"/>
            <a:ext cx="6427788" cy="10453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00C73574-5895-09F1-1C64-ACBD70013EB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449511" y="4911725"/>
            <a:ext cx="6427788" cy="525226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14F4225-433B-2AB2-15E4-9E423031593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4165261" y="4911725"/>
            <a:ext cx="6427788" cy="525226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B76A963-6AEF-5BBE-8E48-EBD8B152A58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90575" y="21697198"/>
            <a:ext cx="6427788" cy="65285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4C56EE52-537E-793C-190B-CFC9F395AB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474250" y="21697198"/>
            <a:ext cx="6427788" cy="65285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839EC7A-2402-CED8-C771-BB6EF2E35BB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4157925" y="21697198"/>
            <a:ext cx="6427788" cy="450650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D29EF359-10B1-D70F-910E-516113908950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790576" y="15641421"/>
            <a:ext cx="6427788" cy="501830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18462128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tion 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DD5FEA-0146-896B-ABD3-41CBD58D0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6B1F1E-F449-B29F-6C17-6D2E110AEBD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25B37B3-A951-41B0-803F-990AE8E98F3B}" type="datetime1">
              <a:rPr lang="en-GB" noProof="0" smtClean="0"/>
              <a:t>18/02/2026</a:t>
            </a:fld>
            <a:endParaRPr lang="en-GB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601A43-521E-7D2C-E6A2-455F8466DBC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noProof="0"/>
              <a:t>imperial.ac.uk</a:t>
            </a:r>
            <a:endParaRPr lang="en-GB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6A93B-F7C5-B8B9-F174-1D4991E5A0C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BA53E11-492D-48B3-9F9B-09541CA2A39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5262" y="2206800"/>
            <a:ext cx="6427787" cy="207644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600" b="0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 marL="601381" indent="0" algn="ctr">
              <a:buNone/>
              <a:defRPr sz="2631"/>
            </a:lvl2pPr>
            <a:lvl3pPr marL="1202763" indent="0" algn="ctr">
              <a:buNone/>
              <a:defRPr sz="2368"/>
            </a:lvl3pPr>
            <a:lvl4pPr marL="1804144" indent="0" algn="ctr">
              <a:buNone/>
              <a:defRPr sz="2105"/>
            </a:lvl4pPr>
            <a:lvl5pPr marL="2405526" indent="0" algn="ctr">
              <a:buNone/>
              <a:defRPr sz="2105"/>
            </a:lvl5pPr>
            <a:lvl6pPr marL="3006907" indent="0" algn="ctr">
              <a:buNone/>
              <a:defRPr sz="2105"/>
            </a:lvl6pPr>
            <a:lvl7pPr marL="3608290" indent="0" algn="ctr">
              <a:buNone/>
              <a:defRPr sz="2105"/>
            </a:lvl7pPr>
            <a:lvl8pPr marL="4209670" indent="0" algn="ctr">
              <a:buNone/>
              <a:defRPr sz="2105"/>
            </a:lvl8pPr>
            <a:lvl9pPr marL="4811053" indent="0" algn="ctr">
              <a:buNone/>
              <a:defRPr sz="2105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F84EA4A9-8368-74EA-F27A-3450838EAA8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0575" y="20815200"/>
            <a:ext cx="6427788" cy="605990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D437EA09-33CD-6FA8-4A6D-5CE7BFF619C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475538" y="20815200"/>
            <a:ext cx="13117511" cy="605990"/>
          </a:xfrm>
          <a:prstGeom prst="rect">
            <a:avLst/>
          </a:prstGeo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Picture Placeholder 14">
            <a:extLst>
              <a:ext uri="{FF2B5EF4-FFF2-40B4-BE49-F238E27FC236}">
                <a16:creationId xmlns:a16="http://schemas.microsoft.com/office/drawing/2014/main" id="{38BCB398-97B2-A11D-4F34-20FD1C3A57A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165261" y="26461750"/>
            <a:ext cx="3132000" cy="1764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noProof="0" dirty="0"/>
              <a:t>Click icon to add a supporter or partner logo</a:t>
            </a:r>
          </a:p>
        </p:txBody>
      </p:sp>
      <p:sp>
        <p:nvSpPr>
          <p:cNvPr id="33" name="Picture Placeholder 14">
            <a:extLst>
              <a:ext uri="{FF2B5EF4-FFF2-40B4-BE49-F238E27FC236}">
                <a16:creationId xmlns:a16="http://schemas.microsoft.com/office/drawing/2014/main" id="{75C6CEFE-B735-0385-C658-4587C1DD75E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7461049" y="26461750"/>
            <a:ext cx="3132000" cy="1764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sz="1600"/>
            </a:lvl1pPr>
          </a:lstStyle>
          <a:p>
            <a:pPr marL="0" marR="0" lvl="0" indent="0" algn="l" defTabSz="1202763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 dirty="0"/>
              <a:t>Click icon to add a supporter or partner logo</a:t>
            </a:r>
          </a:p>
          <a:p>
            <a:endParaRPr lang="en-GB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CA73C-0476-5A07-BF41-8F4A73CC8D0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0575" y="4911725"/>
            <a:ext cx="6427788" cy="798106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00C73574-5895-09F1-1C64-ACBD70013EB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449511" y="4911724"/>
            <a:ext cx="6427788" cy="798106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14F4225-433B-2AB2-15E4-9E423031593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4165261" y="4911724"/>
            <a:ext cx="6427788" cy="798106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B76A963-6AEF-5BBE-8E48-EBD8B152A58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90575" y="21697198"/>
            <a:ext cx="6427788" cy="65285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4C56EE52-537E-793C-190B-CFC9F395AB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474250" y="21697198"/>
            <a:ext cx="6427788" cy="65285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839EC7A-2402-CED8-C771-BB6EF2E35BB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4157925" y="21697198"/>
            <a:ext cx="6427788" cy="450650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2F7A2BD4-5D5C-FDA8-575A-EEF5BB46759C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7449512" y="13164526"/>
            <a:ext cx="13135602" cy="7495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B778B18A-FE56-EFD2-5AAF-6F7ED7CAC2D5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790576" y="13164527"/>
            <a:ext cx="6427788" cy="7495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99454171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0575" y="2206800"/>
            <a:ext cx="13117513" cy="207644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0575" y="4911725"/>
            <a:ext cx="19805088" cy="233330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40564" y="28880553"/>
            <a:ext cx="3249940" cy="60599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3200">
                <a:solidFill>
                  <a:schemeClr val="accent1"/>
                </a:solidFill>
              </a:defRPr>
            </a:lvl1pPr>
          </a:lstStyle>
          <a:p>
            <a:fld id="{7591C2C3-B079-4145-9757-D0EBAE610834}" type="datetime1">
              <a:rPr lang="en-GB" noProof="0" smtClean="0"/>
              <a:t>18/02/2026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74047" y="28880544"/>
            <a:ext cx="9119003" cy="60599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imperial.ac.uk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66376" y="28880544"/>
            <a:ext cx="650878" cy="60599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320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790575" y="28880544"/>
            <a:ext cx="5192516" cy="605999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GB" sz="3200" b="0" noProof="0" dirty="0">
                <a:solidFill>
                  <a:schemeClr val="accent1"/>
                </a:solidFill>
                <a:latin typeface="+mn-lt"/>
              </a:rPr>
              <a:t>Imperial College London</a:t>
            </a:r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5B8F859E-67B2-31E4-8FF7-14252D90D5F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0575" y="821055"/>
            <a:ext cx="6336000" cy="699453"/>
            <a:chOff x="0" y="8792"/>
            <a:chExt cx="13470" cy="1487"/>
          </a:xfrm>
          <a:solidFill>
            <a:schemeClr val="accent1"/>
          </a:solidFill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61C58841-4C03-F11E-E9FB-C1D825B77D2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2506" y="8792"/>
              <a:ext cx="964" cy="1487"/>
            </a:xfrm>
            <a:custGeom>
              <a:avLst/>
              <a:gdLst>
                <a:gd name="T0" fmla="*/ 0 w 964"/>
                <a:gd name="T1" fmla="*/ 0 h 1487"/>
                <a:gd name="T2" fmla="*/ 0 w 964"/>
                <a:gd name="T3" fmla="*/ 1487 h 1487"/>
                <a:gd name="T4" fmla="*/ 964 w 964"/>
                <a:gd name="T5" fmla="*/ 1487 h 1487"/>
                <a:gd name="T6" fmla="*/ 964 w 964"/>
                <a:gd name="T7" fmla="*/ 1227 h 1487"/>
                <a:gd name="T8" fmla="*/ 280 w 964"/>
                <a:gd name="T9" fmla="*/ 1227 h 1487"/>
                <a:gd name="T10" fmla="*/ 280 w 964"/>
                <a:gd name="T11" fmla="*/ 0 h 1487"/>
                <a:gd name="T12" fmla="*/ 0 w 964"/>
                <a:gd name="T13" fmla="*/ 0 h 1487"/>
                <a:gd name="T14" fmla="*/ 0 w 964"/>
                <a:gd name="T15" fmla="*/ 0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964" h="1487">
                  <a:moveTo>
                    <a:pt x="0" y="0"/>
                  </a:moveTo>
                  <a:lnTo>
                    <a:pt x="0" y="1487"/>
                  </a:lnTo>
                  <a:lnTo>
                    <a:pt x="964" y="1487"/>
                  </a:lnTo>
                  <a:lnTo>
                    <a:pt x="964" y="1227"/>
                  </a:lnTo>
                  <a:lnTo>
                    <a:pt x="280" y="1227"/>
                  </a:lnTo>
                  <a:lnTo>
                    <a:pt x="28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A66AEB3A-19AD-FDFB-E196-3A2F869534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525" y="8792"/>
              <a:ext cx="1346" cy="1487"/>
            </a:xfrm>
            <a:custGeom>
              <a:avLst/>
              <a:gdLst>
                <a:gd name="T0" fmla="*/ 488 w 1346"/>
                <a:gd name="T1" fmla="*/ 0 h 1487"/>
                <a:gd name="T2" fmla="*/ 0 w 1346"/>
                <a:gd name="T3" fmla="*/ 1487 h 1487"/>
                <a:gd name="T4" fmla="*/ 296 w 1346"/>
                <a:gd name="T5" fmla="*/ 1487 h 1487"/>
                <a:gd name="T6" fmla="*/ 397 w 1346"/>
                <a:gd name="T7" fmla="*/ 1160 h 1487"/>
                <a:gd name="T8" fmla="*/ 950 w 1346"/>
                <a:gd name="T9" fmla="*/ 1160 h 1487"/>
                <a:gd name="T10" fmla="*/ 1050 w 1346"/>
                <a:gd name="T11" fmla="*/ 1487 h 1487"/>
                <a:gd name="T12" fmla="*/ 1346 w 1346"/>
                <a:gd name="T13" fmla="*/ 1487 h 1487"/>
                <a:gd name="T14" fmla="*/ 858 w 1346"/>
                <a:gd name="T15" fmla="*/ 0 h 1487"/>
                <a:gd name="T16" fmla="*/ 488 w 1346"/>
                <a:gd name="T17" fmla="*/ 0 h 1487"/>
                <a:gd name="T18" fmla="*/ 488 w 1346"/>
                <a:gd name="T19" fmla="*/ 0 h 1487"/>
                <a:gd name="T20" fmla="*/ 674 w 1346"/>
                <a:gd name="T21" fmla="*/ 264 h 1487"/>
                <a:gd name="T22" fmla="*/ 875 w 1346"/>
                <a:gd name="T23" fmla="*/ 920 h 1487"/>
                <a:gd name="T24" fmla="*/ 470 w 1346"/>
                <a:gd name="T25" fmla="*/ 920 h 1487"/>
                <a:gd name="T26" fmla="*/ 674 w 1346"/>
                <a:gd name="T27" fmla="*/ 264 h 1487"/>
                <a:gd name="T28" fmla="*/ 674 w 1346"/>
                <a:gd name="T29" fmla="*/ 264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346" h="1487">
                  <a:moveTo>
                    <a:pt x="488" y="0"/>
                  </a:moveTo>
                  <a:lnTo>
                    <a:pt x="0" y="1487"/>
                  </a:lnTo>
                  <a:lnTo>
                    <a:pt x="296" y="1487"/>
                  </a:lnTo>
                  <a:lnTo>
                    <a:pt x="397" y="1160"/>
                  </a:lnTo>
                  <a:lnTo>
                    <a:pt x="950" y="1160"/>
                  </a:lnTo>
                  <a:lnTo>
                    <a:pt x="1050" y="1487"/>
                  </a:lnTo>
                  <a:lnTo>
                    <a:pt x="1346" y="1487"/>
                  </a:lnTo>
                  <a:lnTo>
                    <a:pt x="858" y="0"/>
                  </a:lnTo>
                  <a:lnTo>
                    <a:pt x="488" y="0"/>
                  </a:lnTo>
                  <a:lnTo>
                    <a:pt x="488" y="0"/>
                  </a:lnTo>
                  <a:close/>
                  <a:moveTo>
                    <a:pt x="674" y="264"/>
                  </a:moveTo>
                  <a:lnTo>
                    <a:pt x="875" y="920"/>
                  </a:lnTo>
                  <a:lnTo>
                    <a:pt x="470" y="920"/>
                  </a:lnTo>
                  <a:lnTo>
                    <a:pt x="674" y="264"/>
                  </a:lnTo>
                  <a:lnTo>
                    <a:pt x="674" y="26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4DF53D1-90F8-4D66-1194-252B5889404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989" y="8792"/>
              <a:ext cx="976" cy="1487"/>
            </a:xfrm>
            <a:custGeom>
              <a:avLst/>
              <a:gdLst>
                <a:gd name="T0" fmla="*/ 0 w 976"/>
                <a:gd name="T1" fmla="*/ 0 h 1487"/>
                <a:gd name="T2" fmla="*/ 0 w 976"/>
                <a:gd name="T3" fmla="*/ 261 h 1487"/>
                <a:gd name="T4" fmla="*/ 347 w 976"/>
                <a:gd name="T5" fmla="*/ 261 h 1487"/>
                <a:gd name="T6" fmla="*/ 347 w 976"/>
                <a:gd name="T7" fmla="*/ 1227 h 1487"/>
                <a:gd name="T8" fmla="*/ 0 w 976"/>
                <a:gd name="T9" fmla="*/ 1227 h 1487"/>
                <a:gd name="T10" fmla="*/ 0 w 976"/>
                <a:gd name="T11" fmla="*/ 1487 h 1487"/>
                <a:gd name="T12" fmla="*/ 976 w 976"/>
                <a:gd name="T13" fmla="*/ 1487 h 1487"/>
                <a:gd name="T14" fmla="*/ 976 w 976"/>
                <a:gd name="T15" fmla="*/ 1227 h 1487"/>
                <a:gd name="T16" fmla="*/ 628 w 976"/>
                <a:gd name="T17" fmla="*/ 1227 h 1487"/>
                <a:gd name="T18" fmla="*/ 628 w 976"/>
                <a:gd name="T19" fmla="*/ 261 h 1487"/>
                <a:gd name="T20" fmla="*/ 976 w 976"/>
                <a:gd name="T21" fmla="*/ 261 h 1487"/>
                <a:gd name="T22" fmla="*/ 976 w 976"/>
                <a:gd name="T23" fmla="*/ 0 h 1487"/>
                <a:gd name="T24" fmla="*/ 0 w 976"/>
                <a:gd name="T25" fmla="*/ 0 h 1487"/>
                <a:gd name="T26" fmla="*/ 0 w 976"/>
                <a:gd name="T27" fmla="*/ 0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76" h="1487">
                  <a:moveTo>
                    <a:pt x="0" y="0"/>
                  </a:moveTo>
                  <a:lnTo>
                    <a:pt x="0" y="261"/>
                  </a:lnTo>
                  <a:lnTo>
                    <a:pt x="347" y="261"/>
                  </a:lnTo>
                  <a:lnTo>
                    <a:pt x="347" y="1227"/>
                  </a:lnTo>
                  <a:lnTo>
                    <a:pt x="0" y="1227"/>
                  </a:lnTo>
                  <a:lnTo>
                    <a:pt x="0" y="1487"/>
                  </a:lnTo>
                  <a:lnTo>
                    <a:pt x="976" y="1487"/>
                  </a:lnTo>
                  <a:lnTo>
                    <a:pt x="976" y="1227"/>
                  </a:lnTo>
                  <a:lnTo>
                    <a:pt x="628" y="1227"/>
                  </a:lnTo>
                  <a:lnTo>
                    <a:pt x="628" y="261"/>
                  </a:lnTo>
                  <a:lnTo>
                    <a:pt x="976" y="261"/>
                  </a:lnTo>
                  <a:lnTo>
                    <a:pt x="97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3F5DA096-5291-A2DF-1BA8-D4CE73D939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246" y="8792"/>
              <a:ext cx="1155" cy="1487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03788404-0623-D7AB-430D-C7451DD8576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586" y="8792"/>
              <a:ext cx="962" cy="1487"/>
            </a:xfrm>
            <a:custGeom>
              <a:avLst/>
              <a:gdLst>
                <a:gd name="T0" fmla="*/ 0 w 962"/>
                <a:gd name="T1" fmla="*/ 0 h 1487"/>
                <a:gd name="T2" fmla="*/ 0 w 962"/>
                <a:gd name="T3" fmla="*/ 1487 h 1487"/>
                <a:gd name="T4" fmla="*/ 962 w 962"/>
                <a:gd name="T5" fmla="*/ 1487 h 1487"/>
                <a:gd name="T6" fmla="*/ 962 w 962"/>
                <a:gd name="T7" fmla="*/ 1227 h 1487"/>
                <a:gd name="T8" fmla="*/ 281 w 962"/>
                <a:gd name="T9" fmla="*/ 1227 h 1487"/>
                <a:gd name="T10" fmla="*/ 281 w 962"/>
                <a:gd name="T11" fmla="*/ 855 h 1487"/>
                <a:gd name="T12" fmla="*/ 903 w 962"/>
                <a:gd name="T13" fmla="*/ 855 h 1487"/>
                <a:gd name="T14" fmla="*/ 903 w 962"/>
                <a:gd name="T15" fmla="*/ 603 h 1487"/>
                <a:gd name="T16" fmla="*/ 281 w 962"/>
                <a:gd name="T17" fmla="*/ 603 h 1487"/>
                <a:gd name="T18" fmla="*/ 281 w 962"/>
                <a:gd name="T19" fmla="*/ 261 h 1487"/>
                <a:gd name="T20" fmla="*/ 962 w 962"/>
                <a:gd name="T21" fmla="*/ 261 h 1487"/>
                <a:gd name="T22" fmla="*/ 962 w 962"/>
                <a:gd name="T23" fmla="*/ 0 h 1487"/>
                <a:gd name="T24" fmla="*/ 0 w 962"/>
                <a:gd name="T25" fmla="*/ 0 h 1487"/>
                <a:gd name="T26" fmla="*/ 0 w 962"/>
                <a:gd name="T27" fmla="*/ 0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62" h="1487">
                  <a:moveTo>
                    <a:pt x="0" y="0"/>
                  </a:moveTo>
                  <a:lnTo>
                    <a:pt x="0" y="1487"/>
                  </a:lnTo>
                  <a:lnTo>
                    <a:pt x="962" y="1487"/>
                  </a:lnTo>
                  <a:lnTo>
                    <a:pt x="962" y="1227"/>
                  </a:lnTo>
                  <a:lnTo>
                    <a:pt x="281" y="1227"/>
                  </a:lnTo>
                  <a:lnTo>
                    <a:pt x="281" y="855"/>
                  </a:lnTo>
                  <a:lnTo>
                    <a:pt x="903" y="855"/>
                  </a:lnTo>
                  <a:lnTo>
                    <a:pt x="903" y="603"/>
                  </a:lnTo>
                  <a:lnTo>
                    <a:pt x="281" y="603"/>
                  </a:lnTo>
                  <a:lnTo>
                    <a:pt x="281" y="261"/>
                  </a:lnTo>
                  <a:lnTo>
                    <a:pt x="962" y="261"/>
                  </a:lnTo>
                  <a:lnTo>
                    <a:pt x="96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25BE06B1-DA44-6343-3BC4-0121CD60777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30" y="8792"/>
              <a:ext cx="1065" cy="1487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FCC7591-2A02-9882-D609-263757CD53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705" y="8792"/>
              <a:ext cx="1509" cy="1487"/>
            </a:xfrm>
            <a:custGeom>
              <a:avLst/>
              <a:gdLst>
                <a:gd name="T0" fmla="*/ 1110 w 1509"/>
                <a:gd name="T1" fmla="*/ 0 h 1487"/>
                <a:gd name="T2" fmla="*/ 755 w 1509"/>
                <a:gd name="T3" fmla="*/ 874 h 1487"/>
                <a:gd name="T4" fmla="*/ 401 w 1509"/>
                <a:gd name="T5" fmla="*/ 0 h 1487"/>
                <a:gd name="T6" fmla="*/ 0 w 1509"/>
                <a:gd name="T7" fmla="*/ 0 h 1487"/>
                <a:gd name="T8" fmla="*/ 0 w 1509"/>
                <a:gd name="T9" fmla="*/ 1487 h 1487"/>
                <a:gd name="T10" fmla="*/ 267 w 1509"/>
                <a:gd name="T11" fmla="*/ 1487 h 1487"/>
                <a:gd name="T12" fmla="*/ 267 w 1509"/>
                <a:gd name="T13" fmla="*/ 376 h 1487"/>
                <a:gd name="T14" fmla="*/ 607 w 1509"/>
                <a:gd name="T15" fmla="*/ 1160 h 1487"/>
                <a:gd name="T16" fmla="*/ 622 w 1509"/>
                <a:gd name="T17" fmla="*/ 1160 h 1487"/>
                <a:gd name="T18" fmla="*/ 888 w 1509"/>
                <a:gd name="T19" fmla="*/ 1160 h 1487"/>
                <a:gd name="T20" fmla="*/ 903 w 1509"/>
                <a:gd name="T21" fmla="*/ 1160 h 1487"/>
                <a:gd name="T22" fmla="*/ 1243 w 1509"/>
                <a:gd name="T23" fmla="*/ 376 h 1487"/>
                <a:gd name="T24" fmla="*/ 1243 w 1509"/>
                <a:gd name="T25" fmla="*/ 1487 h 1487"/>
                <a:gd name="T26" fmla="*/ 1509 w 1509"/>
                <a:gd name="T27" fmla="*/ 1487 h 1487"/>
                <a:gd name="T28" fmla="*/ 1509 w 1509"/>
                <a:gd name="T29" fmla="*/ 0 h 1487"/>
                <a:gd name="T30" fmla="*/ 1110 w 1509"/>
                <a:gd name="T31" fmla="*/ 0 h 1487"/>
                <a:gd name="T32" fmla="*/ 1110 w 1509"/>
                <a:gd name="T33" fmla="*/ 0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509" h="1487">
                  <a:moveTo>
                    <a:pt x="1110" y="0"/>
                  </a:moveTo>
                  <a:lnTo>
                    <a:pt x="755" y="874"/>
                  </a:lnTo>
                  <a:lnTo>
                    <a:pt x="401" y="0"/>
                  </a:lnTo>
                  <a:lnTo>
                    <a:pt x="0" y="0"/>
                  </a:lnTo>
                  <a:lnTo>
                    <a:pt x="0" y="1487"/>
                  </a:lnTo>
                  <a:lnTo>
                    <a:pt x="267" y="1487"/>
                  </a:lnTo>
                  <a:lnTo>
                    <a:pt x="267" y="376"/>
                  </a:lnTo>
                  <a:lnTo>
                    <a:pt x="607" y="1160"/>
                  </a:lnTo>
                  <a:lnTo>
                    <a:pt x="622" y="1160"/>
                  </a:lnTo>
                  <a:lnTo>
                    <a:pt x="888" y="1160"/>
                  </a:lnTo>
                  <a:lnTo>
                    <a:pt x="903" y="1160"/>
                  </a:lnTo>
                  <a:lnTo>
                    <a:pt x="1243" y="376"/>
                  </a:lnTo>
                  <a:lnTo>
                    <a:pt x="1243" y="1487"/>
                  </a:lnTo>
                  <a:lnTo>
                    <a:pt x="1509" y="1487"/>
                  </a:lnTo>
                  <a:lnTo>
                    <a:pt x="1509" y="0"/>
                  </a:lnTo>
                  <a:lnTo>
                    <a:pt x="1110" y="0"/>
                  </a:lnTo>
                  <a:lnTo>
                    <a:pt x="111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3A09E968-58E1-1A1E-4EA6-8E6130280E0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8792"/>
              <a:ext cx="976" cy="1487"/>
            </a:xfrm>
            <a:custGeom>
              <a:avLst/>
              <a:gdLst>
                <a:gd name="T0" fmla="*/ 0 w 976"/>
                <a:gd name="T1" fmla="*/ 0 h 1487"/>
                <a:gd name="T2" fmla="*/ 0 w 976"/>
                <a:gd name="T3" fmla="*/ 261 h 1487"/>
                <a:gd name="T4" fmla="*/ 348 w 976"/>
                <a:gd name="T5" fmla="*/ 261 h 1487"/>
                <a:gd name="T6" fmla="*/ 348 w 976"/>
                <a:gd name="T7" fmla="*/ 1227 h 1487"/>
                <a:gd name="T8" fmla="*/ 0 w 976"/>
                <a:gd name="T9" fmla="*/ 1227 h 1487"/>
                <a:gd name="T10" fmla="*/ 0 w 976"/>
                <a:gd name="T11" fmla="*/ 1487 h 1487"/>
                <a:gd name="T12" fmla="*/ 976 w 976"/>
                <a:gd name="T13" fmla="*/ 1487 h 1487"/>
                <a:gd name="T14" fmla="*/ 976 w 976"/>
                <a:gd name="T15" fmla="*/ 1227 h 1487"/>
                <a:gd name="T16" fmla="*/ 629 w 976"/>
                <a:gd name="T17" fmla="*/ 1227 h 1487"/>
                <a:gd name="T18" fmla="*/ 629 w 976"/>
                <a:gd name="T19" fmla="*/ 261 h 1487"/>
                <a:gd name="T20" fmla="*/ 976 w 976"/>
                <a:gd name="T21" fmla="*/ 261 h 1487"/>
                <a:gd name="T22" fmla="*/ 976 w 976"/>
                <a:gd name="T23" fmla="*/ 0 h 1487"/>
                <a:gd name="T24" fmla="*/ 0 w 976"/>
                <a:gd name="T25" fmla="*/ 0 h 1487"/>
                <a:gd name="T26" fmla="*/ 0 w 976"/>
                <a:gd name="T27" fmla="*/ 0 h 1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76" h="1487">
                  <a:moveTo>
                    <a:pt x="0" y="0"/>
                  </a:moveTo>
                  <a:lnTo>
                    <a:pt x="0" y="261"/>
                  </a:lnTo>
                  <a:lnTo>
                    <a:pt x="348" y="261"/>
                  </a:lnTo>
                  <a:lnTo>
                    <a:pt x="348" y="1227"/>
                  </a:lnTo>
                  <a:lnTo>
                    <a:pt x="0" y="1227"/>
                  </a:lnTo>
                  <a:lnTo>
                    <a:pt x="0" y="1487"/>
                  </a:lnTo>
                  <a:lnTo>
                    <a:pt x="976" y="1487"/>
                  </a:lnTo>
                  <a:lnTo>
                    <a:pt x="976" y="1227"/>
                  </a:lnTo>
                  <a:lnTo>
                    <a:pt x="629" y="1227"/>
                  </a:lnTo>
                  <a:lnTo>
                    <a:pt x="629" y="261"/>
                  </a:lnTo>
                  <a:lnTo>
                    <a:pt x="976" y="261"/>
                  </a:lnTo>
                  <a:lnTo>
                    <a:pt x="97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noProof="0" dirty="0"/>
            </a:p>
          </p:txBody>
        </p: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B0F1BC1-E68D-0921-9C05-B7E16303C4E8}"/>
              </a:ext>
            </a:extLst>
          </p:cNvPr>
          <p:cNvCxnSpPr>
            <a:cxnSpLocks/>
          </p:cNvCxnSpPr>
          <p:nvPr userDrawn="1"/>
        </p:nvCxnSpPr>
        <p:spPr>
          <a:xfrm>
            <a:off x="790575" y="2030400"/>
            <a:ext cx="1980247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975747F-1017-4D31-5505-A8430B838C69}"/>
              </a:ext>
            </a:extLst>
          </p:cNvPr>
          <p:cNvCxnSpPr>
            <a:cxnSpLocks/>
          </p:cNvCxnSpPr>
          <p:nvPr userDrawn="1"/>
        </p:nvCxnSpPr>
        <p:spPr>
          <a:xfrm>
            <a:off x="790575" y="4453200"/>
            <a:ext cx="1980247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73FABCA-D867-B923-AEC5-2529DDAF191A}"/>
              </a:ext>
            </a:extLst>
          </p:cNvPr>
          <p:cNvCxnSpPr>
            <a:cxnSpLocks/>
          </p:cNvCxnSpPr>
          <p:nvPr userDrawn="1"/>
        </p:nvCxnSpPr>
        <p:spPr>
          <a:xfrm>
            <a:off x="14040000" y="2030400"/>
            <a:ext cx="0" cy="242280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0A522AD-270D-814A-95B1-9E0337444A84}"/>
              </a:ext>
            </a:extLst>
          </p:cNvPr>
          <p:cNvCxnSpPr>
            <a:cxnSpLocks/>
          </p:cNvCxnSpPr>
          <p:nvPr userDrawn="1"/>
        </p:nvCxnSpPr>
        <p:spPr>
          <a:xfrm>
            <a:off x="792000" y="28656000"/>
            <a:ext cx="19802475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transition>
    <p:fade/>
  </p:transition>
  <p:hf sldNum="0" hdr="0" dt="0"/>
  <p:txStyles>
    <p:titleStyle>
      <a:lvl1pPr algn="l" defTabSz="1202763" rtl="0" eaLnBrk="1" latinLnBrk="0" hangingPunct="1">
        <a:lnSpc>
          <a:spcPct val="90000"/>
        </a:lnSpc>
        <a:spcBef>
          <a:spcPct val="0"/>
        </a:spcBef>
        <a:buNone/>
        <a:defRPr sz="42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12027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027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600" b="0" i="0" kern="1200">
          <a:solidFill>
            <a:schemeClr val="tx1"/>
          </a:solidFill>
          <a:latin typeface="+mj-lt"/>
          <a:ea typeface="+mn-ea"/>
          <a:cs typeface="+mn-cs"/>
        </a:defRPr>
      </a:lvl2pPr>
      <a:lvl3pPr marL="360000" indent="-360000" algn="l" defTabSz="1202763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1202763" rtl="0" eaLnBrk="1" latinLnBrk="0" hangingPunct="1">
        <a:lnSpc>
          <a:spcPct val="105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1202763" rtl="0" eaLnBrk="1" latinLnBrk="0" hangingPunct="1">
        <a:lnSpc>
          <a:spcPct val="105000"/>
        </a:lnSpc>
        <a:spcBef>
          <a:spcPts val="0"/>
        </a:spcBef>
        <a:spcAft>
          <a:spcPts val="3969"/>
        </a:spcAft>
        <a:buFont typeface="Arial" panose="020B0604020202020204" pitchFamily="34" charset="0"/>
        <a:buNone/>
        <a:defRPr sz="42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1202763" rtl="0" eaLnBrk="1" latinLnBrk="0" hangingPunct="1">
        <a:lnSpc>
          <a:spcPct val="105000"/>
        </a:lnSpc>
        <a:spcBef>
          <a:spcPts val="0"/>
        </a:spcBef>
        <a:spcAft>
          <a:spcPts val="3969"/>
        </a:spcAft>
        <a:buFont typeface="Arial" panose="020B0604020202020204" pitchFamily="34" charset="0"/>
        <a:buNone/>
        <a:defRPr sz="4200" kern="1200">
          <a:solidFill>
            <a:schemeClr val="tx2"/>
          </a:solidFill>
          <a:latin typeface="+mj-lt"/>
          <a:ea typeface="Inter ExtraBold" panose="02000503000000020004" pitchFamily="2" charset="0"/>
          <a:cs typeface="+mn-cs"/>
        </a:defRPr>
      </a:lvl6pPr>
      <a:lvl7pPr marL="0" indent="0" algn="l" defTabSz="1202763" rtl="0" eaLnBrk="1" latinLnBrk="0" hangingPunct="1">
        <a:lnSpc>
          <a:spcPct val="85000"/>
        </a:lnSpc>
        <a:spcBef>
          <a:spcPts val="0"/>
        </a:spcBef>
        <a:buFont typeface="Arial" panose="020B0604020202020204" pitchFamily="34" charset="0"/>
        <a:buNone/>
        <a:defRPr sz="15000" kern="1200">
          <a:solidFill>
            <a:schemeClr val="tx2"/>
          </a:solidFill>
          <a:latin typeface="Imperial Sans Text Extrabold" panose="020B0903020202020204" pitchFamily="34" charset="0"/>
          <a:ea typeface="+mn-ea"/>
          <a:cs typeface="+mn-cs"/>
        </a:defRPr>
      </a:lvl7pPr>
      <a:lvl8pPr marL="4510361" indent="-300690" algn="l" defTabSz="1202763" rtl="0" eaLnBrk="1" latinLnBrk="0" hangingPunct="1">
        <a:lnSpc>
          <a:spcPct val="90000"/>
        </a:lnSpc>
        <a:spcBef>
          <a:spcPts val="658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111743" indent="-300690" algn="l" defTabSz="1202763" rtl="0" eaLnBrk="1" latinLnBrk="0" hangingPunct="1">
        <a:lnSpc>
          <a:spcPct val="90000"/>
        </a:lnSpc>
        <a:spcBef>
          <a:spcPts val="658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01381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02763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804144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405526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006907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608290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209670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4811053" algn="l" defTabSz="1202763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735" userDrawn="1">
          <p15:clr>
            <a:srgbClr val="F26B43"/>
          </p15:clr>
        </p15:guide>
        <p15:guide id="2" orient="horz" pos="9536" userDrawn="1">
          <p15:clr>
            <a:srgbClr val="F26B43"/>
          </p15:clr>
        </p15:guide>
        <p15:guide id="3" pos="498" userDrawn="1">
          <p15:clr>
            <a:srgbClr val="F26B43"/>
          </p15:clr>
        </p15:guide>
        <p15:guide id="4" pos="12972" userDrawn="1">
          <p15:clr>
            <a:srgbClr val="F26B43"/>
          </p15:clr>
        </p15:guide>
        <p15:guide id="5" orient="horz" pos="500" userDrawn="1">
          <p15:clr>
            <a:srgbClr val="F26B43"/>
          </p15:clr>
        </p15:guide>
        <p15:guide id="6" orient="horz" pos="18571" userDrawn="1">
          <p15:clr>
            <a:srgbClr val="F26B43"/>
          </p15:clr>
        </p15:guide>
        <p15:guide id="7" orient="horz" pos="17780" userDrawn="1">
          <p15:clr>
            <a:srgbClr val="F26B43"/>
          </p15:clr>
        </p15:guide>
        <p15:guide id="8" orient="horz" pos="3094" userDrawn="1">
          <p15:clr>
            <a:srgbClr val="F26B43"/>
          </p15:clr>
        </p15:guide>
        <p15:guide id="9" pos="8761" userDrawn="1">
          <p15:clr>
            <a:srgbClr val="F26B43"/>
          </p15:clr>
        </p15:guide>
        <p15:guide id="10" pos="8923" userDrawn="1">
          <p15:clr>
            <a:srgbClr val="F26B43"/>
          </p15:clr>
        </p15:guide>
        <p15:guide id="11" pos="4547" userDrawn="1">
          <p15:clr>
            <a:srgbClr val="F26B43"/>
          </p15:clr>
        </p15:guide>
        <p15:guide id="12" pos="47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D2B-A843-E289-E2DF-12B8939D0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C9687D8C-79C5-BF4D-BF81-6144D90C0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dirty="0"/>
              <a:t>The Science of Quantifying Innovation</a:t>
            </a:r>
            <a:br>
              <a:rPr lang="en-GB" dirty="0"/>
            </a:br>
            <a:r>
              <a:rPr lang="en-GB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CDEADC-3F47-1D06-E801-071FD19B0F1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1474046" y="28734798"/>
            <a:ext cx="9119003" cy="605999"/>
          </a:xfrm>
        </p:spPr>
        <p:txBody>
          <a:bodyPr/>
          <a:lstStyle/>
          <a:p>
            <a:r>
              <a:rPr lang="en-GB" dirty="0"/>
              <a:t>imperial.ac.uk</a:t>
            </a:r>
          </a:p>
        </p:txBody>
      </p:sp>
      <p:sp>
        <p:nvSpPr>
          <p:cNvPr id="20" name="Subtitle 19">
            <a:extLst>
              <a:ext uri="{FF2B5EF4-FFF2-40B4-BE49-F238E27FC236}">
                <a16:creationId xmlns:a16="http://schemas.microsoft.com/office/drawing/2014/main" id="{BBFC77CB-2AF4-49C8-4E19-CFEAE8ADB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Theoretical Physics Group</a:t>
            </a:r>
          </a:p>
          <a:p>
            <a:r>
              <a:rPr lang="en-GB" dirty="0"/>
              <a:t>Sid Diamond,</a:t>
            </a:r>
          </a:p>
          <a:p>
            <a:r>
              <a:rPr lang="en-GB" dirty="0"/>
              <a:t>Supervisor: Tim Evans,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 Placeholder 76">
                <a:extLst>
                  <a:ext uri="{FF2B5EF4-FFF2-40B4-BE49-F238E27FC236}">
                    <a16:creationId xmlns:a16="http://schemas.microsoft.com/office/drawing/2014/main" id="{19CD4B66-8497-A520-F2DA-98A1685120DD}"/>
                  </a:ext>
                </a:extLst>
              </p:cNvPr>
              <p:cNvSpPr>
                <a:spLocks noGrp="1"/>
              </p:cNvSpPr>
              <p:nvPr>
                <p:ph type="body" sz="quarter" idx="20"/>
              </p:nvPr>
            </p:nvSpPr>
            <p:spPr>
              <a:xfrm>
                <a:off x="7606505" y="22160892"/>
                <a:ext cx="12925176" cy="654420"/>
              </a:xfrm>
            </p:spPr>
            <p:txBody>
              <a:bodyPr/>
              <a:lstStyle/>
              <a:p>
                <a:r>
                  <a:rPr lang="en-GB" b="1" dirty="0"/>
                  <a:t>Figure 4. </a:t>
                </a:r>
                <a:r>
                  <a:rPr lang="en-GB" dirty="0"/>
                  <a:t> Log-binned citation count distributions for node types </a:t>
                </a:r>
                <a:r>
                  <a:rPr lang="en-GB" i="1" dirty="0"/>
                  <a:t>a</a:t>
                </a:r>
                <a:r>
                  <a:rPr lang="en-GB" dirty="0"/>
                  <a:t> and </a:t>
                </a:r>
                <a:r>
                  <a:rPr lang="en-GB" i="1" dirty="0"/>
                  <a:t>b</a:t>
                </a:r>
                <a:r>
                  <a:rPr lang="en-GB" dirty="0"/>
                  <a:t> in a directed acyclic homophilic network. Empirical probabilities are computed using logarithmic binning with binning factor 1.01; bin centres are given by the geometric mean.</a:t>
                </a:r>
                <a:r>
                  <a:rPr lang="ar-AE" dirty="0"/>
                  <a:t> </a:t>
                </a:r>
                <a:r>
                  <a:rPr lang="en-GB" dirty="0"/>
                  <a:t>The </a:t>
                </a:r>
                <a14:m>
                  <m:oMath xmlns:m="http://schemas.openxmlformats.org/officeDocument/2006/math">
                    <m:r>
                      <a:rPr lang="en-GB" i="1"/>
                      <m:t>𝑘</m:t>
                    </m:r>
                    <m:r>
                      <a:rPr lang="en-GB"/>
                      <m:t>=</m:t>
                    </m:r>
                    <m:r>
                      <a:rPr lang="en-GB"/>
                      <m:t>0</m:t>
                    </m:r>
                  </m:oMath>
                </a14:m>
                <a:r>
                  <a:rPr lang="en-GB" dirty="0"/>
                  <a:t> mass is shown separately. The x-axis is displayed on a symmetric logarithmic scale (linear for </a:t>
                </a:r>
                <a14:m>
                  <m:oMath xmlns:m="http://schemas.openxmlformats.org/officeDocument/2006/math">
                    <m:r>
                      <a:rPr lang="en-GB"/>
                      <m:t>∣</m:t>
                    </m:r>
                    <m:r>
                      <a:rPr lang="en-GB" i="1"/>
                      <m:t>𝑘</m:t>
                    </m:r>
                    <m:r>
                      <a:rPr lang="en-GB"/>
                      <m:t>∣&lt;</m:t>
                    </m:r>
                    <m:r>
                      <a:rPr lang="en-GB"/>
                      <m:t>0</m:t>
                    </m:r>
                    <m:r>
                      <a:rPr lang="en-GB"/>
                      <m:t>.</m:t>
                    </m:r>
                    <m:r>
                      <a:rPr lang="en-GB"/>
                      <m:t>1</m:t>
                    </m:r>
                  </m:oMath>
                </a14:m>
                <a:r>
                  <a:rPr lang="en-GB" dirty="0"/>
                  <a:t>, logarithmic otherwise), while the y-axis is logarithmic. Overlaid curves show the corresponding theoretical distributions. Network parameters: </a:t>
                </a:r>
                <a14:m>
                  <m:oMath xmlns:m="http://schemas.openxmlformats.org/officeDocument/2006/math">
                    <m:r>
                      <a:rPr lang="en-GB" i="1"/>
                      <m:t>𝑁</m:t>
                    </m:r>
                    <m:r>
                      <a:rPr lang="en-GB"/>
                      <m:t>=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𝑛</m:t>
                        </m:r>
                      </m:e>
                      <m:sub>
                        <m:r>
                          <a:rPr lang="ar-AE"/>
                          <m:t>0</m:t>
                        </m:r>
                      </m:sub>
                    </m:sSub>
                    <m:r>
                      <a:rPr lang="ar-AE"/>
                      <m:t>+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/>
                          <m:t>𝑛</m:t>
                        </m:r>
                      </m:e>
                      <m:sub>
                        <m:r>
                          <a:rPr lang="ar-AE"/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en-GB" i="1"/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dirty="0"/>
                  <a:t>,  </a:t>
                </a:r>
                <a14:m>
                  <m:oMath xmlns:m="http://schemas.openxmlformats.org/officeDocument/2006/math">
                    <m:r>
                      <a:rPr lang="en-GB" i="1"/>
                      <m:t>h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GB" dirty="0"/>
                  <a:t>, and type fraction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𝑓</m:t>
                        </m:r>
                      </m:e>
                      <m:sub>
                        <m:r>
                          <a:rPr lang="ar-AE" i="1"/>
                          <m:t>𝑎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77" name="Text Placeholder 76">
                <a:extLst>
                  <a:ext uri="{FF2B5EF4-FFF2-40B4-BE49-F238E27FC236}">
                    <a16:creationId xmlns:a16="http://schemas.microsoft.com/office/drawing/2014/main" id="{19CD4B66-8497-A520-F2DA-98A1685120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20"/>
              </p:nvPr>
            </p:nvSpPr>
            <p:spPr>
              <a:xfrm>
                <a:off x="7606505" y="22160892"/>
                <a:ext cx="12925176" cy="654420"/>
              </a:xfrm>
              <a:blipFill>
                <a:blip r:embed="rId2"/>
                <a:stretch>
                  <a:fillRect l="-613" t="-55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E391FF0-D570-608E-FA18-8BC90B1AD711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45" b="21845"/>
          <a:stretch>
            <a:fillRect/>
          </a:stretch>
        </p:blipFill>
        <p:spPr>
          <a:xfrm>
            <a:off x="14182453" y="5415082"/>
            <a:ext cx="4756913" cy="267918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9C5B59EC-F2D3-3060-2BD0-E3219684AA1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0576" y="4694952"/>
            <a:ext cx="6427788" cy="11573747"/>
          </a:xfrm>
        </p:spPr>
        <p:txBody>
          <a:bodyPr/>
          <a:lstStyle/>
          <a:p>
            <a:r>
              <a:rPr lang="en-GB" sz="4200" b="1" dirty="0">
                <a:solidFill>
                  <a:schemeClr val="tx2"/>
                </a:solidFill>
              </a:rPr>
              <a:t>Background</a:t>
            </a:r>
            <a:br>
              <a:rPr lang="en-GB" dirty="0"/>
            </a:br>
            <a:endParaRPr lang="en-GB" dirty="0"/>
          </a:p>
          <a:p>
            <a:pPr algn="just"/>
            <a:r>
              <a:rPr lang="en-GB" dirty="0"/>
              <a:t>How likely is it that a string theory paper receives 100 citations? How does this likelihood change if the researcher is female or otherwise? How does  </a:t>
            </a:r>
            <a:r>
              <a:rPr lang="en-GB" dirty="0" err="1"/>
              <a:t>pWhat</a:t>
            </a:r>
            <a:r>
              <a:rPr lang="en-GB" dirty="0"/>
              <a:t> if the paper is written in  English or otherwise? Predictive insight into a network’s topology allow us to locate how and where inefficiencies and non-level playing </a:t>
            </a:r>
            <a:r>
              <a:rPr lang="en-GB"/>
              <a:t>fields manifest. </a:t>
            </a:r>
            <a:r>
              <a:rPr lang="en-GB" dirty="0"/>
              <a:t>What can this tell us about how we quantify innovation?</a:t>
            </a:r>
          </a:p>
          <a:p>
            <a:pPr algn="just"/>
            <a:endParaRPr lang="en-GB" dirty="0"/>
          </a:p>
          <a:p>
            <a:pPr algn="just"/>
            <a:r>
              <a:rPr lang="en-GB" dirty="0"/>
              <a:t>We derive a new equation for the probability that a node of a given type has a given citation count by adapting the Price model [1] for a homophilic directed acyclic graph (DAG). Using an asymptotic convergence approximation, our result is a distribution modelled by Beta functions (1) that, under Sterling’s approximation, becomes the literature convention, and in our case less accurate, power law distribution. </a:t>
            </a:r>
          </a:p>
          <a:p>
            <a:pPr algn="just"/>
            <a:endParaRPr lang="en-GB" dirty="0"/>
          </a:p>
          <a:p>
            <a:pPr algn="just"/>
            <a:r>
              <a:rPr lang="en-GB" dirty="0"/>
              <a:t>We also provide a new statistical recipe for the goodness of fit (</a:t>
            </a:r>
            <a:r>
              <a:rPr lang="en-GB" dirty="0" err="1"/>
              <a:t>G.o.F</a:t>
            </a:r>
            <a:r>
              <a:rPr lang="en-GB" dirty="0"/>
              <a:t>) of our result that accounts for the challenging statistics of our simulated networks.</a:t>
            </a:r>
          </a:p>
          <a:p>
            <a:endParaRPr lang="en-GB" dirty="0"/>
          </a:p>
        </p:txBody>
      </p:sp>
      <p:sp>
        <p:nvSpPr>
          <p:cNvPr id="82" name="Text Placeholder 81">
            <a:extLst>
              <a:ext uri="{FF2B5EF4-FFF2-40B4-BE49-F238E27FC236}">
                <a16:creationId xmlns:a16="http://schemas.microsoft.com/office/drawing/2014/main" id="{49A48DAE-563C-CEAA-AA7B-DF7159D4620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06504" y="25421566"/>
            <a:ext cx="6678819" cy="3463750"/>
          </a:xfrm>
        </p:spPr>
        <p:txBody>
          <a:bodyPr/>
          <a:lstStyle/>
          <a:p>
            <a:pPr lvl="6"/>
            <a:r>
              <a:rPr lang="en-GB" sz="12000" dirty="0"/>
              <a:t>82%</a:t>
            </a:r>
          </a:p>
          <a:p>
            <a:pPr algn="just"/>
            <a:r>
              <a:rPr lang="en-GB" dirty="0"/>
              <a:t>of the papers in our model are predicted to have between 0 and 3 citations. Due to finite size effects in our model impacting high degree nodes, equation (1) performs well here. </a:t>
            </a:r>
          </a:p>
        </p:txBody>
      </p:sp>
      <p:sp>
        <p:nvSpPr>
          <p:cNvPr id="83" name="Text Placeholder 82">
            <a:extLst>
              <a:ext uri="{FF2B5EF4-FFF2-40B4-BE49-F238E27FC236}">
                <a16:creationId xmlns:a16="http://schemas.microsoft.com/office/drawing/2014/main" id="{1B759BEF-A493-B315-EFC4-7D63FCFF09B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4584209" y="25396966"/>
            <a:ext cx="6244639" cy="3188686"/>
          </a:xfrm>
        </p:spPr>
        <p:txBody>
          <a:bodyPr/>
          <a:lstStyle/>
          <a:p>
            <a:pPr lvl="5" algn="just"/>
            <a:r>
              <a:rPr lang="en-GB" b="1" dirty="0">
                <a:latin typeface="+mn-lt"/>
              </a:rPr>
              <a:t>Next Steps</a:t>
            </a:r>
          </a:p>
          <a:p>
            <a:pPr lvl="5" algn="just"/>
            <a:r>
              <a:rPr lang="en-US" sz="2600" dirty="0">
                <a:solidFill>
                  <a:schemeClr val="tx1"/>
                </a:solidFill>
                <a:latin typeface="+mn-lt"/>
              </a:rPr>
              <a:t>Now that we have both the theory and the </a:t>
            </a:r>
            <a:r>
              <a:rPr lang="en-US" sz="2600" dirty="0" err="1">
                <a:solidFill>
                  <a:schemeClr val="tx1"/>
                </a:solidFill>
                <a:latin typeface="+mn-lt"/>
              </a:rPr>
              <a:t>G.o.F</a:t>
            </a:r>
            <a:r>
              <a:rPr lang="en-US" sz="2600" dirty="0">
                <a:solidFill>
                  <a:schemeClr val="tx1"/>
                </a:solidFill>
                <a:latin typeface="+mn-lt"/>
              </a:rPr>
              <a:t> test, our current work explores how applying this analysis to real patent‑citation databases can improve our understanding of the innovation process.</a:t>
            </a:r>
            <a:endParaRPr lang="en-GB" sz="2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8" name="Content Placeholder 26">
            <a:extLst>
              <a:ext uri="{FF2B5EF4-FFF2-40B4-BE49-F238E27FC236}">
                <a16:creationId xmlns:a16="http://schemas.microsoft.com/office/drawing/2014/main" id="{9C879CC2-5D2F-701A-D1FC-7DAC7B7F3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967" y="5176959"/>
            <a:ext cx="6438755" cy="236844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B33CAB5-F7FA-B3B7-D0F2-C9296999A933}"/>
              </a:ext>
            </a:extLst>
          </p:cNvPr>
          <p:cNvSpPr txBox="1"/>
          <p:nvPr/>
        </p:nvSpPr>
        <p:spPr>
          <a:xfrm>
            <a:off x="14182453" y="9019626"/>
            <a:ext cx="655875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600" dirty="0"/>
              <a:t>A citation between two papers is constrained to pointing backwards in time. A newer paper cites a preexisting one. By representing, as nodes, all the papers and representing, as directed edges, all the citations in a database, we can construct a Directed Acyclic Graph (DAG) representation of our network.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90E17E1-9135-60E4-5903-0691F9E31772}"/>
                  </a:ext>
                </a:extLst>
              </p:cNvPr>
              <p:cNvSpPr txBox="1"/>
              <p:nvPr/>
            </p:nvSpPr>
            <p:spPr>
              <a:xfrm>
                <a:off x="13075429" y="15035417"/>
                <a:ext cx="7517620" cy="16953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/>
                <a:endParaRPr lang="en-GB" sz="2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GB" sz="26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timestep</m:t>
                      </m:r>
                      <m:r>
                        <a:rPr lang="en-GB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latin typeface="Cambria Math" panose="02040503050406030204" pitchFamily="18" charset="0"/>
                        </a:rPr>
                        <m:t>overall</m:t>
                      </m:r>
                      <m:r>
                        <a:rPr lang="en-GB" sz="2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number</m:t>
                      </m:r>
                      <m:r>
                        <a:rPr lang="en-GB" sz="26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GB" sz="26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papers</m:t>
                      </m:r>
                    </m:oMath>
                  </m:oMathPara>
                </a14:m>
                <a:endParaRPr lang="en-GB" sz="2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xx</m:t>
                          </m:r>
                        </m:sub>
                      </m:sSub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sSup>
                            <m:sSupPr>
                              <m:ctrlPr>
                                <a:rPr lang="en-GB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GB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GB" sz="2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GB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p>
                              <m:r>
                                <a:rPr lang="en-GB" sz="26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across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type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weight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attraction</m:t>
                      </m:r>
                    </m:oMath>
                  </m:oMathPara>
                </a14:m>
                <a:endParaRPr lang="en-GB" sz="2600" dirty="0"/>
              </a:p>
              <a:p>
                <a:pPr/>
                <a:endParaRPr lang="en-GB" sz="26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90E17E1-9135-60E4-5903-0691F9E31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5429" y="15035417"/>
                <a:ext cx="7517620" cy="1695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TextBox 61">
            <a:extLst>
              <a:ext uri="{FF2B5EF4-FFF2-40B4-BE49-F238E27FC236}">
                <a16:creationId xmlns:a16="http://schemas.microsoft.com/office/drawing/2014/main" id="{7FA4A0EE-31C7-E588-8131-10AC1C1F59D9}"/>
              </a:ext>
            </a:extLst>
          </p:cNvPr>
          <p:cNvSpPr txBox="1"/>
          <p:nvPr/>
        </p:nvSpPr>
        <p:spPr>
          <a:xfrm>
            <a:off x="7464967" y="7613674"/>
            <a:ext cx="6065976" cy="4176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sz="1000" b="1" dirty="0"/>
              <a:t>Fig 1:  </a:t>
            </a:r>
            <a:r>
              <a:rPr lang="en-GB" sz="1000" dirty="0"/>
              <a:t>Directed Acyclic Graph DAG diagram containing 6 nodes, labelled from one to six. Directed edges connect the nodes.  </a:t>
            </a:r>
            <a:endParaRPr lang="en-GB" sz="1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5E93596-9100-79A1-1E15-512FFA35E24F}"/>
                  </a:ext>
                </a:extLst>
              </p:cNvPr>
              <p:cNvSpPr txBox="1"/>
              <p:nvPr/>
            </p:nvSpPr>
            <p:spPr>
              <a:xfrm>
                <a:off x="7464967" y="11753749"/>
                <a:ext cx="6151631" cy="524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:r>
                  <a:rPr lang="en-GB" sz="1000" b="1" dirty="0"/>
                  <a:t>Fig 2: </a:t>
                </a:r>
                <a:r>
                  <a:rPr lang="en-GB" sz="1000" dirty="0"/>
                  <a:t>104  node artificial citation network represented by homophilic directed acyclic graph. Network parameters: </a:t>
                </a:r>
                <a14:m>
                  <m:oMath xmlns:m="http://schemas.openxmlformats.org/officeDocument/2006/math">
                    <m:r>
                      <a:rPr lang="en-GB" sz="10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1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1000" b="0" i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0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ar-AE" sz="1000" dirty="0"/>
                  <a:t>,</a:t>
                </a:r>
                <a14:m>
                  <m:oMath xmlns:m="http://schemas.openxmlformats.org/officeDocument/2006/math">
                    <m:r>
                      <a:rPr lang="en-GB" sz="1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GB" sz="1000" dirty="0"/>
                  <a:t>,  </a:t>
                </a:r>
                <a14:m>
                  <m:oMath xmlns:m="http://schemas.openxmlformats.org/officeDocument/2006/math">
                    <m:r>
                      <a:rPr lang="en-GB" sz="10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GB" sz="1000" dirty="0"/>
                  <a:t>, and type fraction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55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sz="1000" dirty="0"/>
                  <a:t> See theory section for parameter dictionary. .</a:t>
                </a:r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5E93596-9100-79A1-1E15-512FFA35E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967" y="11753749"/>
                <a:ext cx="6151631" cy="524825"/>
              </a:xfrm>
              <a:prstGeom prst="rect">
                <a:avLst/>
              </a:prstGeom>
              <a:blipFill>
                <a:blip r:embed="rId6"/>
                <a:stretch>
                  <a:fillRect l="-1288" t="-8140" b="-4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8A835D0-41A1-DFFE-A276-4103A3ACC766}"/>
                  </a:ext>
                </a:extLst>
              </p:cNvPr>
              <p:cNvSpPr txBox="1"/>
              <p:nvPr/>
            </p:nvSpPr>
            <p:spPr>
              <a:xfrm flipH="1">
                <a:off x="14182453" y="8354356"/>
                <a:ext cx="5873418" cy="5681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:r>
                  <a:rPr lang="en-GB" sz="1000" b="1" dirty="0"/>
                  <a:t>Fig 3</a:t>
                </a:r>
                <a:r>
                  <a:rPr lang="en-GB" sz="1000" dirty="0"/>
                  <a:t>: 20,000 node artificial citation network represented by homophilic directed acyclic graph. Network parameters: </a:t>
                </a:r>
                <a14:m>
                  <m:oMath xmlns:m="http://schemas.openxmlformats.org/officeDocument/2006/math">
                    <m:r>
                      <a:rPr lang="en-GB" sz="10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1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28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000</m:t>
                    </m:r>
                    <m:r>
                      <a:rPr lang="en-GB" sz="100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0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1000" dirty="0"/>
                  <a:t>, </a:t>
                </a:r>
                <a14:m>
                  <m:oMath xmlns:m="http://schemas.openxmlformats.org/officeDocument/2006/math">
                    <m:r>
                      <a:rPr lang="en-GB" sz="1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GB" sz="1000" dirty="0"/>
                  <a:t>,  </a:t>
                </a:r>
                <a14:m>
                  <m:oMath xmlns:m="http://schemas.openxmlformats.org/officeDocument/2006/math">
                    <m:r>
                      <a:rPr lang="en-GB" sz="100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GB" sz="1000" dirty="0"/>
                  <a:t>, and type fraction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55</m:t>
                    </m:r>
                    <m:r>
                      <a:rPr lang="en-GB" sz="10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sz="1000" dirty="0"/>
                  <a:t> See theory section for parameter dictionary. </a:t>
                </a:r>
                <a:endParaRPr lang="ar-AE" sz="10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8A835D0-41A1-DFFE-A276-4103A3ACC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182453" y="8354356"/>
                <a:ext cx="5873418" cy="568169"/>
              </a:xfrm>
              <a:prstGeom prst="rect">
                <a:avLst/>
              </a:prstGeom>
              <a:blipFill>
                <a:blip r:embed="rId7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TextBox 68">
            <a:extLst>
              <a:ext uri="{FF2B5EF4-FFF2-40B4-BE49-F238E27FC236}">
                <a16:creationId xmlns:a16="http://schemas.microsoft.com/office/drawing/2014/main" id="{1817F0A7-A884-8C01-056B-216A08ECFF41}"/>
              </a:ext>
            </a:extLst>
          </p:cNvPr>
          <p:cNvSpPr txBox="1"/>
          <p:nvPr/>
        </p:nvSpPr>
        <p:spPr>
          <a:xfrm>
            <a:off x="7536059" y="22679313"/>
            <a:ext cx="13292789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200" b="1" dirty="0">
                <a:solidFill>
                  <a:schemeClr val="tx2"/>
                </a:solidFill>
              </a:rPr>
              <a:t>Statistical Validation</a:t>
            </a:r>
          </a:p>
          <a:p>
            <a:endParaRPr lang="en-GB" sz="2600" dirty="0"/>
          </a:p>
          <a:p>
            <a:pPr algn="just"/>
            <a:r>
              <a:rPr lang="en-GB" sz="2600" dirty="0"/>
              <a:t>Nodes in citation networks are coupled. </a:t>
            </a:r>
            <a:r>
              <a:rPr lang="en-US" sz="2800" dirty="0"/>
              <a:t>Classical </a:t>
            </a:r>
            <a:r>
              <a:rPr lang="en-US" sz="2800" dirty="0" err="1"/>
              <a:t>G.o.F</a:t>
            </a:r>
            <a:r>
              <a:rPr lang="en-US" sz="2800" dirty="0"/>
              <a:t> tests rely on asymptotic null distributions derived under independence (or weak-dependence) assumptions. These assumptions are not satisfied in our network. </a:t>
            </a:r>
            <a:r>
              <a:rPr lang="en-GB" sz="2600" dirty="0"/>
              <a:t>In turn, we create a new numerical </a:t>
            </a:r>
            <a:r>
              <a:rPr lang="en-GB" sz="2600" dirty="0" err="1"/>
              <a:t>G.o.F.</a:t>
            </a:r>
            <a:r>
              <a:rPr lang="en-GB" sz="2600" dirty="0"/>
              <a:t> test designed for heavy tailed coupled distributions, valid for a variety of networks.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 Placeholder 76">
                <a:extLst>
                  <a:ext uri="{FF2B5EF4-FFF2-40B4-BE49-F238E27FC236}">
                    <a16:creationId xmlns:a16="http://schemas.microsoft.com/office/drawing/2014/main" id="{631ABDBD-DBE5-4FEA-6511-51F4D5BA70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19007" y="21533082"/>
                <a:ext cx="4373868" cy="1007421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000" b="0" i="0" kern="1200">
                    <a:solidFill>
                      <a:schemeClr val="tx1"/>
                    </a:solidFill>
                    <a:latin typeface="+mj-lt"/>
                    <a:ea typeface="+mn-ea"/>
                    <a:cs typeface="+mn-cs"/>
                  </a:defRPr>
                </a:lvl2pPr>
                <a:lvl3pPr marL="360000" indent="-36000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•"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3969"/>
                  </a:spcAft>
                  <a:buFont typeface="Arial" panose="020B0604020202020204" pitchFamily="34" charset="0"/>
                  <a:buNone/>
                  <a:defRPr sz="10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3969"/>
                  </a:spcAft>
                  <a:buFont typeface="Arial" panose="020B0604020202020204" pitchFamily="34" charset="0"/>
                  <a:buNone/>
                  <a:defRPr sz="4200" kern="1200">
                    <a:solidFill>
                      <a:schemeClr val="tx2"/>
                    </a:solidFill>
                    <a:latin typeface="+mj-lt"/>
                    <a:ea typeface="Inter ExtraBold" panose="02000503000000020004" pitchFamily="2" charset="0"/>
                    <a:cs typeface="+mn-cs"/>
                  </a:defRPr>
                </a:lvl6pPr>
                <a:lvl7pPr marL="0" indent="0" algn="l" defTabSz="1202763" rtl="0" eaLnBrk="1" latinLnBrk="0" hangingPunct="1">
                  <a:lnSpc>
                    <a:spcPct val="8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5000" kern="1200">
                    <a:solidFill>
                      <a:schemeClr val="tx2"/>
                    </a:solidFill>
                    <a:latin typeface="Imperial Sans Text Extrabold" panose="020B0903020202020204" pitchFamily="34" charset="0"/>
                    <a:ea typeface="+mn-ea"/>
                    <a:cs typeface="+mn-cs"/>
                  </a:defRPr>
                </a:lvl7pPr>
                <a:lvl8pPr marL="4510361" indent="-300690" algn="l" defTabSz="1202763" rtl="0" eaLnBrk="1" latinLnBrk="0" hangingPunct="1">
                  <a:lnSpc>
                    <a:spcPct val="90000"/>
                  </a:lnSpc>
                  <a:spcBef>
                    <a:spcPts val="658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5111743" indent="-300690" algn="l" defTabSz="1202763" rtl="0" eaLnBrk="1" latinLnBrk="0" hangingPunct="1">
                  <a:lnSpc>
                    <a:spcPct val="90000"/>
                  </a:lnSpc>
                  <a:spcBef>
                    <a:spcPts val="658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:r>
                  <a:rPr lang="en-GB" b="1" dirty="0"/>
                  <a:t>Figure 5.</a:t>
                </a:r>
                <a:r>
                  <a:rPr lang="en-GB" dirty="0"/>
                  <a:t> Fraction of total citations for which equation (1) passes our </a:t>
                </a:r>
                <a:r>
                  <a:rPr lang="en-GB" dirty="0" err="1"/>
                  <a:t>G.o.F.</a:t>
                </a:r>
                <a:r>
                  <a:rPr lang="en-GB" dirty="0"/>
                  <a:t> test, as a function of </a:t>
                </a:r>
                <a14:m>
                  <m:oMath xmlns:m="http://schemas.openxmlformats.org/officeDocument/2006/math">
                    <m:r>
                      <a:rPr lang="en-GB" i="1"/>
                      <m:t>𝑚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citations each paper makes,  (horizontal axis) and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mtClean="0"/>
                        </m:ctrlPr>
                      </m:sSubPr>
                      <m:e>
                        <m:r>
                          <a:rPr lang="ar-AE" i="1"/>
                          <m:t>𝑛</m:t>
                        </m:r>
                      </m:e>
                      <m:sub>
                        <m:r>
                          <a:rPr lang="ar-AE"/>
                          <m:t>0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initial nodes in our model, (vertical axis). The colour scale shows the fraction of edges retained, from 0 (dark) to 1 (bright yellow), where a value of 1 indicates that all edges in are within the regime where our </a:t>
                </a:r>
                <a:r>
                  <a:rPr lang="en-GB" dirty="0" err="1"/>
                  <a:t>G.o.F.</a:t>
                </a:r>
                <a:r>
                  <a:rPr lang="en-GB" dirty="0"/>
                  <a:t> test accepts the theoretical distribution at the chosen threshold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𝑃</m:t>
                        </m:r>
                      </m:e>
                      <m:sub>
                        <m:r>
                          <a:rPr lang="ar-AE" i="1"/>
                          <m:t>𝑐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  <a:r>
                  <a:rPr lang="en-GB" dirty="0"/>
                  <a:t> 10,000 nodes added.</a:t>
                </a:r>
              </a:p>
            </p:txBody>
          </p:sp>
        </mc:Choice>
        <mc:Fallback>
          <p:sp>
            <p:nvSpPr>
              <p:cNvPr id="71" name="Text Placeholder 76">
                <a:extLst>
                  <a:ext uri="{FF2B5EF4-FFF2-40B4-BE49-F238E27FC236}">
                    <a16:creationId xmlns:a16="http://schemas.microsoft.com/office/drawing/2014/main" id="{631ABDBD-DBE5-4FEA-6511-51F4D5BA7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007" y="21533082"/>
                <a:ext cx="4373868" cy="1007421"/>
              </a:xfrm>
              <a:prstGeom prst="rect">
                <a:avLst/>
              </a:prstGeom>
              <a:blipFill>
                <a:blip r:embed="rId8"/>
                <a:stretch>
                  <a:fillRect l="-1813" t="-3614" r="-1813" b="-18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 Placeholder 76">
                <a:extLst>
                  <a:ext uri="{FF2B5EF4-FFF2-40B4-BE49-F238E27FC236}">
                    <a16:creationId xmlns:a16="http://schemas.microsoft.com/office/drawing/2014/main" id="{4128A7C7-C9CF-640E-2146-E39DE97974C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54385" y="27705062"/>
                <a:ext cx="4303111" cy="1027441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000" b="0" i="0" kern="1200">
                    <a:solidFill>
                      <a:schemeClr val="tx1"/>
                    </a:solidFill>
                    <a:latin typeface="+mj-lt"/>
                    <a:ea typeface="+mn-ea"/>
                    <a:cs typeface="+mn-cs"/>
                  </a:defRPr>
                </a:lvl2pPr>
                <a:lvl3pPr marL="360000" indent="-36000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buClr>
                    <a:schemeClr val="accent1"/>
                  </a:buClr>
                  <a:buFont typeface="Arial" panose="020B0604020202020204" pitchFamily="34" charset="0"/>
                  <a:buChar char="•"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3969"/>
                  </a:spcAft>
                  <a:buFont typeface="Arial" panose="020B0604020202020204" pitchFamily="34" charset="0"/>
                  <a:buNone/>
                  <a:defRPr sz="10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1202763" rtl="0" eaLnBrk="1" latinLnBrk="0" hangingPunct="1">
                  <a:lnSpc>
                    <a:spcPct val="105000"/>
                  </a:lnSpc>
                  <a:spcBef>
                    <a:spcPts val="0"/>
                  </a:spcBef>
                  <a:spcAft>
                    <a:spcPts val="3969"/>
                  </a:spcAft>
                  <a:buFont typeface="Arial" panose="020B0604020202020204" pitchFamily="34" charset="0"/>
                  <a:buNone/>
                  <a:defRPr sz="4200" kern="1200">
                    <a:solidFill>
                      <a:schemeClr val="tx2"/>
                    </a:solidFill>
                    <a:latin typeface="+mj-lt"/>
                    <a:ea typeface="Inter ExtraBold" panose="02000503000000020004" pitchFamily="2" charset="0"/>
                    <a:cs typeface="+mn-cs"/>
                  </a:defRPr>
                </a:lvl6pPr>
                <a:lvl7pPr marL="0" indent="0" algn="l" defTabSz="1202763" rtl="0" eaLnBrk="1" latinLnBrk="0" hangingPunct="1">
                  <a:lnSpc>
                    <a:spcPct val="85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sz="15000" kern="1200">
                    <a:solidFill>
                      <a:schemeClr val="tx2"/>
                    </a:solidFill>
                    <a:latin typeface="Imperial Sans Text Extrabold" panose="020B0903020202020204" pitchFamily="34" charset="0"/>
                    <a:ea typeface="+mn-ea"/>
                    <a:cs typeface="+mn-cs"/>
                  </a:defRPr>
                </a:lvl7pPr>
                <a:lvl8pPr marL="4510361" indent="-300690" algn="l" defTabSz="1202763" rtl="0" eaLnBrk="1" latinLnBrk="0" hangingPunct="1">
                  <a:lnSpc>
                    <a:spcPct val="90000"/>
                  </a:lnSpc>
                  <a:spcBef>
                    <a:spcPts val="658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5111743" indent="-300690" algn="l" defTabSz="1202763" rtl="0" eaLnBrk="1" latinLnBrk="0" hangingPunct="1">
                  <a:lnSpc>
                    <a:spcPct val="90000"/>
                  </a:lnSpc>
                  <a:spcBef>
                    <a:spcPts val="658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:r>
                  <a:rPr lang="en-GB" b="1" dirty="0"/>
                  <a:t>Figure 6.</a:t>
                </a:r>
                <a:r>
                  <a:rPr lang="en-GB" dirty="0"/>
                  <a:t> Fraction of nodes for which  equation (1) passes our </a:t>
                </a:r>
                <a:r>
                  <a:rPr lang="en-GB" dirty="0" err="1"/>
                  <a:t>G.o.F.</a:t>
                </a:r>
                <a:r>
                  <a:rPr lang="en-GB" dirty="0"/>
                  <a:t> test, as a function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citations each paper makes,  (horizontal axis) and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 initial papers in our model, (vertical axis). The colour scale shows the fraction of nodes retained, from 0 (dark) to 1 (bright yellow), where a value of 1 indicates that all edges in are within the regime where our </a:t>
                </a:r>
                <a:r>
                  <a:rPr lang="en-GB" dirty="0" err="1"/>
                  <a:t>G.o.F.</a:t>
                </a:r>
                <a:r>
                  <a:rPr lang="en-GB" dirty="0"/>
                  <a:t> test accepts the theoretical distribution at the chosen threshold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  <a:r>
                  <a:rPr lang="en-GB" dirty="0"/>
                  <a:t> 10,000 nodes added.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74" name="Text Placeholder 76">
                <a:extLst>
                  <a:ext uri="{FF2B5EF4-FFF2-40B4-BE49-F238E27FC236}">
                    <a16:creationId xmlns:a16="http://schemas.microsoft.com/office/drawing/2014/main" id="{4128A7C7-C9CF-640E-2146-E39DE9797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385" y="27705062"/>
                <a:ext cx="4303111" cy="1027441"/>
              </a:xfrm>
              <a:prstGeom prst="rect">
                <a:avLst/>
              </a:prstGeom>
              <a:blipFill>
                <a:blip r:embed="rId9"/>
                <a:stretch>
                  <a:fillRect l="-1844" t="-4167" r="-1986" b="-59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75D117-198C-2983-1A30-FB9664308773}"/>
                  </a:ext>
                </a:extLst>
              </p:cNvPr>
              <p:cNvSpPr txBox="1"/>
              <p:nvPr/>
            </p:nvSpPr>
            <p:spPr>
              <a:xfrm>
                <a:off x="7516815" y="15467366"/>
                <a:ext cx="5737101" cy="1702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sSup>
                                <m:sSupPr>
                                  <m:ctrlP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GB" sz="2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GB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d>
                        <m:dPr>
                          <m:ctrlP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sSup>
                                <m:sSupPr>
                                  <m:ctrlP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GB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GB" sz="2600" b="0" i="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60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260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GB" sz="26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fraction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of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type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papers</m:t>
                    </m:r>
                  </m:oMath>
                </a14:m>
                <a:r>
                  <a:rPr lang="en-GB" sz="2600" dirty="0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0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GB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latin typeface="Cambria Math" panose="02040503050406030204" pitchFamily="18" charset="0"/>
                        </a:rPr>
                        <m:t>citations</m:t>
                      </m:r>
                      <m:r>
                        <a:rPr lang="en-GB" sz="2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latin typeface="Cambria Math" panose="02040503050406030204" pitchFamily="18" charset="0"/>
                        </a:rPr>
                        <m:t>each</m:t>
                      </m:r>
                      <m:r>
                        <a:rPr lang="en-GB" sz="2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latin typeface="Cambria Math" panose="02040503050406030204" pitchFamily="18" charset="0"/>
                        </a:rPr>
                        <m:t>paper</m:t>
                      </m:r>
                      <m:r>
                        <a:rPr lang="en-GB" sz="2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latin typeface="Cambria Math" panose="02040503050406030204" pitchFamily="18" charset="0"/>
                        </a:rPr>
                        <m:t>makes</m:t>
                      </m:r>
                    </m:oMath>
                  </m:oMathPara>
                </a14:m>
                <a:endParaRPr lang="en-GB" sz="2600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75D117-198C-2983-1A30-FB9664308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6815" y="15467366"/>
                <a:ext cx="5737101" cy="170226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TextBox 89">
            <a:extLst>
              <a:ext uri="{FF2B5EF4-FFF2-40B4-BE49-F238E27FC236}">
                <a16:creationId xmlns:a16="http://schemas.microsoft.com/office/drawing/2014/main" id="{BD366EA9-E476-BB1F-AE42-3D380866C80D}"/>
              </a:ext>
            </a:extLst>
          </p:cNvPr>
          <p:cNvSpPr txBox="1"/>
          <p:nvPr/>
        </p:nvSpPr>
        <p:spPr>
          <a:xfrm>
            <a:off x="7349331" y="12472795"/>
            <a:ext cx="26790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200" b="1" dirty="0">
                <a:solidFill>
                  <a:schemeClr val="tx2"/>
                </a:solidFill>
              </a:rPr>
              <a:t>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B886DC3-A3C1-1C3D-BCCC-BB3CB25857EC}"/>
                  </a:ext>
                </a:extLst>
              </p:cNvPr>
              <p:cNvSpPr txBox="1"/>
              <p:nvPr/>
            </p:nvSpPr>
            <p:spPr>
              <a:xfrm>
                <a:off x="7464967" y="13207178"/>
                <a:ext cx="5363858" cy="14922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just">
                  <a:lnSpc>
                    <a:spcPct val="10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sz="2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GB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GB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GB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             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&amp;</m:t>
                            </m:r>
                            <m:sSub>
                              <m:sSubPr>
                                <m:ctrlPr>
                                  <a:rPr lang="en-GB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GB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en-GB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d>
                                  <m:dPr>
                                    <m:ctrlP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 </m:t>
                                    </m:r>
                                    <m:sSub>
                                      <m:sSubPr>
                                        <m:ctrlP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>
                                  <a:rPr lang="en-GB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d>
                                  <m:dPr>
                                    <m:ctrlP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GB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 </m:t>
                                    </m:r>
                                    <m:sSub>
                                      <m:sSubPr>
                                        <m:ctrlP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GB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  <m:r>
                              <a:rPr lang="en-GB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  <m:sSup>
                              <m:sSupPr>
                                <m:ctrlP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ℤ</m:t>
                                </m:r>
                              </m:e>
                              <m:sup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eqAr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GB" sz="2600" dirty="0">
                    <a:solidFill>
                      <a:schemeClr val="tx1"/>
                    </a:solidFill>
                  </a:rPr>
                  <a:t>,</a:t>
                </a:r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B886DC3-A3C1-1C3D-BCCC-BB3CB2585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4967" y="13207178"/>
                <a:ext cx="5363858" cy="1492216"/>
              </a:xfrm>
              <a:prstGeom prst="rect">
                <a:avLst/>
              </a:prstGeom>
              <a:blipFill>
                <a:blip r:embed="rId11"/>
                <a:stretch>
                  <a:fillRect r="-39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C991BAB-B179-89AA-D51F-4510A95D68E0}"/>
                  </a:ext>
                </a:extLst>
              </p:cNvPr>
              <p:cNvSpPr txBox="1"/>
              <p:nvPr/>
            </p:nvSpPr>
            <p:spPr>
              <a:xfrm>
                <a:off x="7536059" y="14584042"/>
                <a:ext cx="12782546" cy="7597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just">
                  <a:lnSpc>
                    <a:spcPct val="105000"/>
                  </a:lnSpc>
                </a:pPr>
                <a:r>
                  <a:rPr lang="en-GB" sz="2600" dirty="0"/>
                  <a:t>(1) Is the probability a paper of type </a:t>
                </a:r>
                <a14:m>
                  <m:oMath xmlns:m="http://schemas.openxmlformats.org/officeDocument/2006/math">
                    <m:r>
                      <a:rPr lang="en-GB" sz="2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nor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GB" sz="2600" dirty="0"/>
                      <m:t>has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a:rPr lang="en-GB" sz="2600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citations</m:t>
                    </m:r>
                    <m:r>
                      <m:rPr>
                        <m:nor/>
                      </m:rPr>
                      <a:rPr lang="en-GB" sz="2600" dirty="0"/>
                      <m:t>. (</m:t>
                    </m:r>
                    <m:r>
                      <m:rPr>
                        <m:nor/>
                      </m:rPr>
                      <a:rPr lang="en-GB" sz="2600" dirty="0"/>
                      <m:t>2</m:t>
                    </m:r>
                    <m:r>
                      <m:rPr>
                        <m:nor/>
                      </m:rPr>
                      <a:rPr lang="en-GB" sz="2600" dirty="0"/>
                      <m:t>) </m:t>
                    </m:r>
                    <m:r>
                      <m:rPr>
                        <m:nor/>
                      </m:rPr>
                      <a:rPr lang="en-GB" sz="2600" dirty="0"/>
                      <m:t>is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this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distribution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transformed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into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the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literature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convention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power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law</m:t>
                    </m:r>
                    <m:r>
                      <m:rPr>
                        <m:nor/>
                      </m:rPr>
                      <a:rPr lang="en-GB" sz="2600" dirty="0"/>
                      <m:t> </m:t>
                    </m:r>
                    <m:r>
                      <m:rPr>
                        <m:nor/>
                      </m:rPr>
                      <a:rPr lang="en-GB" sz="2600" dirty="0"/>
                      <m:t>distribution</m:t>
                    </m:r>
                  </m:oMath>
                </a14:m>
                <a:r>
                  <a:rPr lang="en-GB" sz="2600" dirty="0"/>
                  <a:t>form using Sterling’s approximation.</a:t>
                </a:r>
                <a:endParaRPr lang="en-GB" sz="2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C991BAB-B179-89AA-D51F-4510A95D6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6059" y="14584042"/>
                <a:ext cx="12782546" cy="759751"/>
              </a:xfrm>
              <a:prstGeom prst="rect">
                <a:avLst/>
              </a:prstGeom>
              <a:blipFill>
                <a:blip r:embed="rId12"/>
                <a:stretch>
                  <a:fillRect l="-1574" t="-13600" r="-477" b="-32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274E7C7-2099-2149-8C0F-CBC0882F8DF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8838" y="17293200"/>
            <a:ext cx="12732842" cy="48659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004844-8633-DEA8-532A-0E33AC5DD751}"/>
                  </a:ext>
                </a:extLst>
              </p:cNvPr>
              <p:cNvSpPr txBox="1"/>
              <p:nvPr/>
            </p:nvSpPr>
            <p:spPr>
              <a:xfrm>
                <a:off x="13615216" y="13421073"/>
                <a:ext cx="7213632" cy="9490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GB" sz="2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𝑙𝑎𝑟𝑔𝑒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  <m:d>
                          <m:d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  <m:f>
                          <m:f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l-GR" sz="2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d>
                              <m:dPr>
                                <m:ctrlPr>
                                  <a:rPr lang="en-GB" sz="2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GB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l-GR" sz="26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d>
                              <m:dPr>
                                <m:ctrlPr>
                                  <a:rPr lang="en-GB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d>
                            <m:sSup>
                              <m:sSupPr>
                                <m:ctrlPr>
                                  <a:rPr lang="en-GB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GB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GB" sz="2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GB" sz="2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sSub>
                                  <m:sSubPr>
                                    <m:ctrlP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GB" sz="2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sup>
                            </m:sSup>
                          </m:den>
                        </m:f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                      </m:t>
                        </m:r>
                        <m:d>
                          <m:dPr>
                            <m:ctrlP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GB" sz="2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</m:e>
                    </m:func>
                  </m:oMath>
                </a14:m>
                <a:r>
                  <a:rPr lang="en-GB" sz="26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004844-8633-DEA8-532A-0E33AC5DD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5216" y="13421073"/>
                <a:ext cx="7213632" cy="94907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6C53BB-CFDB-6C28-4ACB-C01A83C7B070}"/>
                  </a:ext>
                </a:extLst>
              </p:cNvPr>
              <p:cNvSpPr txBox="1"/>
              <p:nvPr/>
            </p:nvSpPr>
            <p:spPr>
              <a:xfrm>
                <a:off x="12899917" y="16257060"/>
                <a:ext cx="6954304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citations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from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group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to</m:t>
                      </m:r>
                      <m: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other</m:t>
                      </m:r>
                    </m:oMath>
                  </m:oMathPara>
                </a14:m>
                <a:endParaRPr lang="en-GB" sz="2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6C53BB-CFDB-6C28-4ACB-C01A83C7B0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99917" y="16257060"/>
                <a:ext cx="6954304" cy="49244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39CC4A-6082-894C-DED6-9B57C943907C}"/>
                  </a:ext>
                </a:extLst>
              </p:cNvPr>
              <p:cNvSpPr txBox="1"/>
              <p:nvPr/>
            </p:nvSpPr>
            <p:spPr>
              <a:xfrm>
                <a:off x="13016982" y="16350354"/>
                <a:ext cx="8198039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6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GB" sz="26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60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600" i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GB" sz="2600">
                        <a:latin typeface="Cambria Math" panose="02040503050406030204" pitchFamily="18" charset="0"/>
                      </a:rPr>
                      <m:t>no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citations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between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same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group</m:t>
                    </m:r>
                    <m:r>
                      <a:rPr lang="en-GB" sz="2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600" b="0" i="0" smtClean="0">
                        <a:latin typeface="Cambria Math" panose="02040503050406030204" pitchFamily="18" charset="0"/>
                      </a:rPr>
                      <m:t>members</m:t>
                    </m:r>
                  </m:oMath>
                </a14:m>
                <a:r>
                  <a:rPr lang="en-GB" sz="5400" dirty="0"/>
                  <a:t> </a:t>
                </a:r>
                <a:endParaRPr lang="en-GB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39CC4A-6082-894C-DED6-9B57C9439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6982" y="16350354"/>
                <a:ext cx="8198039" cy="92333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" name="Picture 35">
            <a:extLst>
              <a:ext uri="{FF2B5EF4-FFF2-40B4-BE49-F238E27FC236}">
                <a16:creationId xmlns:a16="http://schemas.microsoft.com/office/drawing/2014/main" id="{DCE55D11-7C0C-A1DA-6A89-5C6796725D0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332" y="16255473"/>
            <a:ext cx="6020113" cy="526759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9DCA5EA1-CFBD-CDAE-BE7D-911831F4C54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645" y="22513109"/>
            <a:ext cx="5892665" cy="5156082"/>
          </a:xfrm>
          <a:prstGeom prst="rect">
            <a:avLst/>
          </a:prstGeom>
        </p:spPr>
      </p:pic>
      <p:pic>
        <p:nvPicPr>
          <p:cNvPr id="56" name="Picture Placeholder 55">
            <a:extLst>
              <a:ext uri="{FF2B5EF4-FFF2-40B4-BE49-F238E27FC236}">
                <a16:creationId xmlns:a16="http://schemas.microsoft.com/office/drawing/2014/main" id="{87F1C8BB-22DE-55E7-7B84-5BACE2526B87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45" b="21845"/>
          <a:stretch>
            <a:fillRect/>
          </a:stretch>
        </p:blipFill>
        <p:spPr>
          <a:prstGeom prst="rect">
            <a:avLst/>
          </a:prstGeom>
          <a:noFill/>
          <a:ln>
            <a:noFill/>
          </a:ln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3F7D6D0B-78FB-4761-3453-9E172F99A40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967" y="7917534"/>
            <a:ext cx="5675558" cy="378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13840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ortrait Poster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CL_Poster Portrait A1 template.potx" id="{102DD3C0-3B38-4CBE-AC27-389CFDD5B01E}" vid="{AB3924F8-CBDD-4D00-8457-0F1783E016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Imperial_Poster Portrait A1 template</Template>
  <TotalTime>1671</TotalTime>
  <Words>968</Words>
  <Application>Microsoft Office PowerPoint</Application>
  <PresentationFormat>Custom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Imperial Sans Text</vt:lpstr>
      <vt:lpstr>Imperial Sans Text Extrabold</vt:lpstr>
      <vt:lpstr>Imperial Sans Text Semibold</vt:lpstr>
      <vt:lpstr>Arial</vt:lpstr>
      <vt:lpstr>Cambria Math</vt:lpstr>
      <vt:lpstr>Calibri</vt:lpstr>
      <vt:lpstr>ICL Portrait Poster Theme</vt:lpstr>
      <vt:lpstr>The Science of Quantifying Innovation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Diamond, Sid</dc:creator>
  <cp:lastModifiedBy>Diamond, Sid</cp:lastModifiedBy>
  <cp:revision>53</cp:revision>
  <dcterms:created xsi:type="dcterms:W3CDTF">2026-02-16T10:43:06Z</dcterms:created>
  <dcterms:modified xsi:type="dcterms:W3CDTF">2026-02-18T19:23:25Z</dcterms:modified>
</cp:coreProperties>
</file>