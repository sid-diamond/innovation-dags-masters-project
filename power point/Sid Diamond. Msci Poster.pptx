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
  </p:notesMasterIdLst>
  <p:sldIdLst>
    <p:sldId id="258" r:id="rId2"/>
  </p:sldIdLst>
  <p:sldSz cx="21383625" cy="30275213"/>
  <p:notesSz cx="6858000" cy="9144000"/>
  <p:embeddedFontLst>
    <p:embeddedFont>
      <p:font typeface="Cambria Math" panose="02040503050406030204" pitchFamily="18" charset="0"/>
      <p:regular r:id="rId4"/>
    </p:embeddedFont>
    <p:embeddedFont>
      <p:font typeface="Imperial Sans Text" panose="020B0604020202020204" charset="0"/>
      <p:regular r:id="rId5"/>
      <p:bold r:id="rId6"/>
    </p:embeddedFont>
    <p:embeddedFont>
      <p:font typeface="Imperial Sans Text Extrabold" panose="020B0604020202020204" charset="0"/>
      <p:bold r:id="rId7"/>
    </p:embeddedFont>
    <p:embeddedFont>
      <p:font typeface="Imperial Sans Text Semibold" panose="020B0604020202020204" charset="0"/>
      <p:bold r:id="rId8"/>
    </p:embeddedFont>
  </p:embeddedFontLst>
  <p:defaultTextStyle>
    <a:defPPr>
      <a:defRPr lang="en-US"/>
    </a:defPPr>
    <a:lvl1pPr marL="0" algn="l" defTabSz="2479451" rtl="0" eaLnBrk="1" latinLnBrk="0" hangingPunct="1">
      <a:defRPr sz="4881" kern="1200">
        <a:solidFill>
          <a:schemeClr val="tx1"/>
        </a:solidFill>
        <a:latin typeface="+mn-lt"/>
        <a:ea typeface="+mn-ea"/>
        <a:cs typeface="+mn-cs"/>
      </a:defRPr>
    </a:lvl1pPr>
    <a:lvl2pPr marL="1239727" algn="l" defTabSz="2479451" rtl="0" eaLnBrk="1" latinLnBrk="0" hangingPunct="1">
      <a:defRPr sz="4881" kern="1200">
        <a:solidFill>
          <a:schemeClr val="tx1"/>
        </a:solidFill>
        <a:latin typeface="+mn-lt"/>
        <a:ea typeface="+mn-ea"/>
        <a:cs typeface="+mn-cs"/>
      </a:defRPr>
    </a:lvl2pPr>
    <a:lvl3pPr marL="2479451" algn="l" defTabSz="2479451" rtl="0" eaLnBrk="1" latinLnBrk="0" hangingPunct="1">
      <a:defRPr sz="4881" kern="1200">
        <a:solidFill>
          <a:schemeClr val="tx1"/>
        </a:solidFill>
        <a:latin typeface="+mn-lt"/>
        <a:ea typeface="+mn-ea"/>
        <a:cs typeface="+mn-cs"/>
      </a:defRPr>
    </a:lvl3pPr>
    <a:lvl4pPr marL="3719178" algn="l" defTabSz="2479451" rtl="0" eaLnBrk="1" latinLnBrk="0" hangingPunct="1">
      <a:defRPr sz="4881" kern="1200">
        <a:solidFill>
          <a:schemeClr val="tx1"/>
        </a:solidFill>
        <a:latin typeface="+mn-lt"/>
        <a:ea typeface="+mn-ea"/>
        <a:cs typeface="+mn-cs"/>
      </a:defRPr>
    </a:lvl4pPr>
    <a:lvl5pPr marL="4958902" algn="l" defTabSz="2479451" rtl="0" eaLnBrk="1" latinLnBrk="0" hangingPunct="1">
      <a:defRPr sz="4881" kern="1200">
        <a:solidFill>
          <a:schemeClr val="tx1"/>
        </a:solidFill>
        <a:latin typeface="+mn-lt"/>
        <a:ea typeface="+mn-ea"/>
        <a:cs typeface="+mn-cs"/>
      </a:defRPr>
    </a:lvl5pPr>
    <a:lvl6pPr marL="6198629" algn="l" defTabSz="2479451" rtl="0" eaLnBrk="1" latinLnBrk="0" hangingPunct="1">
      <a:defRPr sz="4881" kern="1200">
        <a:solidFill>
          <a:schemeClr val="tx1"/>
        </a:solidFill>
        <a:latin typeface="+mn-lt"/>
        <a:ea typeface="+mn-ea"/>
        <a:cs typeface="+mn-cs"/>
      </a:defRPr>
    </a:lvl6pPr>
    <a:lvl7pPr marL="7438356" algn="l" defTabSz="2479451" rtl="0" eaLnBrk="1" latinLnBrk="0" hangingPunct="1">
      <a:defRPr sz="4881" kern="1200">
        <a:solidFill>
          <a:schemeClr val="tx1"/>
        </a:solidFill>
        <a:latin typeface="+mn-lt"/>
        <a:ea typeface="+mn-ea"/>
        <a:cs typeface="+mn-cs"/>
      </a:defRPr>
    </a:lvl7pPr>
    <a:lvl8pPr marL="8678080" algn="l" defTabSz="2479451" rtl="0" eaLnBrk="1" latinLnBrk="0" hangingPunct="1">
      <a:defRPr sz="4881" kern="1200">
        <a:solidFill>
          <a:schemeClr val="tx1"/>
        </a:solidFill>
        <a:latin typeface="+mn-lt"/>
        <a:ea typeface="+mn-ea"/>
        <a:cs typeface="+mn-cs"/>
      </a:defRPr>
    </a:lvl8pPr>
    <a:lvl9pPr marL="9917807" algn="l" defTabSz="2479451" rtl="0" eaLnBrk="1" latinLnBrk="0" hangingPunct="1">
      <a:defRPr sz="488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58" userDrawn="1">
          <p15:clr>
            <a:srgbClr val="A4A3A4"/>
          </p15:clr>
        </p15:guide>
        <p15:guide id="2" pos="67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5" autoAdjust="0"/>
    <p:restoredTop sz="94641" autoAdjust="0"/>
  </p:normalViewPr>
  <p:slideViewPr>
    <p:cSldViewPr snapToGrid="0" showGuides="1">
      <p:cViewPr>
        <p:scale>
          <a:sx n="70" d="100"/>
          <a:sy n="70" d="100"/>
        </p:scale>
        <p:origin x="-1944" y="38"/>
      </p:cViewPr>
      <p:guideLst>
        <p:guide orient="horz" pos="9558"/>
        <p:guide pos="6735"/>
      </p:guideLst>
    </p:cSldViewPr>
  </p:slideViewPr>
  <p:notesTextViewPr>
    <p:cViewPr>
      <p:scale>
        <a:sx n="1" d="1"/>
        <a:sy n="1" d="1"/>
      </p:scale>
      <p:origin x="0" y="0"/>
    </p:cViewPr>
  </p:notesTextViewPr>
  <p:sorterViewPr>
    <p:cViewPr>
      <p:scale>
        <a:sx n="1" d="2"/>
        <a:sy n="1" d="2"/>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heme" Target="theme/theme1.xml"/><Relationship Id="rId5" Type="http://schemas.openxmlformats.org/officeDocument/2006/relationships/font" Target="fonts/font2.fntdata"/><Relationship Id="rId10"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E0D2A8-8F95-47C2-ABE1-A779F5A43C98}" type="datetimeFigureOut">
              <a:rPr lang="en-US" smtClean="0"/>
              <a:t>2/18/2026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7663E2-27CE-4C79-91D3-7F5C4262D57F}" type="slidenum">
              <a:rPr lang="en-US" smtClean="0"/>
              <a:t>‹#›</a:t>
            </a:fld>
            <a:endParaRPr lang="en-US"/>
          </a:p>
        </p:txBody>
      </p:sp>
    </p:spTree>
    <p:extLst>
      <p:ext uri="{BB962C8B-B14F-4D97-AF65-F5344CB8AC3E}">
        <p14:creationId xmlns:p14="http://schemas.microsoft.com/office/powerpoint/2010/main" val="1230559577"/>
      </p:ext>
    </p:extLst>
  </p:cSld>
  <p:clrMap bg1="lt1" tx1="dk1" bg2="lt2" tx2="dk2" accent1="accent1" accent2="accent2" accent3="accent3" accent4="accent4" accent5="accent5" accent6="accent6" hlink="hlink" folHlink="folHlink"/>
  <p:notesStyle>
    <a:lvl1pPr marL="0" algn="l" defTabSz="2479451" rtl="0" eaLnBrk="1" latinLnBrk="0" hangingPunct="1">
      <a:defRPr sz="3254" kern="1200">
        <a:solidFill>
          <a:schemeClr val="tx1"/>
        </a:solidFill>
        <a:latin typeface="+mn-lt"/>
        <a:ea typeface="+mn-ea"/>
        <a:cs typeface="+mn-cs"/>
      </a:defRPr>
    </a:lvl1pPr>
    <a:lvl2pPr marL="1239727" algn="l" defTabSz="2479451" rtl="0" eaLnBrk="1" latinLnBrk="0" hangingPunct="1">
      <a:defRPr sz="3254" kern="1200">
        <a:solidFill>
          <a:schemeClr val="tx1"/>
        </a:solidFill>
        <a:latin typeface="+mn-lt"/>
        <a:ea typeface="+mn-ea"/>
        <a:cs typeface="+mn-cs"/>
      </a:defRPr>
    </a:lvl2pPr>
    <a:lvl3pPr marL="2479451" algn="l" defTabSz="2479451" rtl="0" eaLnBrk="1" latinLnBrk="0" hangingPunct="1">
      <a:defRPr sz="3254" kern="1200">
        <a:solidFill>
          <a:schemeClr val="tx1"/>
        </a:solidFill>
        <a:latin typeface="+mn-lt"/>
        <a:ea typeface="+mn-ea"/>
        <a:cs typeface="+mn-cs"/>
      </a:defRPr>
    </a:lvl3pPr>
    <a:lvl4pPr marL="3719178" algn="l" defTabSz="2479451" rtl="0" eaLnBrk="1" latinLnBrk="0" hangingPunct="1">
      <a:defRPr sz="3254" kern="1200">
        <a:solidFill>
          <a:schemeClr val="tx1"/>
        </a:solidFill>
        <a:latin typeface="+mn-lt"/>
        <a:ea typeface="+mn-ea"/>
        <a:cs typeface="+mn-cs"/>
      </a:defRPr>
    </a:lvl4pPr>
    <a:lvl5pPr marL="4958902" algn="l" defTabSz="2479451" rtl="0" eaLnBrk="1" latinLnBrk="0" hangingPunct="1">
      <a:defRPr sz="3254" kern="1200">
        <a:solidFill>
          <a:schemeClr val="tx1"/>
        </a:solidFill>
        <a:latin typeface="+mn-lt"/>
        <a:ea typeface="+mn-ea"/>
        <a:cs typeface="+mn-cs"/>
      </a:defRPr>
    </a:lvl5pPr>
    <a:lvl6pPr marL="6198629" algn="l" defTabSz="2479451" rtl="0" eaLnBrk="1" latinLnBrk="0" hangingPunct="1">
      <a:defRPr sz="3254" kern="1200">
        <a:solidFill>
          <a:schemeClr val="tx1"/>
        </a:solidFill>
        <a:latin typeface="+mn-lt"/>
        <a:ea typeface="+mn-ea"/>
        <a:cs typeface="+mn-cs"/>
      </a:defRPr>
    </a:lvl6pPr>
    <a:lvl7pPr marL="7438356" algn="l" defTabSz="2479451" rtl="0" eaLnBrk="1" latinLnBrk="0" hangingPunct="1">
      <a:defRPr sz="3254" kern="1200">
        <a:solidFill>
          <a:schemeClr val="tx1"/>
        </a:solidFill>
        <a:latin typeface="+mn-lt"/>
        <a:ea typeface="+mn-ea"/>
        <a:cs typeface="+mn-cs"/>
      </a:defRPr>
    </a:lvl7pPr>
    <a:lvl8pPr marL="8678080" algn="l" defTabSz="2479451" rtl="0" eaLnBrk="1" latinLnBrk="0" hangingPunct="1">
      <a:defRPr sz="3254" kern="1200">
        <a:solidFill>
          <a:schemeClr val="tx1"/>
        </a:solidFill>
        <a:latin typeface="+mn-lt"/>
        <a:ea typeface="+mn-ea"/>
        <a:cs typeface="+mn-cs"/>
      </a:defRPr>
    </a:lvl8pPr>
    <a:lvl9pPr marL="9917807" algn="l" defTabSz="2479451" rtl="0" eaLnBrk="1" latinLnBrk="0" hangingPunct="1">
      <a:defRPr sz="325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1</a:t>
            </a:fld>
            <a:endParaRPr lang="en-US"/>
          </a:p>
        </p:txBody>
      </p:sp>
    </p:spTree>
    <p:extLst>
      <p:ext uri="{BB962C8B-B14F-4D97-AF65-F5344CB8AC3E}">
        <p14:creationId xmlns:p14="http://schemas.microsoft.com/office/powerpoint/2010/main" val="791101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tion One">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8C48B9CE-FD65-AE40-130C-DBE00526E69A}"/>
              </a:ext>
            </a:extLst>
          </p:cNvPr>
          <p:cNvSpPr>
            <a:spLocks noGrp="1"/>
          </p:cNvSpPr>
          <p:nvPr>
            <p:ph sz="quarter" idx="32" hasCustomPrompt="1"/>
          </p:nvPr>
        </p:nvSpPr>
        <p:spPr>
          <a:xfrm>
            <a:off x="7449512" y="10439326"/>
            <a:ext cx="13135602" cy="10220400"/>
          </a:xfrm>
        </p:spPr>
        <p:txBody>
          <a:bodyPr/>
          <a:lstStyle>
            <a:lvl1pPr>
              <a:defRPr/>
            </a:lvl1pPr>
          </a:lstStyle>
          <a:p>
            <a:pPr lvl="0"/>
            <a:r>
              <a:rPr lang="en-US" dirty="0"/>
              <a:t>Click an icon to add content</a:t>
            </a:r>
          </a:p>
        </p:txBody>
      </p:sp>
      <p:sp>
        <p:nvSpPr>
          <p:cNvPr id="5" name="Title 4">
            <a:extLst>
              <a:ext uri="{FF2B5EF4-FFF2-40B4-BE49-F238E27FC236}">
                <a16:creationId xmlns:a16="http://schemas.microsoft.com/office/drawing/2014/main" id="{E3DD5FEA-0146-896B-ABD3-41CBD58D07FE}"/>
              </a:ext>
            </a:extLst>
          </p:cNvPr>
          <p:cNvSpPr>
            <a:spLocks noGrp="1"/>
          </p:cNvSpPr>
          <p:nvPr>
            <p:ph type="title"/>
          </p:nvPr>
        </p:nvSpPr>
        <p:spPr/>
        <p:txBody>
          <a:bodyPr/>
          <a:lstStyle/>
          <a:p>
            <a:r>
              <a:rPr lang="en-US" noProof="0"/>
              <a:t>Click to edit Master title style</a:t>
            </a:r>
            <a:endParaRPr lang="en-GB" noProof="0" dirty="0"/>
          </a:p>
        </p:txBody>
      </p:sp>
      <p:sp>
        <p:nvSpPr>
          <p:cNvPr id="7" name="Date Placeholder 6">
            <a:extLst>
              <a:ext uri="{FF2B5EF4-FFF2-40B4-BE49-F238E27FC236}">
                <a16:creationId xmlns:a16="http://schemas.microsoft.com/office/drawing/2014/main" id="{346B1F1E-F449-B29F-6C17-6D2E110AEBD8}"/>
              </a:ext>
            </a:extLst>
          </p:cNvPr>
          <p:cNvSpPr>
            <a:spLocks noGrp="1"/>
          </p:cNvSpPr>
          <p:nvPr>
            <p:ph type="dt" sz="half" idx="11"/>
          </p:nvPr>
        </p:nvSpPr>
        <p:spPr/>
        <p:txBody>
          <a:bodyPr/>
          <a:lstStyle/>
          <a:p>
            <a:fld id="{F18F015B-6C73-4A9C-BCFC-C5B1BB098CD2}" type="datetime1">
              <a:rPr lang="en-GB" noProof="0" smtClean="0"/>
              <a:t>18/02/2026</a:t>
            </a:fld>
            <a:endParaRPr lang="en-GB" noProof="0" dirty="0"/>
          </a:p>
        </p:txBody>
      </p:sp>
      <p:sp>
        <p:nvSpPr>
          <p:cNvPr id="8" name="Footer Placeholder 7">
            <a:extLst>
              <a:ext uri="{FF2B5EF4-FFF2-40B4-BE49-F238E27FC236}">
                <a16:creationId xmlns:a16="http://schemas.microsoft.com/office/drawing/2014/main" id="{09601A43-521E-7D2C-E6A2-455F8466DBC3}"/>
              </a:ext>
            </a:extLst>
          </p:cNvPr>
          <p:cNvSpPr>
            <a:spLocks noGrp="1"/>
          </p:cNvSpPr>
          <p:nvPr>
            <p:ph type="ftr" sz="quarter" idx="12"/>
          </p:nvPr>
        </p:nvSpPr>
        <p:spPr/>
        <p:txBody>
          <a:bodyPr/>
          <a:lstStyle/>
          <a:p>
            <a:r>
              <a:rPr lang="en-GB" noProof="0"/>
              <a:t>imperial.ac.uk</a:t>
            </a:r>
            <a:endParaRPr lang="en-GB" noProof="0" dirty="0"/>
          </a:p>
        </p:txBody>
      </p:sp>
      <p:sp>
        <p:nvSpPr>
          <p:cNvPr id="9" name="Slide Number Placeholder 8">
            <a:extLst>
              <a:ext uri="{FF2B5EF4-FFF2-40B4-BE49-F238E27FC236}">
                <a16:creationId xmlns:a16="http://schemas.microsoft.com/office/drawing/2014/main" id="{F5C6A93B-F7C5-B8B9-F174-1D4991E5A0C5}"/>
              </a:ext>
            </a:extLst>
          </p:cNvPr>
          <p:cNvSpPr>
            <a:spLocks noGrp="1"/>
          </p:cNvSpPr>
          <p:nvPr>
            <p:ph type="sldNum" sz="quarter" idx="13"/>
          </p:nvPr>
        </p:nvSpPr>
        <p:spPr/>
        <p:txBody>
          <a:bodyPr/>
          <a:lstStyle/>
          <a:p>
            <a:fld id="{CBA53E11-492D-48B3-9F9B-09541CA2A39A}" type="slidenum">
              <a:rPr lang="en-GB" noProof="0" smtClean="0"/>
              <a:pPr/>
              <a:t>‹#›</a:t>
            </a:fld>
            <a:endParaRPr lang="en-GB" noProof="0" dirty="0"/>
          </a:p>
        </p:txBody>
      </p:sp>
      <p:sp>
        <p:nvSpPr>
          <p:cNvPr id="10"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14165262" y="2206800"/>
            <a:ext cx="6427787" cy="2076441"/>
          </a:xfrm>
          <a:prstGeom prst="rect">
            <a:avLst/>
          </a:prstGeom>
        </p:spPr>
        <p:txBody>
          <a:bodyPr/>
          <a:lstStyle>
            <a:lvl1pPr marL="0" indent="0" algn="l">
              <a:buNone/>
              <a:defRPr sz="2600" b="0">
                <a:solidFill>
                  <a:schemeClr val="accent1"/>
                </a:solidFill>
                <a:latin typeface="+mj-lt"/>
                <a:ea typeface="Inter Medium" panose="02000503000000020004" pitchFamily="2" charset="0"/>
              </a:defRPr>
            </a:lvl1pPr>
            <a:lvl2pPr marL="601381" indent="0" algn="ctr">
              <a:buNone/>
              <a:defRPr sz="2631"/>
            </a:lvl2pPr>
            <a:lvl3pPr marL="1202763" indent="0" algn="ctr">
              <a:buNone/>
              <a:defRPr sz="2368"/>
            </a:lvl3pPr>
            <a:lvl4pPr marL="1804144" indent="0" algn="ctr">
              <a:buNone/>
              <a:defRPr sz="2105"/>
            </a:lvl4pPr>
            <a:lvl5pPr marL="2405526" indent="0" algn="ctr">
              <a:buNone/>
              <a:defRPr sz="2105"/>
            </a:lvl5pPr>
            <a:lvl6pPr marL="3006907" indent="0" algn="ctr">
              <a:buNone/>
              <a:defRPr sz="2105"/>
            </a:lvl6pPr>
            <a:lvl7pPr marL="3608290" indent="0" algn="ctr">
              <a:buNone/>
              <a:defRPr sz="2105"/>
            </a:lvl7pPr>
            <a:lvl8pPr marL="4209670" indent="0" algn="ctr">
              <a:buNone/>
              <a:defRPr sz="2105"/>
            </a:lvl8pPr>
            <a:lvl9pPr marL="4811053" indent="0" algn="ctr">
              <a:buNone/>
              <a:defRPr sz="2105"/>
            </a:lvl9pPr>
          </a:lstStyle>
          <a:p>
            <a:r>
              <a:rPr lang="en-US" noProof="0"/>
              <a:t>Click to edit Master subtitle style</a:t>
            </a:r>
            <a:endParaRPr lang="en-GB" noProof="0" dirty="0"/>
          </a:p>
        </p:txBody>
      </p:sp>
      <p:sp>
        <p:nvSpPr>
          <p:cNvPr id="27" name="Text Placeholder 26">
            <a:extLst>
              <a:ext uri="{FF2B5EF4-FFF2-40B4-BE49-F238E27FC236}">
                <a16:creationId xmlns:a16="http://schemas.microsoft.com/office/drawing/2014/main" id="{F84EA4A9-8368-74EA-F27A-3450838EAA85}"/>
              </a:ext>
            </a:extLst>
          </p:cNvPr>
          <p:cNvSpPr>
            <a:spLocks noGrp="1"/>
          </p:cNvSpPr>
          <p:nvPr>
            <p:ph type="body" sz="quarter" idx="19"/>
          </p:nvPr>
        </p:nvSpPr>
        <p:spPr>
          <a:xfrm>
            <a:off x="790575" y="20815200"/>
            <a:ext cx="6427788"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28" name="Text Placeholder 26">
            <a:extLst>
              <a:ext uri="{FF2B5EF4-FFF2-40B4-BE49-F238E27FC236}">
                <a16:creationId xmlns:a16="http://schemas.microsoft.com/office/drawing/2014/main" id="{D437EA09-33CD-6FA8-4A6D-5CE7BFF619CC}"/>
              </a:ext>
            </a:extLst>
          </p:cNvPr>
          <p:cNvSpPr>
            <a:spLocks noGrp="1"/>
          </p:cNvSpPr>
          <p:nvPr>
            <p:ph type="body" sz="quarter" idx="20"/>
          </p:nvPr>
        </p:nvSpPr>
        <p:spPr>
          <a:xfrm>
            <a:off x="7475538" y="20815200"/>
            <a:ext cx="13117511"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32" name="Picture Placeholder 14">
            <a:extLst>
              <a:ext uri="{FF2B5EF4-FFF2-40B4-BE49-F238E27FC236}">
                <a16:creationId xmlns:a16="http://schemas.microsoft.com/office/drawing/2014/main" id="{38BCB398-97B2-A11D-4F34-20FD1C3A57AF}"/>
              </a:ext>
            </a:extLst>
          </p:cNvPr>
          <p:cNvSpPr>
            <a:spLocks noGrp="1"/>
          </p:cNvSpPr>
          <p:nvPr>
            <p:ph type="pic" sz="quarter" idx="24" hasCustomPrompt="1"/>
          </p:nvPr>
        </p:nvSpPr>
        <p:spPr>
          <a:xfrm>
            <a:off x="14165261" y="26461750"/>
            <a:ext cx="3132000" cy="1764000"/>
          </a:xfrm>
          <a:prstGeom prst="rect">
            <a:avLst/>
          </a:prstGeom>
          <a:noFill/>
          <a:ln>
            <a:noFill/>
          </a:ln>
        </p:spPr>
        <p:txBody>
          <a:bodyPr/>
          <a:lstStyle>
            <a:lvl1pPr>
              <a:defRPr sz="1600"/>
            </a:lvl1pPr>
          </a:lstStyle>
          <a:p>
            <a:r>
              <a:rPr lang="en-GB" noProof="0" dirty="0"/>
              <a:t>Click icon to add a supporter or partner logo</a:t>
            </a:r>
          </a:p>
        </p:txBody>
      </p:sp>
      <p:sp>
        <p:nvSpPr>
          <p:cNvPr id="33" name="Picture Placeholder 14">
            <a:extLst>
              <a:ext uri="{FF2B5EF4-FFF2-40B4-BE49-F238E27FC236}">
                <a16:creationId xmlns:a16="http://schemas.microsoft.com/office/drawing/2014/main" id="{75C6CEFE-B735-0385-C658-4587C1DD75EB}"/>
              </a:ext>
            </a:extLst>
          </p:cNvPr>
          <p:cNvSpPr>
            <a:spLocks noGrp="1"/>
          </p:cNvSpPr>
          <p:nvPr>
            <p:ph type="pic" sz="quarter" idx="25" hasCustomPrompt="1"/>
          </p:nvPr>
        </p:nvSpPr>
        <p:spPr>
          <a:xfrm>
            <a:off x="17461049" y="26461750"/>
            <a:ext cx="3132000" cy="1764000"/>
          </a:xfrm>
          <a:prstGeom prst="rect">
            <a:avLst/>
          </a:prstGeom>
          <a:noFill/>
          <a:ln>
            <a:noFill/>
          </a:ln>
        </p:spPr>
        <p:txBody>
          <a:bodyPr/>
          <a:lstStyle>
            <a:lvl1pPr>
              <a:defRPr sz="1600"/>
            </a:lvl1pPr>
          </a:lstStyle>
          <a:p>
            <a:r>
              <a:rPr lang="en-GB" noProof="0" dirty="0"/>
              <a:t>Click icon to add a supporter or partner logo</a:t>
            </a:r>
          </a:p>
        </p:txBody>
      </p:sp>
      <p:sp>
        <p:nvSpPr>
          <p:cNvPr id="3" name="Text Placeholder 2">
            <a:extLst>
              <a:ext uri="{FF2B5EF4-FFF2-40B4-BE49-F238E27FC236}">
                <a16:creationId xmlns:a16="http://schemas.microsoft.com/office/drawing/2014/main" id="{CB1CA73C-0476-5A07-BF41-8F4A73CC8D09}"/>
              </a:ext>
            </a:extLst>
          </p:cNvPr>
          <p:cNvSpPr>
            <a:spLocks noGrp="1"/>
          </p:cNvSpPr>
          <p:nvPr>
            <p:ph type="body" sz="quarter" idx="26"/>
          </p:nvPr>
        </p:nvSpPr>
        <p:spPr>
          <a:xfrm>
            <a:off x="790575" y="4911725"/>
            <a:ext cx="6427788" cy="1045368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Text Placeholder 2">
            <a:extLst>
              <a:ext uri="{FF2B5EF4-FFF2-40B4-BE49-F238E27FC236}">
                <a16:creationId xmlns:a16="http://schemas.microsoft.com/office/drawing/2014/main" id="{00C73574-5895-09F1-1C64-ACBD70013EBD}"/>
              </a:ext>
            </a:extLst>
          </p:cNvPr>
          <p:cNvSpPr>
            <a:spLocks noGrp="1"/>
          </p:cNvSpPr>
          <p:nvPr>
            <p:ph type="body" sz="quarter" idx="27"/>
          </p:nvPr>
        </p:nvSpPr>
        <p:spPr>
          <a:xfrm>
            <a:off x="7449511" y="4911725"/>
            <a:ext cx="6427788" cy="5252265"/>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6" name="Text Placeholder 2">
            <a:extLst>
              <a:ext uri="{FF2B5EF4-FFF2-40B4-BE49-F238E27FC236}">
                <a16:creationId xmlns:a16="http://schemas.microsoft.com/office/drawing/2014/main" id="{214F4225-433B-2AB2-15E4-9E4230315932}"/>
              </a:ext>
            </a:extLst>
          </p:cNvPr>
          <p:cNvSpPr>
            <a:spLocks noGrp="1"/>
          </p:cNvSpPr>
          <p:nvPr>
            <p:ph type="body" sz="quarter" idx="28"/>
          </p:nvPr>
        </p:nvSpPr>
        <p:spPr>
          <a:xfrm>
            <a:off x="14165261" y="4911725"/>
            <a:ext cx="6427788" cy="5252265"/>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4" name="Text Placeholder 2">
            <a:extLst>
              <a:ext uri="{FF2B5EF4-FFF2-40B4-BE49-F238E27FC236}">
                <a16:creationId xmlns:a16="http://schemas.microsoft.com/office/drawing/2014/main" id="{FB76A963-6AEF-5BBE-8E48-EBD8B152A58E}"/>
              </a:ext>
            </a:extLst>
          </p:cNvPr>
          <p:cNvSpPr>
            <a:spLocks noGrp="1"/>
          </p:cNvSpPr>
          <p:nvPr>
            <p:ph type="body" sz="quarter" idx="29"/>
          </p:nvPr>
        </p:nvSpPr>
        <p:spPr>
          <a:xfrm>
            <a:off x="790575"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7" name="Text Placeholder 2">
            <a:extLst>
              <a:ext uri="{FF2B5EF4-FFF2-40B4-BE49-F238E27FC236}">
                <a16:creationId xmlns:a16="http://schemas.microsoft.com/office/drawing/2014/main" id="{4C56EE52-537E-793C-190B-CFC9F395ABDA}"/>
              </a:ext>
            </a:extLst>
          </p:cNvPr>
          <p:cNvSpPr>
            <a:spLocks noGrp="1"/>
          </p:cNvSpPr>
          <p:nvPr>
            <p:ph type="body" sz="quarter" idx="30"/>
          </p:nvPr>
        </p:nvSpPr>
        <p:spPr>
          <a:xfrm>
            <a:off x="7474250"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a:extLst>
              <a:ext uri="{FF2B5EF4-FFF2-40B4-BE49-F238E27FC236}">
                <a16:creationId xmlns:a16="http://schemas.microsoft.com/office/drawing/2014/main" id="{A839EC7A-2402-CED8-C771-BB6EF2E35BB8}"/>
              </a:ext>
            </a:extLst>
          </p:cNvPr>
          <p:cNvSpPr>
            <a:spLocks noGrp="1"/>
          </p:cNvSpPr>
          <p:nvPr>
            <p:ph type="body" sz="quarter" idx="31"/>
          </p:nvPr>
        </p:nvSpPr>
        <p:spPr>
          <a:xfrm>
            <a:off x="14157925" y="21697198"/>
            <a:ext cx="6427788" cy="4506503"/>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3" name="Content Placeholder 10">
            <a:extLst>
              <a:ext uri="{FF2B5EF4-FFF2-40B4-BE49-F238E27FC236}">
                <a16:creationId xmlns:a16="http://schemas.microsoft.com/office/drawing/2014/main" id="{D29EF359-10B1-D70F-910E-516113908950}"/>
              </a:ext>
            </a:extLst>
          </p:cNvPr>
          <p:cNvSpPr>
            <a:spLocks noGrp="1"/>
          </p:cNvSpPr>
          <p:nvPr>
            <p:ph sz="quarter" idx="33" hasCustomPrompt="1"/>
          </p:nvPr>
        </p:nvSpPr>
        <p:spPr>
          <a:xfrm>
            <a:off x="790576" y="15641421"/>
            <a:ext cx="6427788" cy="5018305"/>
          </a:xfrm>
        </p:spPr>
        <p:txBody>
          <a:bodyPr/>
          <a:lstStyle>
            <a:lvl1pPr>
              <a:defRPr/>
            </a:lvl1pPr>
          </a:lstStyle>
          <a:p>
            <a:pPr lvl="0"/>
            <a:r>
              <a:rPr lang="en-US" dirty="0"/>
              <a:t>Click an icon to add content</a:t>
            </a:r>
          </a:p>
        </p:txBody>
      </p:sp>
    </p:spTree>
    <p:extLst>
      <p:ext uri="{BB962C8B-B14F-4D97-AF65-F5344CB8AC3E}">
        <p14:creationId xmlns:p14="http://schemas.microsoft.com/office/powerpoint/2010/main" val="71846212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tion Two">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DD5FEA-0146-896B-ABD3-41CBD58D07FE}"/>
              </a:ext>
            </a:extLst>
          </p:cNvPr>
          <p:cNvSpPr>
            <a:spLocks noGrp="1"/>
          </p:cNvSpPr>
          <p:nvPr>
            <p:ph type="title"/>
          </p:nvPr>
        </p:nvSpPr>
        <p:spPr/>
        <p:txBody>
          <a:bodyPr/>
          <a:lstStyle/>
          <a:p>
            <a:r>
              <a:rPr lang="en-US" noProof="0"/>
              <a:t>Click to edit Master title style</a:t>
            </a:r>
            <a:endParaRPr lang="en-GB" noProof="0" dirty="0"/>
          </a:p>
        </p:txBody>
      </p:sp>
      <p:sp>
        <p:nvSpPr>
          <p:cNvPr id="7" name="Date Placeholder 6">
            <a:extLst>
              <a:ext uri="{FF2B5EF4-FFF2-40B4-BE49-F238E27FC236}">
                <a16:creationId xmlns:a16="http://schemas.microsoft.com/office/drawing/2014/main" id="{346B1F1E-F449-B29F-6C17-6D2E110AEBD8}"/>
              </a:ext>
            </a:extLst>
          </p:cNvPr>
          <p:cNvSpPr>
            <a:spLocks noGrp="1"/>
          </p:cNvSpPr>
          <p:nvPr>
            <p:ph type="dt" sz="half" idx="11"/>
          </p:nvPr>
        </p:nvSpPr>
        <p:spPr/>
        <p:txBody>
          <a:bodyPr/>
          <a:lstStyle/>
          <a:p>
            <a:fld id="{125B37B3-A951-41B0-803F-990AE8E98F3B}" type="datetime1">
              <a:rPr lang="en-GB" noProof="0" smtClean="0"/>
              <a:t>18/02/2026</a:t>
            </a:fld>
            <a:endParaRPr lang="en-GB" noProof="0" dirty="0"/>
          </a:p>
        </p:txBody>
      </p:sp>
      <p:sp>
        <p:nvSpPr>
          <p:cNvPr id="8" name="Footer Placeholder 7">
            <a:extLst>
              <a:ext uri="{FF2B5EF4-FFF2-40B4-BE49-F238E27FC236}">
                <a16:creationId xmlns:a16="http://schemas.microsoft.com/office/drawing/2014/main" id="{09601A43-521E-7D2C-E6A2-455F8466DBC3}"/>
              </a:ext>
            </a:extLst>
          </p:cNvPr>
          <p:cNvSpPr>
            <a:spLocks noGrp="1"/>
          </p:cNvSpPr>
          <p:nvPr>
            <p:ph type="ftr" sz="quarter" idx="12"/>
          </p:nvPr>
        </p:nvSpPr>
        <p:spPr/>
        <p:txBody>
          <a:bodyPr/>
          <a:lstStyle/>
          <a:p>
            <a:r>
              <a:rPr lang="en-GB" noProof="0"/>
              <a:t>imperial.ac.uk</a:t>
            </a:r>
            <a:endParaRPr lang="en-GB" noProof="0" dirty="0"/>
          </a:p>
        </p:txBody>
      </p:sp>
      <p:sp>
        <p:nvSpPr>
          <p:cNvPr id="9" name="Slide Number Placeholder 8">
            <a:extLst>
              <a:ext uri="{FF2B5EF4-FFF2-40B4-BE49-F238E27FC236}">
                <a16:creationId xmlns:a16="http://schemas.microsoft.com/office/drawing/2014/main" id="{F5C6A93B-F7C5-B8B9-F174-1D4991E5A0C5}"/>
              </a:ext>
            </a:extLst>
          </p:cNvPr>
          <p:cNvSpPr>
            <a:spLocks noGrp="1"/>
          </p:cNvSpPr>
          <p:nvPr>
            <p:ph type="sldNum" sz="quarter" idx="13"/>
          </p:nvPr>
        </p:nvSpPr>
        <p:spPr/>
        <p:txBody>
          <a:bodyPr/>
          <a:lstStyle/>
          <a:p>
            <a:fld id="{CBA53E11-492D-48B3-9F9B-09541CA2A39A}" type="slidenum">
              <a:rPr lang="en-GB" noProof="0" smtClean="0"/>
              <a:pPr/>
              <a:t>‹#›</a:t>
            </a:fld>
            <a:endParaRPr lang="en-GB" noProof="0" dirty="0"/>
          </a:p>
        </p:txBody>
      </p:sp>
      <p:sp>
        <p:nvSpPr>
          <p:cNvPr id="10"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14165262" y="2206800"/>
            <a:ext cx="6427787" cy="2076441"/>
          </a:xfrm>
          <a:prstGeom prst="rect">
            <a:avLst/>
          </a:prstGeom>
        </p:spPr>
        <p:txBody>
          <a:bodyPr/>
          <a:lstStyle>
            <a:lvl1pPr marL="0" indent="0" algn="l">
              <a:buNone/>
              <a:defRPr sz="2600" b="0">
                <a:solidFill>
                  <a:schemeClr val="accent1"/>
                </a:solidFill>
                <a:latin typeface="+mj-lt"/>
                <a:ea typeface="Inter Medium" panose="02000503000000020004" pitchFamily="2" charset="0"/>
              </a:defRPr>
            </a:lvl1pPr>
            <a:lvl2pPr marL="601381" indent="0" algn="ctr">
              <a:buNone/>
              <a:defRPr sz="2631"/>
            </a:lvl2pPr>
            <a:lvl3pPr marL="1202763" indent="0" algn="ctr">
              <a:buNone/>
              <a:defRPr sz="2368"/>
            </a:lvl3pPr>
            <a:lvl4pPr marL="1804144" indent="0" algn="ctr">
              <a:buNone/>
              <a:defRPr sz="2105"/>
            </a:lvl4pPr>
            <a:lvl5pPr marL="2405526" indent="0" algn="ctr">
              <a:buNone/>
              <a:defRPr sz="2105"/>
            </a:lvl5pPr>
            <a:lvl6pPr marL="3006907" indent="0" algn="ctr">
              <a:buNone/>
              <a:defRPr sz="2105"/>
            </a:lvl6pPr>
            <a:lvl7pPr marL="3608290" indent="0" algn="ctr">
              <a:buNone/>
              <a:defRPr sz="2105"/>
            </a:lvl7pPr>
            <a:lvl8pPr marL="4209670" indent="0" algn="ctr">
              <a:buNone/>
              <a:defRPr sz="2105"/>
            </a:lvl8pPr>
            <a:lvl9pPr marL="4811053" indent="0" algn="ctr">
              <a:buNone/>
              <a:defRPr sz="2105"/>
            </a:lvl9pPr>
          </a:lstStyle>
          <a:p>
            <a:r>
              <a:rPr lang="en-US" noProof="0"/>
              <a:t>Click to edit Master subtitle style</a:t>
            </a:r>
            <a:endParaRPr lang="en-GB" noProof="0" dirty="0"/>
          </a:p>
        </p:txBody>
      </p:sp>
      <p:sp>
        <p:nvSpPr>
          <p:cNvPr id="27" name="Text Placeholder 26">
            <a:extLst>
              <a:ext uri="{FF2B5EF4-FFF2-40B4-BE49-F238E27FC236}">
                <a16:creationId xmlns:a16="http://schemas.microsoft.com/office/drawing/2014/main" id="{F84EA4A9-8368-74EA-F27A-3450838EAA85}"/>
              </a:ext>
            </a:extLst>
          </p:cNvPr>
          <p:cNvSpPr>
            <a:spLocks noGrp="1"/>
          </p:cNvSpPr>
          <p:nvPr>
            <p:ph type="body" sz="quarter" idx="19"/>
          </p:nvPr>
        </p:nvSpPr>
        <p:spPr>
          <a:xfrm>
            <a:off x="790575" y="20815200"/>
            <a:ext cx="6427788"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28" name="Text Placeholder 26">
            <a:extLst>
              <a:ext uri="{FF2B5EF4-FFF2-40B4-BE49-F238E27FC236}">
                <a16:creationId xmlns:a16="http://schemas.microsoft.com/office/drawing/2014/main" id="{D437EA09-33CD-6FA8-4A6D-5CE7BFF619CC}"/>
              </a:ext>
            </a:extLst>
          </p:cNvPr>
          <p:cNvSpPr>
            <a:spLocks noGrp="1"/>
          </p:cNvSpPr>
          <p:nvPr>
            <p:ph type="body" sz="quarter" idx="20"/>
          </p:nvPr>
        </p:nvSpPr>
        <p:spPr>
          <a:xfrm>
            <a:off x="7475538" y="20815200"/>
            <a:ext cx="13117511"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32" name="Picture Placeholder 14">
            <a:extLst>
              <a:ext uri="{FF2B5EF4-FFF2-40B4-BE49-F238E27FC236}">
                <a16:creationId xmlns:a16="http://schemas.microsoft.com/office/drawing/2014/main" id="{38BCB398-97B2-A11D-4F34-20FD1C3A57AF}"/>
              </a:ext>
            </a:extLst>
          </p:cNvPr>
          <p:cNvSpPr>
            <a:spLocks noGrp="1"/>
          </p:cNvSpPr>
          <p:nvPr>
            <p:ph type="pic" sz="quarter" idx="24" hasCustomPrompt="1"/>
          </p:nvPr>
        </p:nvSpPr>
        <p:spPr>
          <a:xfrm>
            <a:off x="14165261" y="26461750"/>
            <a:ext cx="3132000" cy="1764000"/>
          </a:xfrm>
          <a:prstGeom prst="rect">
            <a:avLst/>
          </a:prstGeom>
          <a:noFill/>
          <a:ln>
            <a:noFill/>
          </a:ln>
        </p:spPr>
        <p:txBody>
          <a:bodyPr/>
          <a:lstStyle>
            <a:lvl1pPr>
              <a:defRPr sz="1600"/>
            </a:lvl1pPr>
          </a:lstStyle>
          <a:p>
            <a:r>
              <a:rPr lang="en-GB" noProof="0" dirty="0"/>
              <a:t>Click icon to add a supporter or partner logo</a:t>
            </a:r>
          </a:p>
        </p:txBody>
      </p:sp>
      <p:sp>
        <p:nvSpPr>
          <p:cNvPr id="33" name="Picture Placeholder 14">
            <a:extLst>
              <a:ext uri="{FF2B5EF4-FFF2-40B4-BE49-F238E27FC236}">
                <a16:creationId xmlns:a16="http://schemas.microsoft.com/office/drawing/2014/main" id="{75C6CEFE-B735-0385-C658-4587C1DD75EB}"/>
              </a:ext>
            </a:extLst>
          </p:cNvPr>
          <p:cNvSpPr>
            <a:spLocks noGrp="1"/>
          </p:cNvSpPr>
          <p:nvPr>
            <p:ph type="pic" sz="quarter" idx="25" hasCustomPrompt="1"/>
          </p:nvPr>
        </p:nvSpPr>
        <p:spPr>
          <a:xfrm>
            <a:off x="17461049" y="26461750"/>
            <a:ext cx="3132000" cy="1764000"/>
          </a:xfrm>
          <a:prstGeom prst="rect">
            <a:avLst/>
          </a:prstGeom>
          <a:noFill/>
          <a:ln>
            <a:noFill/>
          </a:ln>
        </p:spPr>
        <p:txBody>
          <a:bodyPr/>
          <a:lstStyle>
            <a:lvl1pPr>
              <a:defRPr sz="1600"/>
            </a:lvl1pPr>
          </a:lstStyle>
          <a:p>
            <a:pPr marL="0" marR="0" lvl="0" indent="0" algn="l" defTabSz="1202763" rtl="0" eaLnBrk="1" fontAlgn="auto" latinLnBrk="0" hangingPunct="1">
              <a:lnSpc>
                <a:spcPct val="105000"/>
              </a:lnSpc>
              <a:spcBef>
                <a:spcPts val="0"/>
              </a:spcBef>
              <a:spcAft>
                <a:spcPts val="0"/>
              </a:spcAft>
              <a:buClrTx/>
              <a:buSzTx/>
              <a:buFont typeface="Arial" panose="020B0604020202020204" pitchFamily="34" charset="0"/>
              <a:buNone/>
              <a:tabLst/>
              <a:defRPr/>
            </a:pPr>
            <a:r>
              <a:rPr lang="en-GB" noProof="0" dirty="0"/>
              <a:t>Click icon to add a supporter or partner logo</a:t>
            </a:r>
          </a:p>
          <a:p>
            <a:endParaRPr lang="en-GB" noProof="0" dirty="0"/>
          </a:p>
        </p:txBody>
      </p:sp>
      <p:sp>
        <p:nvSpPr>
          <p:cNvPr id="3" name="Text Placeholder 2">
            <a:extLst>
              <a:ext uri="{FF2B5EF4-FFF2-40B4-BE49-F238E27FC236}">
                <a16:creationId xmlns:a16="http://schemas.microsoft.com/office/drawing/2014/main" id="{CB1CA73C-0476-5A07-BF41-8F4A73CC8D09}"/>
              </a:ext>
            </a:extLst>
          </p:cNvPr>
          <p:cNvSpPr>
            <a:spLocks noGrp="1"/>
          </p:cNvSpPr>
          <p:nvPr>
            <p:ph type="body" sz="quarter" idx="26"/>
          </p:nvPr>
        </p:nvSpPr>
        <p:spPr>
          <a:xfrm>
            <a:off x="790575" y="4911725"/>
            <a:ext cx="6427788" cy="798106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Text Placeholder 2">
            <a:extLst>
              <a:ext uri="{FF2B5EF4-FFF2-40B4-BE49-F238E27FC236}">
                <a16:creationId xmlns:a16="http://schemas.microsoft.com/office/drawing/2014/main" id="{00C73574-5895-09F1-1C64-ACBD70013EBD}"/>
              </a:ext>
            </a:extLst>
          </p:cNvPr>
          <p:cNvSpPr>
            <a:spLocks noGrp="1"/>
          </p:cNvSpPr>
          <p:nvPr>
            <p:ph type="body" sz="quarter" idx="27"/>
          </p:nvPr>
        </p:nvSpPr>
        <p:spPr>
          <a:xfrm>
            <a:off x="7449511" y="4911724"/>
            <a:ext cx="6427788" cy="798106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6" name="Text Placeholder 2">
            <a:extLst>
              <a:ext uri="{FF2B5EF4-FFF2-40B4-BE49-F238E27FC236}">
                <a16:creationId xmlns:a16="http://schemas.microsoft.com/office/drawing/2014/main" id="{214F4225-433B-2AB2-15E4-9E4230315932}"/>
              </a:ext>
            </a:extLst>
          </p:cNvPr>
          <p:cNvSpPr>
            <a:spLocks noGrp="1"/>
          </p:cNvSpPr>
          <p:nvPr>
            <p:ph type="body" sz="quarter" idx="28"/>
          </p:nvPr>
        </p:nvSpPr>
        <p:spPr>
          <a:xfrm>
            <a:off x="14165261" y="4911724"/>
            <a:ext cx="6427788" cy="798106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4" name="Text Placeholder 2">
            <a:extLst>
              <a:ext uri="{FF2B5EF4-FFF2-40B4-BE49-F238E27FC236}">
                <a16:creationId xmlns:a16="http://schemas.microsoft.com/office/drawing/2014/main" id="{FB76A963-6AEF-5BBE-8E48-EBD8B152A58E}"/>
              </a:ext>
            </a:extLst>
          </p:cNvPr>
          <p:cNvSpPr>
            <a:spLocks noGrp="1"/>
          </p:cNvSpPr>
          <p:nvPr>
            <p:ph type="body" sz="quarter" idx="29"/>
          </p:nvPr>
        </p:nvSpPr>
        <p:spPr>
          <a:xfrm>
            <a:off x="790575"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7" name="Text Placeholder 2">
            <a:extLst>
              <a:ext uri="{FF2B5EF4-FFF2-40B4-BE49-F238E27FC236}">
                <a16:creationId xmlns:a16="http://schemas.microsoft.com/office/drawing/2014/main" id="{4C56EE52-537E-793C-190B-CFC9F395ABDA}"/>
              </a:ext>
            </a:extLst>
          </p:cNvPr>
          <p:cNvSpPr>
            <a:spLocks noGrp="1"/>
          </p:cNvSpPr>
          <p:nvPr>
            <p:ph type="body" sz="quarter" idx="30"/>
          </p:nvPr>
        </p:nvSpPr>
        <p:spPr>
          <a:xfrm>
            <a:off x="7474250"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a:extLst>
              <a:ext uri="{FF2B5EF4-FFF2-40B4-BE49-F238E27FC236}">
                <a16:creationId xmlns:a16="http://schemas.microsoft.com/office/drawing/2014/main" id="{A839EC7A-2402-CED8-C771-BB6EF2E35BB8}"/>
              </a:ext>
            </a:extLst>
          </p:cNvPr>
          <p:cNvSpPr>
            <a:spLocks noGrp="1"/>
          </p:cNvSpPr>
          <p:nvPr>
            <p:ph type="body" sz="quarter" idx="31"/>
          </p:nvPr>
        </p:nvSpPr>
        <p:spPr>
          <a:xfrm>
            <a:off x="14157925" y="21697198"/>
            <a:ext cx="6427788" cy="4506503"/>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2" name="Content Placeholder 10">
            <a:extLst>
              <a:ext uri="{FF2B5EF4-FFF2-40B4-BE49-F238E27FC236}">
                <a16:creationId xmlns:a16="http://schemas.microsoft.com/office/drawing/2014/main" id="{2F7A2BD4-5D5C-FDA8-575A-EEF5BB46759C}"/>
              </a:ext>
            </a:extLst>
          </p:cNvPr>
          <p:cNvSpPr>
            <a:spLocks noGrp="1"/>
          </p:cNvSpPr>
          <p:nvPr>
            <p:ph sz="quarter" idx="32" hasCustomPrompt="1"/>
          </p:nvPr>
        </p:nvSpPr>
        <p:spPr>
          <a:xfrm>
            <a:off x="7449512" y="13164526"/>
            <a:ext cx="13135602" cy="7495200"/>
          </a:xfrm>
        </p:spPr>
        <p:txBody>
          <a:bodyPr/>
          <a:lstStyle>
            <a:lvl1pPr>
              <a:defRPr/>
            </a:lvl1pPr>
          </a:lstStyle>
          <a:p>
            <a:pPr lvl="0"/>
            <a:r>
              <a:rPr lang="en-US" dirty="0"/>
              <a:t>Click an icon to add content</a:t>
            </a:r>
          </a:p>
        </p:txBody>
      </p:sp>
      <p:sp>
        <p:nvSpPr>
          <p:cNvPr id="13" name="Content Placeholder 10">
            <a:extLst>
              <a:ext uri="{FF2B5EF4-FFF2-40B4-BE49-F238E27FC236}">
                <a16:creationId xmlns:a16="http://schemas.microsoft.com/office/drawing/2014/main" id="{B778B18A-FE56-EFD2-5AAF-6F7ED7CAC2D5}"/>
              </a:ext>
            </a:extLst>
          </p:cNvPr>
          <p:cNvSpPr>
            <a:spLocks noGrp="1"/>
          </p:cNvSpPr>
          <p:nvPr>
            <p:ph sz="quarter" idx="33" hasCustomPrompt="1"/>
          </p:nvPr>
        </p:nvSpPr>
        <p:spPr>
          <a:xfrm>
            <a:off x="790576" y="13164527"/>
            <a:ext cx="6427788" cy="7495200"/>
          </a:xfrm>
        </p:spPr>
        <p:txBody>
          <a:bodyPr/>
          <a:lstStyle>
            <a:lvl1pPr>
              <a:defRPr/>
            </a:lvl1pPr>
          </a:lstStyle>
          <a:p>
            <a:pPr lvl="0"/>
            <a:r>
              <a:rPr lang="en-US" dirty="0"/>
              <a:t>Click an icon to add content</a:t>
            </a:r>
          </a:p>
        </p:txBody>
      </p:sp>
    </p:spTree>
    <p:extLst>
      <p:ext uri="{BB962C8B-B14F-4D97-AF65-F5344CB8AC3E}">
        <p14:creationId xmlns:p14="http://schemas.microsoft.com/office/powerpoint/2010/main" val="99454171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F4440-CEDC-0D92-E0D5-5C1E3B59B1DA}"/>
              </a:ext>
            </a:extLst>
          </p:cNvPr>
          <p:cNvSpPr>
            <a:spLocks noGrp="1"/>
          </p:cNvSpPr>
          <p:nvPr>
            <p:ph type="title"/>
          </p:nvPr>
        </p:nvSpPr>
        <p:spPr>
          <a:xfrm>
            <a:off x="790575" y="2206800"/>
            <a:ext cx="13117513" cy="2076441"/>
          </a:xfrm>
          <a:prstGeom prst="rect">
            <a:avLst/>
          </a:prstGeom>
        </p:spPr>
        <p:txBody>
          <a:bodyPr vert="horz" lIns="0" tIns="0" rIns="0" bIns="0" rtlCol="0" anchor="t">
            <a:noAutofit/>
          </a:bodyPr>
          <a:lstStyle/>
          <a:p>
            <a:r>
              <a:rPr lang="en-US" noProof="0"/>
              <a:t>Click to edit Master title style</a:t>
            </a:r>
            <a:endParaRPr lang="en-GB" noProof="0" dirty="0"/>
          </a:p>
        </p:txBody>
      </p:sp>
      <p:sp>
        <p:nvSpPr>
          <p:cNvPr id="3" name="Text Placeholder 2">
            <a:extLst>
              <a:ext uri="{FF2B5EF4-FFF2-40B4-BE49-F238E27FC236}">
                <a16:creationId xmlns:a16="http://schemas.microsoft.com/office/drawing/2014/main" id="{DBCA021F-8558-9528-DA3D-486CCDBEB58F}"/>
              </a:ext>
            </a:extLst>
          </p:cNvPr>
          <p:cNvSpPr>
            <a:spLocks noGrp="1"/>
          </p:cNvSpPr>
          <p:nvPr>
            <p:ph type="body" idx="1"/>
          </p:nvPr>
        </p:nvSpPr>
        <p:spPr>
          <a:xfrm>
            <a:off x="790575" y="4911725"/>
            <a:ext cx="19805088" cy="23333088"/>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Date Placeholder 3">
            <a:extLst>
              <a:ext uri="{FF2B5EF4-FFF2-40B4-BE49-F238E27FC236}">
                <a16:creationId xmlns:a16="http://schemas.microsoft.com/office/drawing/2014/main" id="{1CD1A8F0-AC4B-E4A0-94D0-99C4BFD973A7}"/>
              </a:ext>
            </a:extLst>
          </p:cNvPr>
          <p:cNvSpPr>
            <a:spLocks noGrp="1"/>
          </p:cNvSpPr>
          <p:nvPr>
            <p:ph type="dt" sz="half" idx="2"/>
          </p:nvPr>
        </p:nvSpPr>
        <p:spPr>
          <a:xfrm>
            <a:off x="6440564" y="28880553"/>
            <a:ext cx="3249940" cy="605990"/>
          </a:xfrm>
          <a:prstGeom prst="rect">
            <a:avLst/>
          </a:prstGeom>
        </p:spPr>
        <p:txBody>
          <a:bodyPr vert="horz" lIns="0" tIns="0" rIns="0" bIns="0" rtlCol="0" anchor="b">
            <a:noAutofit/>
          </a:bodyPr>
          <a:lstStyle>
            <a:lvl1pPr algn="r">
              <a:defRPr sz="3200">
                <a:solidFill>
                  <a:schemeClr val="accent1"/>
                </a:solidFill>
              </a:defRPr>
            </a:lvl1pPr>
          </a:lstStyle>
          <a:p>
            <a:fld id="{7591C2C3-B079-4145-9757-D0EBAE610834}" type="datetime1">
              <a:rPr lang="en-GB" noProof="0" smtClean="0"/>
              <a:t>18/02/2026</a:t>
            </a:fld>
            <a:endParaRPr lang="en-GB" noProof="0" dirty="0"/>
          </a:p>
        </p:txBody>
      </p:sp>
      <p:sp>
        <p:nvSpPr>
          <p:cNvPr id="5" name="Footer Placeholder 4">
            <a:extLst>
              <a:ext uri="{FF2B5EF4-FFF2-40B4-BE49-F238E27FC236}">
                <a16:creationId xmlns:a16="http://schemas.microsoft.com/office/drawing/2014/main" id="{5EC0FC7A-298A-77A0-6596-56B0B3FD8C37}"/>
              </a:ext>
            </a:extLst>
          </p:cNvPr>
          <p:cNvSpPr>
            <a:spLocks noGrp="1"/>
          </p:cNvSpPr>
          <p:nvPr>
            <p:ph type="ftr" sz="quarter" idx="3"/>
          </p:nvPr>
        </p:nvSpPr>
        <p:spPr>
          <a:xfrm>
            <a:off x="11474047" y="28880544"/>
            <a:ext cx="9119003" cy="605999"/>
          </a:xfrm>
          <a:prstGeom prst="rect">
            <a:avLst/>
          </a:prstGeom>
        </p:spPr>
        <p:txBody>
          <a:bodyPr vert="horz" lIns="0" tIns="0" rIns="0" bIns="0" rtlCol="0" anchor="b">
            <a:noAutofit/>
          </a:bodyPr>
          <a:lstStyle>
            <a:lvl1pPr algn="r">
              <a:defRPr sz="3200">
                <a:solidFill>
                  <a:schemeClr val="accent1"/>
                </a:solidFill>
              </a:defRPr>
            </a:lvl1pPr>
          </a:lstStyle>
          <a:p>
            <a:r>
              <a:rPr lang="en-GB" noProof="0"/>
              <a:t>imperial.ac.uk</a:t>
            </a:r>
            <a:endParaRPr lang="en-GB" noProof="0" dirty="0"/>
          </a:p>
        </p:txBody>
      </p:sp>
      <p:sp>
        <p:nvSpPr>
          <p:cNvPr id="6" name="Slide Number Placeholder 5">
            <a:extLst>
              <a:ext uri="{FF2B5EF4-FFF2-40B4-BE49-F238E27FC236}">
                <a16:creationId xmlns:a16="http://schemas.microsoft.com/office/drawing/2014/main" id="{B4517C40-7EB7-0CFD-6F6C-54AE57DE17D5}"/>
              </a:ext>
            </a:extLst>
          </p:cNvPr>
          <p:cNvSpPr>
            <a:spLocks noGrp="1"/>
          </p:cNvSpPr>
          <p:nvPr>
            <p:ph type="sldNum" sz="quarter" idx="4"/>
          </p:nvPr>
        </p:nvSpPr>
        <p:spPr>
          <a:xfrm>
            <a:off x="10366376" y="28880544"/>
            <a:ext cx="650878" cy="605999"/>
          </a:xfrm>
          <a:prstGeom prst="rect">
            <a:avLst/>
          </a:prstGeom>
        </p:spPr>
        <p:txBody>
          <a:bodyPr vert="horz" lIns="0" tIns="0" rIns="0" bIns="0" rtlCol="0" anchor="b">
            <a:noAutofit/>
          </a:bodyPr>
          <a:lstStyle>
            <a:lvl1pPr algn="ctr">
              <a:defRPr sz="3200" b="1">
                <a:solidFill>
                  <a:schemeClr val="accent1"/>
                </a:solidFill>
              </a:defRPr>
            </a:lvl1pPr>
          </a:lstStyle>
          <a:p>
            <a:fld id="{CBA53E11-492D-48B3-9F9B-09541CA2A39A}" type="slidenum">
              <a:rPr lang="en-GB" noProof="0" smtClean="0"/>
              <a:pPr/>
              <a:t>‹#›</a:t>
            </a:fld>
            <a:endParaRPr lang="en-GB" noProof="0" dirty="0"/>
          </a:p>
        </p:txBody>
      </p:sp>
      <p:sp>
        <p:nvSpPr>
          <p:cNvPr id="7" name="TextBox 6">
            <a:extLst>
              <a:ext uri="{FF2B5EF4-FFF2-40B4-BE49-F238E27FC236}">
                <a16:creationId xmlns:a16="http://schemas.microsoft.com/office/drawing/2014/main" id="{D296CDD9-97E9-735B-8549-0F3AE3CCAC58}"/>
              </a:ext>
            </a:extLst>
          </p:cNvPr>
          <p:cNvSpPr txBox="1"/>
          <p:nvPr userDrawn="1"/>
        </p:nvSpPr>
        <p:spPr>
          <a:xfrm>
            <a:off x="790575" y="28880544"/>
            <a:ext cx="5192516" cy="605999"/>
          </a:xfrm>
          <a:prstGeom prst="rect">
            <a:avLst/>
          </a:prstGeom>
          <a:noFill/>
        </p:spPr>
        <p:txBody>
          <a:bodyPr wrap="square" lIns="0" tIns="0" rIns="0" bIns="0" rtlCol="0" anchor="b">
            <a:noAutofit/>
          </a:bodyPr>
          <a:lstStyle/>
          <a:p>
            <a:pPr algn="l"/>
            <a:r>
              <a:rPr lang="en-GB" sz="3200" b="0" noProof="0" dirty="0">
                <a:solidFill>
                  <a:schemeClr val="accent1"/>
                </a:solidFill>
                <a:latin typeface="+mn-lt"/>
              </a:rPr>
              <a:t>Imperial College London</a:t>
            </a:r>
          </a:p>
        </p:txBody>
      </p:sp>
      <p:grpSp>
        <p:nvGrpSpPr>
          <p:cNvPr id="10" name="Group 4">
            <a:extLst>
              <a:ext uri="{FF2B5EF4-FFF2-40B4-BE49-F238E27FC236}">
                <a16:creationId xmlns:a16="http://schemas.microsoft.com/office/drawing/2014/main" id="{5B8F859E-67B2-31E4-8FF7-14252D90D5FE}"/>
              </a:ext>
            </a:extLst>
          </p:cNvPr>
          <p:cNvGrpSpPr>
            <a:grpSpLocks noChangeAspect="1"/>
          </p:cNvGrpSpPr>
          <p:nvPr userDrawn="1"/>
        </p:nvGrpSpPr>
        <p:grpSpPr bwMode="auto">
          <a:xfrm>
            <a:off x="790575" y="821055"/>
            <a:ext cx="6336000" cy="699453"/>
            <a:chOff x="0" y="8792"/>
            <a:chExt cx="13470" cy="1487"/>
          </a:xfrm>
          <a:solidFill>
            <a:schemeClr val="accent1"/>
          </a:solidFill>
        </p:grpSpPr>
        <p:sp>
          <p:nvSpPr>
            <p:cNvPr id="12" name="Freeform 5">
              <a:extLst>
                <a:ext uri="{FF2B5EF4-FFF2-40B4-BE49-F238E27FC236}">
                  <a16:creationId xmlns:a16="http://schemas.microsoft.com/office/drawing/2014/main" id="{61C58841-4C03-F11E-E9FB-C1D825B77D29}"/>
                </a:ext>
              </a:extLst>
            </p:cNvPr>
            <p:cNvSpPr>
              <a:spLocks/>
            </p:cNvSpPr>
            <p:nvPr userDrawn="1"/>
          </p:nvSpPr>
          <p:spPr bwMode="auto">
            <a:xfrm>
              <a:off x="12506" y="8792"/>
              <a:ext cx="964" cy="1487"/>
            </a:xfrm>
            <a:custGeom>
              <a:avLst/>
              <a:gdLst>
                <a:gd name="T0" fmla="*/ 0 w 964"/>
                <a:gd name="T1" fmla="*/ 0 h 1487"/>
                <a:gd name="T2" fmla="*/ 0 w 964"/>
                <a:gd name="T3" fmla="*/ 1487 h 1487"/>
                <a:gd name="T4" fmla="*/ 964 w 964"/>
                <a:gd name="T5" fmla="*/ 1487 h 1487"/>
                <a:gd name="T6" fmla="*/ 964 w 964"/>
                <a:gd name="T7" fmla="*/ 1227 h 1487"/>
                <a:gd name="T8" fmla="*/ 280 w 964"/>
                <a:gd name="T9" fmla="*/ 1227 h 1487"/>
                <a:gd name="T10" fmla="*/ 280 w 964"/>
                <a:gd name="T11" fmla="*/ 0 h 1487"/>
                <a:gd name="T12" fmla="*/ 0 w 964"/>
                <a:gd name="T13" fmla="*/ 0 h 1487"/>
                <a:gd name="T14" fmla="*/ 0 w 964"/>
                <a:gd name="T15" fmla="*/ 0 h 14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64" h="1487">
                  <a:moveTo>
                    <a:pt x="0" y="0"/>
                  </a:moveTo>
                  <a:lnTo>
                    <a:pt x="0" y="1487"/>
                  </a:lnTo>
                  <a:lnTo>
                    <a:pt x="964" y="1487"/>
                  </a:lnTo>
                  <a:lnTo>
                    <a:pt x="964" y="1227"/>
                  </a:lnTo>
                  <a:lnTo>
                    <a:pt x="280" y="1227"/>
                  </a:lnTo>
                  <a:lnTo>
                    <a:pt x="28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3" name="Freeform 6">
              <a:extLst>
                <a:ext uri="{FF2B5EF4-FFF2-40B4-BE49-F238E27FC236}">
                  <a16:creationId xmlns:a16="http://schemas.microsoft.com/office/drawing/2014/main" id="{A66AEB3A-19AD-FDFB-E196-3A2F869534FF}"/>
                </a:ext>
              </a:extLst>
            </p:cNvPr>
            <p:cNvSpPr>
              <a:spLocks noEditPoints="1"/>
            </p:cNvSpPr>
            <p:nvPr userDrawn="1"/>
          </p:nvSpPr>
          <p:spPr bwMode="auto">
            <a:xfrm>
              <a:off x="10525" y="8792"/>
              <a:ext cx="1346" cy="1487"/>
            </a:xfrm>
            <a:custGeom>
              <a:avLst/>
              <a:gdLst>
                <a:gd name="T0" fmla="*/ 488 w 1346"/>
                <a:gd name="T1" fmla="*/ 0 h 1487"/>
                <a:gd name="T2" fmla="*/ 0 w 1346"/>
                <a:gd name="T3" fmla="*/ 1487 h 1487"/>
                <a:gd name="T4" fmla="*/ 296 w 1346"/>
                <a:gd name="T5" fmla="*/ 1487 h 1487"/>
                <a:gd name="T6" fmla="*/ 397 w 1346"/>
                <a:gd name="T7" fmla="*/ 1160 h 1487"/>
                <a:gd name="T8" fmla="*/ 950 w 1346"/>
                <a:gd name="T9" fmla="*/ 1160 h 1487"/>
                <a:gd name="T10" fmla="*/ 1050 w 1346"/>
                <a:gd name="T11" fmla="*/ 1487 h 1487"/>
                <a:gd name="T12" fmla="*/ 1346 w 1346"/>
                <a:gd name="T13" fmla="*/ 1487 h 1487"/>
                <a:gd name="T14" fmla="*/ 858 w 1346"/>
                <a:gd name="T15" fmla="*/ 0 h 1487"/>
                <a:gd name="T16" fmla="*/ 488 w 1346"/>
                <a:gd name="T17" fmla="*/ 0 h 1487"/>
                <a:gd name="T18" fmla="*/ 488 w 1346"/>
                <a:gd name="T19" fmla="*/ 0 h 1487"/>
                <a:gd name="T20" fmla="*/ 674 w 1346"/>
                <a:gd name="T21" fmla="*/ 264 h 1487"/>
                <a:gd name="T22" fmla="*/ 875 w 1346"/>
                <a:gd name="T23" fmla="*/ 920 h 1487"/>
                <a:gd name="T24" fmla="*/ 470 w 1346"/>
                <a:gd name="T25" fmla="*/ 920 h 1487"/>
                <a:gd name="T26" fmla="*/ 674 w 1346"/>
                <a:gd name="T27" fmla="*/ 264 h 1487"/>
                <a:gd name="T28" fmla="*/ 674 w 1346"/>
                <a:gd name="T29" fmla="*/ 264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46" h="1487">
                  <a:moveTo>
                    <a:pt x="488" y="0"/>
                  </a:moveTo>
                  <a:lnTo>
                    <a:pt x="0" y="1487"/>
                  </a:lnTo>
                  <a:lnTo>
                    <a:pt x="296" y="1487"/>
                  </a:lnTo>
                  <a:lnTo>
                    <a:pt x="397" y="1160"/>
                  </a:lnTo>
                  <a:lnTo>
                    <a:pt x="950" y="1160"/>
                  </a:lnTo>
                  <a:lnTo>
                    <a:pt x="1050" y="1487"/>
                  </a:lnTo>
                  <a:lnTo>
                    <a:pt x="1346" y="1487"/>
                  </a:lnTo>
                  <a:lnTo>
                    <a:pt x="858" y="0"/>
                  </a:lnTo>
                  <a:lnTo>
                    <a:pt x="488" y="0"/>
                  </a:lnTo>
                  <a:lnTo>
                    <a:pt x="488" y="0"/>
                  </a:lnTo>
                  <a:close/>
                  <a:moveTo>
                    <a:pt x="674" y="264"/>
                  </a:moveTo>
                  <a:lnTo>
                    <a:pt x="875" y="920"/>
                  </a:lnTo>
                  <a:lnTo>
                    <a:pt x="470" y="920"/>
                  </a:lnTo>
                  <a:lnTo>
                    <a:pt x="674" y="264"/>
                  </a:lnTo>
                  <a:lnTo>
                    <a:pt x="674"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4" name="Freeform 7">
              <a:extLst>
                <a:ext uri="{FF2B5EF4-FFF2-40B4-BE49-F238E27FC236}">
                  <a16:creationId xmlns:a16="http://schemas.microsoft.com/office/drawing/2014/main" id="{54DF53D1-90F8-4D66-1194-252B58894048}"/>
                </a:ext>
              </a:extLst>
            </p:cNvPr>
            <p:cNvSpPr>
              <a:spLocks/>
            </p:cNvSpPr>
            <p:nvPr userDrawn="1"/>
          </p:nvSpPr>
          <p:spPr bwMode="auto">
            <a:xfrm>
              <a:off x="8989" y="8792"/>
              <a:ext cx="976" cy="1487"/>
            </a:xfrm>
            <a:custGeom>
              <a:avLst/>
              <a:gdLst>
                <a:gd name="T0" fmla="*/ 0 w 976"/>
                <a:gd name="T1" fmla="*/ 0 h 1487"/>
                <a:gd name="T2" fmla="*/ 0 w 976"/>
                <a:gd name="T3" fmla="*/ 261 h 1487"/>
                <a:gd name="T4" fmla="*/ 347 w 976"/>
                <a:gd name="T5" fmla="*/ 261 h 1487"/>
                <a:gd name="T6" fmla="*/ 347 w 976"/>
                <a:gd name="T7" fmla="*/ 1227 h 1487"/>
                <a:gd name="T8" fmla="*/ 0 w 976"/>
                <a:gd name="T9" fmla="*/ 1227 h 1487"/>
                <a:gd name="T10" fmla="*/ 0 w 976"/>
                <a:gd name="T11" fmla="*/ 1487 h 1487"/>
                <a:gd name="T12" fmla="*/ 976 w 976"/>
                <a:gd name="T13" fmla="*/ 1487 h 1487"/>
                <a:gd name="T14" fmla="*/ 976 w 976"/>
                <a:gd name="T15" fmla="*/ 1227 h 1487"/>
                <a:gd name="T16" fmla="*/ 628 w 976"/>
                <a:gd name="T17" fmla="*/ 1227 h 1487"/>
                <a:gd name="T18" fmla="*/ 628 w 976"/>
                <a:gd name="T19" fmla="*/ 261 h 1487"/>
                <a:gd name="T20" fmla="*/ 976 w 976"/>
                <a:gd name="T21" fmla="*/ 261 h 1487"/>
                <a:gd name="T22" fmla="*/ 976 w 976"/>
                <a:gd name="T23" fmla="*/ 0 h 1487"/>
                <a:gd name="T24" fmla="*/ 0 w 976"/>
                <a:gd name="T25" fmla="*/ 0 h 1487"/>
                <a:gd name="T26" fmla="*/ 0 w 976"/>
                <a:gd name="T27"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6" h="1487">
                  <a:moveTo>
                    <a:pt x="0" y="0"/>
                  </a:moveTo>
                  <a:lnTo>
                    <a:pt x="0" y="261"/>
                  </a:lnTo>
                  <a:lnTo>
                    <a:pt x="347" y="261"/>
                  </a:lnTo>
                  <a:lnTo>
                    <a:pt x="347" y="1227"/>
                  </a:lnTo>
                  <a:lnTo>
                    <a:pt x="0" y="1227"/>
                  </a:lnTo>
                  <a:lnTo>
                    <a:pt x="0" y="1487"/>
                  </a:lnTo>
                  <a:lnTo>
                    <a:pt x="976" y="1487"/>
                  </a:lnTo>
                  <a:lnTo>
                    <a:pt x="976" y="1227"/>
                  </a:lnTo>
                  <a:lnTo>
                    <a:pt x="628" y="1227"/>
                  </a:lnTo>
                  <a:lnTo>
                    <a:pt x="628" y="261"/>
                  </a:lnTo>
                  <a:lnTo>
                    <a:pt x="976" y="261"/>
                  </a:lnTo>
                  <a:lnTo>
                    <a:pt x="976"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5" name="Freeform 8">
              <a:extLst>
                <a:ext uri="{FF2B5EF4-FFF2-40B4-BE49-F238E27FC236}">
                  <a16:creationId xmlns:a16="http://schemas.microsoft.com/office/drawing/2014/main" id="{3F5DA096-5291-A2DF-1BA8-D4CE73D939D0}"/>
                </a:ext>
              </a:extLst>
            </p:cNvPr>
            <p:cNvSpPr>
              <a:spLocks noEditPoints="1"/>
            </p:cNvSpPr>
            <p:nvPr userDrawn="1"/>
          </p:nvSpPr>
          <p:spPr bwMode="auto">
            <a:xfrm>
              <a:off x="7246" y="8792"/>
              <a:ext cx="1155" cy="1487"/>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6" name="Freeform 9">
              <a:extLst>
                <a:ext uri="{FF2B5EF4-FFF2-40B4-BE49-F238E27FC236}">
                  <a16:creationId xmlns:a16="http://schemas.microsoft.com/office/drawing/2014/main" id="{03788404-0623-D7AB-430D-C7451DD8576A}"/>
                </a:ext>
              </a:extLst>
            </p:cNvPr>
            <p:cNvSpPr>
              <a:spLocks/>
            </p:cNvSpPr>
            <p:nvPr userDrawn="1"/>
          </p:nvSpPr>
          <p:spPr bwMode="auto">
            <a:xfrm>
              <a:off x="5586" y="8792"/>
              <a:ext cx="962" cy="1487"/>
            </a:xfrm>
            <a:custGeom>
              <a:avLst/>
              <a:gdLst>
                <a:gd name="T0" fmla="*/ 0 w 962"/>
                <a:gd name="T1" fmla="*/ 0 h 1487"/>
                <a:gd name="T2" fmla="*/ 0 w 962"/>
                <a:gd name="T3" fmla="*/ 1487 h 1487"/>
                <a:gd name="T4" fmla="*/ 962 w 962"/>
                <a:gd name="T5" fmla="*/ 1487 h 1487"/>
                <a:gd name="T6" fmla="*/ 962 w 962"/>
                <a:gd name="T7" fmla="*/ 1227 h 1487"/>
                <a:gd name="T8" fmla="*/ 281 w 962"/>
                <a:gd name="T9" fmla="*/ 1227 h 1487"/>
                <a:gd name="T10" fmla="*/ 281 w 962"/>
                <a:gd name="T11" fmla="*/ 855 h 1487"/>
                <a:gd name="T12" fmla="*/ 903 w 962"/>
                <a:gd name="T13" fmla="*/ 855 h 1487"/>
                <a:gd name="T14" fmla="*/ 903 w 962"/>
                <a:gd name="T15" fmla="*/ 603 h 1487"/>
                <a:gd name="T16" fmla="*/ 281 w 962"/>
                <a:gd name="T17" fmla="*/ 603 h 1487"/>
                <a:gd name="T18" fmla="*/ 281 w 962"/>
                <a:gd name="T19" fmla="*/ 261 h 1487"/>
                <a:gd name="T20" fmla="*/ 962 w 962"/>
                <a:gd name="T21" fmla="*/ 261 h 1487"/>
                <a:gd name="T22" fmla="*/ 962 w 962"/>
                <a:gd name="T23" fmla="*/ 0 h 1487"/>
                <a:gd name="T24" fmla="*/ 0 w 962"/>
                <a:gd name="T25" fmla="*/ 0 h 1487"/>
                <a:gd name="T26" fmla="*/ 0 w 962"/>
                <a:gd name="T27"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2" h="1487">
                  <a:moveTo>
                    <a:pt x="0" y="0"/>
                  </a:moveTo>
                  <a:lnTo>
                    <a:pt x="0" y="1487"/>
                  </a:lnTo>
                  <a:lnTo>
                    <a:pt x="962" y="1487"/>
                  </a:lnTo>
                  <a:lnTo>
                    <a:pt x="962" y="1227"/>
                  </a:lnTo>
                  <a:lnTo>
                    <a:pt x="281" y="1227"/>
                  </a:lnTo>
                  <a:lnTo>
                    <a:pt x="281" y="855"/>
                  </a:lnTo>
                  <a:lnTo>
                    <a:pt x="903" y="855"/>
                  </a:lnTo>
                  <a:lnTo>
                    <a:pt x="903" y="603"/>
                  </a:lnTo>
                  <a:lnTo>
                    <a:pt x="281" y="603"/>
                  </a:lnTo>
                  <a:lnTo>
                    <a:pt x="281" y="261"/>
                  </a:lnTo>
                  <a:lnTo>
                    <a:pt x="962" y="261"/>
                  </a:lnTo>
                  <a:lnTo>
                    <a:pt x="962"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7" name="Freeform 10">
              <a:extLst>
                <a:ext uri="{FF2B5EF4-FFF2-40B4-BE49-F238E27FC236}">
                  <a16:creationId xmlns:a16="http://schemas.microsoft.com/office/drawing/2014/main" id="{25BE06B1-DA44-6343-3BC4-0121CD607775}"/>
                </a:ext>
              </a:extLst>
            </p:cNvPr>
            <p:cNvSpPr>
              <a:spLocks noEditPoints="1"/>
            </p:cNvSpPr>
            <p:nvPr userDrawn="1"/>
          </p:nvSpPr>
          <p:spPr bwMode="auto">
            <a:xfrm>
              <a:off x="3930" y="8792"/>
              <a:ext cx="1065" cy="1487"/>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8" name="Freeform 11">
              <a:extLst>
                <a:ext uri="{FF2B5EF4-FFF2-40B4-BE49-F238E27FC236}">
                  <a16:creationId xmlns:a16="http://schemas.microsoft.com/office/drawing/2014/main" id="{7FCC7591-2A02-9882-D609-263757CD5388}"/>
                </a:ext>
              </a:extLst>
            </p:cNvPr>
            <p:cNvSpPr>
              <a:spLocks/>
            </p:cNvSpPr>
            <p:nvPr userDrawn="1"/>
          </p:nvSpPr>
          <p:spPr bwMode="auto">
            <a:xfrm>
              <a:off x="1705" y="8792"/>
              <a:ext cx="1509" cy="1487"/>
            </a:xfrm>
            <a:custGeom>
              <a:avLst/>
              <a:gdLst>
                <a:gd name="T0" fmla="*/ 1110 w 1509"/>
                <a:gd name="T1" fmla="*/ 0 h 1487"/>
                <a:gd name="T2" fmla="*/ 755 w 1509"/>
                <a:gd name="T3" fmla="*/ 874 h 1487"/>
                <a:gd name="T4" fmla="*/ 401 w 1509"/>
                <a:gd name="T5" fmla="*/ 0 h 1487"/>
                <a:gd name="T6" fmla="*/ 0 w 1509"/>
                <a:gd name="T7" fmla="*/ 0 h 1487"/>
                <a:gd name="T8" fmla="*/ 0 w 1509"/>
                <a:gd name="T9" fmla="*/ 1487 h 1487"/>
                <a:gd name="T10" fmla="*/ 267 w 1509"/>
                <a:gd name="T11" fmla="*/ 1487 h 1487"/>
                <a:gd name="T12" fmla="*/ 267 w 1509"/>
                <a:gd name="T13" fmla="*/ 376 h 1487"/>
                <a:gd name="T14" fmla="*/ 607 w 1509"/>
                <a:gd name="T15" fmla="*/ 1160 h 1487"/>
                <a:gd name="T16" fmla="*/ 622 w 1509"/>
                <a:gd name="T17" fmla="*/ 1160 h 1487"/>
                <a:gd name="T18" fmla="*/ 888 w 1509"/>
                <a:gd name="T19" fmla="*/ 1160 h 1487"/>
                <a:gd name="T20" fmla="*/ 903 w 1509"/>
                <a:gd name="T21" fmla="*/ 1160 h 1487"/>
                <a:gd name="T22" fmla="*/ 1243 w 1509"/>
                <a:gd name="T23" fmla="*/ 376 h 1487"/>
                <a:gd name="T24" fmla="*/ 1243 w 1509"/>
                <a:gd name="T25" fmla="*/ 1487 h 1487"/>
                <a:gd name="T26" fmla="*/ 1509 w 1509"/>
                <a:gd name="T27" fmla="*/ 1487 h 1487"/>
                <a:gd name="T28" fmla="*/ 1509 w 1509"/>
                <a:gd name="T29" fmla="*/ 0 h 1487"/>
                <a:gd name="T30" fmla="*/ 1110 w 1509"/>
                <a:gd name="T31" fmla="*/ 0 h 1487"/>
                <a:gd name="T32" fmla="*/ 1110 w 1509"/>
                <a:gd name="T33"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09" h="1487">
                  <a:moveTo>
                    <a:pt x="1110" y="0"/>
                  </a:moveTo>
                  <a:lnTo>
                    <a:pt x="755" y="874"/>
                  </a:lnTo>
                  <a:lnTo>
                    <a:pt x="401" y="0"/>
                  </a:lnTo>
                  <a:lnTo>
                    <a:pt x="0" y="0"/>
                  </a:lnTo>
                  <a:lnTo>
                    <a:pt x="0" y="1487"/>
                  </a:lnTo>
                  <a:lnTo>
                    <a:pt x="267" y="1487"/>
                  </a:lnTo>
                  <a:lnTo>
                    <a:pt x="267" y="376"/>
                  </a:lnTo>
                  <a:lnTo>
                    <a:pt x="607" y="1160"/>
                  </a:lnTo>
                  <a:lnTo>
                    <a:pt x="622" y="1160"/>
                  </a:lnTo>
                  <a:lnTo>
                    <a:pt x="888" y="1160"/>
                  </a:lnTo>
                  <a:lnTo>
                    <a:pt x="903" y="1160"/>
                  </a:lnTo>
                  <a:lnTo>
                    <a:pt x="1243" y="376"/>
                  </a:lnTo>
                  <a:lnTo>
                    <a:pt x="1243" y="1487"/>
                  </a:lnTo>
                  <a:lnTo>
                    <a:pt x="1509" y="1487"/>
                  </a:lnTo>
                  <a:lnTo>
                    <a:pt x="1509" y="0"/>
                  </a:lnTo>
                  <a:lnTo>
                    <a:pt x="1110" y="0"/>
                  </a:lnTo>
                  <a:lnTo>
                    <a:pt x="11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9" name="Freeform 12">
              <a:extLst>
                <a:ext uri="{FF2B5EF4-FFF2-40B4-BE49-F238E27FC236}">
                  <a16:creationId xmlns:a16="http://schemas.microsoft.com/office/drawing/2014/main" id="{3A09E968-58E1-1A1E-4EA6-8E6130280E06}"/>
                </a:ext>
              </a:extLst>
            </p:cNvPr>
            <p:cNvSpPr>
              <a:spLocks/>
            </p:cNvSpPr>
            <p:nvPr userDrawn="1"/>
          </p:nvSpPr>
          <p:spPr bwMode="auto">
            <a:xfrm>
              <a:off x="0" y="8792"/>
              <a:ext cx="976" cy="1487"/>
            </a:xfrm>
            <a:custGeom>
              <a:avLst/>
              <a:gdLst>
                <a:gd name="T0" fmla="*/ 0 w 976"/>
                <a:gd name="T1" fmla="*/ 0 h 1487"/>
                <a:gd name="T2" fmla="*/ 0 w 976"/>
                <a:gd name="T3" fmla="*/ 261 h 1487"/>
                <a:gd name="T4" fmla="*/ 348 w 976"/>
                <a:gd name="T5" fmla="*/ 261 h 1487"/>
                <a:gd name="T6" fmla="*/ 348 w 976"/>
                <a:gd name="T7" fmla="*/ 1227 h 1487"/>
                <a:gd name="T8" fmla="*/ 0 w 976"/>
                <a:gd name="T9" fmla="*/ 1227 h 1487"/>
                <a:gd name="T10" fmla="*/ 0 w 976"/>
                <a:gd name="T11" fmla="*/ 1487 h 1487"/>
                <a:gd name="T12" fmla="*/ 976 w 976"/>
                <a:gd name="T13" fmla="*/ 1487 h 1487"/>
                <a:gd name="T14" fmla="*/ 976 w 976"/>
                <a:gd name="T15" fmla="*/ 1227 h 1487"/>
                <a:gd name="T16" fmla="*/ 629 w 976"/>
                <a:gd name="T17" fmla="*/ 1227 h 1487"/>
                <a:gd name="T18" fmla="*/ 629 w 976"/>
                <a:gd name="T19" fmla="*/ 261 h 1487"/>
                <a:gd name="T20" fmla="*/ 976 w 976"/>
                <a:gd name="T21" fmla="*/ 261 h 1487"/>
                <a:gd name="T22" fmla="*/ 976 w 976"/>
                <a:gd name="T23" fmla="*/ 0 h 1487"/>
                <a:gd name="T24" fmla="*/ 0 w 976"/>
                <a:gd name="T25" fmla="*/ 0 h 1487"/>
                <a:gd name="T26" fmla="*/ 0 w 976"/>
                <a:gd name="T27"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6" h="1487">
                  <a:moveTo>
                    <a:pt x="0" y="0"/>
                  </a:moveTo>
                  <a:lnTo>
                    <a:pt x="0" y="261"/>
                  </a:lnTo>
                  <a:lnTo>
                    <a:pt x="348" y="261"/>
                  </a:lnTo>
                  <a:lnTo>
                    <a:pt x="348" y="1227"/>
                  </a:lnTo>
                  <a:lnTo>
                    <a:pt x="0" y="1227"/>
                  </a:lnTo>
                  <a:lnTo>
                    <a:pt x="0" y="1487"/>
                  </a:lnTo>
                  <a:lnTo>
                    <a:pt x="976" y="1487"/>
                  </a:lnTo>
                  <a:lnTo>
                    <a:pt x="976" y="1227"/>
                  </a:lnTo>
                  <a:lnTo>
                    <a:pt x="629" y="1227"/>
                  </a:lnTo>
                  <a:lnTo>
                    <a:pt x="629" y="261"/>
                  </a:lnTo>
                  <a:lnTo>
                    <a:pt x="976" y="261"/>
                  </a:lnTo>
                  <a:lnTo>
                    <a:pt x="976"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grpSp>
      <p:cxnSp>
        <p:nvCxnSpPr>
          <p:cNvPr id="21" name="Straight Connector 20">
            <a:extLst>
              <a:ext uri="{FF2B5EF4-FFF2-40B4-BE49-F238E27FC236}">
                <a16:creationId xmlns:a16="http://schemas.microsoft.com/office/drawing/2014/main" id="{7B0F1BC1-E68D-0921-9C05-B7E16303C4E8}"/>
              </a:ext>
            </a:extLst>
          </p:cNvPr>
          <p:cNvCxnSpPr>
            <a:cxnSpLocks/>
          </p:cNvCxnSpPr>
          <p:nvPr userDrawn="1"/>
        </p:nvCxnSpPr>
        <p:spPr>
          <a:xfrm>
            <a:off x="790575" y="2030400"/>
            <a:ext cx="1980247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975747F-1017-4D31-5505-A8430B838C69}"/>
              </a:ext>
            </a:extLst>
          </p:cNvPr>
          <p:cNvCxnSpPr>
            <a:cxnSpLocks/>
          </p:cNvCxnSpPr>
          <p:nvPr userDrawn="1"/>
        </p:nvCxnSpPr>
        <p:spPr>
          <a:xfrm>
            <a:off x="790575" y="4453200"/>
            <a:ext cx="1980247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73FABCA-D867-B923-AEC5-2529DDAF191A}"/>
              </a:ext>
            </a:extLst>
          </p:cNvPr>
          <p:cNvCxnSpPr>
            <a:cxnSpLocks/>
          </p:cNvCxnSpPr>
          <p:nvPr userDrawn="1"/>
        </p:nvCxnSpPr>
        <p:spPr>
          <a:xfrm>
            <a:off x="14040000" y="2030400"/>
            <a:ext cx="0" cy="24228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0A522AD-270D-814A-95B1-9E0337444A84}"/>
              </a:ext>
            </a:extLst>
          </p:cNvPr>
          <p:cNvCxnSpPr>
            <a:cxnSpLocks/>
          </p:cNvCxnSpPr>
          <p:nvPr userDrawn="1"/>
        </p:nvCxnSpPr>
        <p:spPr>
          <a:xfrm>
            <a:off x="792000" y="28656000"/>
            <a:ext cx="19802475"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5082161"/>
      </p:ext>
    </p:extLst>
  </p:cSld>
  <p:clrMap bg1="lt1" tx1="dk1" bg2="lt2" tx2="dk2" accent1="accent1" accent2="accent2" accent3="accent3" accent4="accent4" accent5="accent5" accent6="accent6" hlink="hlink" folHlink="folHlink"/>
  <p:sldLayoutIdLst>
    <p:sldLayoutId id="2147483650" r:id="rId1"/>
    <p:sldLayoutId id="2147483651" r:id="rId2"/>
  </p:sldLayoutIdLst>
  <p:transition>
    <p:fade/>
  </p:transition>
  <p:hf sldNum="0" hdr="0" dt="0"/>
  <p:txStyles>
    <p:titleStyle>
      <a:lvl1pPr algn="l" defTabSz="1202763" rtl="0" eaLnBrk="1" latinLnBrk="0" hangingPunct="1">
        <a:lnSpc>
          <a:spcPct val="90000"/>
        </a:lnSpc>
        <a:spcBef>
          <a:spcPct val="0"/>
        </a:spcBef>
        <a:buNone/>
        <a:defRPr sz="4200" b="0" kern="1200">
          <a:solidFill>
            <a:schemeClr val="accent1"/>
          </a:solidFill>
          <a:latin typeface="+mj-lt"/>
          <a:ea typeface="+mj-ea"/>
          <a:cs typeface="+mj-cs"/>
        </a:defRPr>
      </a:lvl1pPr>
    </p:titleStyle>
    <p:bodyStyle>
      <a:lvl1pPr marL="0" indent="0" algn="l" defTabSz="1202763"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202763" rtl="0" eaLnBrk="1" latinLnBrk="0" hangingPunct="1">
        <a:lnSpc>
          <a:spcPct val="105000"/>
        </a:lnSpc>
        <a:spcBef>
          <a:spcPts val="0"/>
        </a:spcBef>
        <a:buFont typeface="Arial" panose="020B0604020202020204" pitchFamily="34" charset="0"/>
        <a:buNone/>
        <a:defRPr sz="2600" b="0" i="0" kern="1200">
          <a:solidFill>
            <a:schemeClr val="tx1"/>
          </a:solidFill>
          <a:latin typeface="+mj-lt"/>
          <a:ea typeface="+mn-ea"/>
          <a:cs typeface="+mn-cs"/>
        </a:defRPr>
      </a:lvl2pPr>
      <a:lvl3pPr marL="360000" indent="-360000" algn="l" defTabSz="1202763"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202763"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202763"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202763"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202763"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4510361"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8pPr>
      <a:lvl9pPr marL="5111743"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9pPr>
    </p:bodyStyle>
    <p:otherStyle>
      <a:defPPr>
        <a:defRPr lang="en-US"/>
      </a:defPPr>
      <a:lvl1pPr marL="0" algn="l" defTabSz="1202763" rtl="0" eaLnBrk="1" latinLnBrk="0" hangingPunct="1">
        <a:defRPr sz="2600" kern="1200">
          <a:solidFill>
            <a:schemeClr val="tx1"/>
          </a:solidFill>
          <a:latin typeface="+mn-lt"/>
          <a:ea typeface="+mn-ea"/>
          <a:cs typeface="+mn-cs"/>
        </a:defRPr>
      </a:lvl1pPr>
      <a:lvl2pPr marL="601381" algn="l" defTabSz="1202763" rtl="0" eaLnBrk="1" latinLnBrk="0" hangingPunct="1">
        <a:defRPr sz="2600" kern="1200">
          <a:solidFill>
            <a:schemeClr val="tx1"/>
          </a:solidFill>
          <a:latin typeface="+mn-lt"/>
          <a:ea typeface="+mn-ea"/>
          <a:cs typeface="+mn-cs"/>
        </a:defRPr>
      </a:lvl2pPr>
      <a:lvl3pPr marL="1202763" algn="l" defTabSz="1202763" rtl="0" eaLnBrk="1" latinLnBrk="0" hangingPunct="1">
        <a:defRPr sz="2600" kern="1200">
          <a:solidFill>
            <a:schemeClr val="tx1"/>
          </a:solidFill>
          <a:latin typeface="+mn-lt"/>
          <a:ea typeface="+mn-ea"/>
          <a:cs typeface="+mn-cs"/>
        </a:defRPr>
      </a:lvl3pPr>
      <a:lvl4pPr marL="1804144" algn="l" defTabSz="1202763" rtl="0" eaLnBrk="1" latinLnBrk="0" hangingPunct="1">
        <a:defRPr sz="2600" kern="1200">
          <a:solidFill>
            <a:schemeClr val="tx1"/>
          </a:solidFill>
          <a:latin typeface="+mn-lt"/>
          <a:ea typeface="+mn-ea"/>
          <a:cs typeface="+mn-cs"/>
        </a:defRPr>
      </a:lvl4pPr>
      <a:lvl5pPr marL="2405526" algn="l" defTabSz="1202763" rtl="0" eaLnBrk="1" latinLnBrk="0" hangingPunct="1">
        <a:defRPr sz="2600" kern="1200">
          <a:solidFill>
            <a:schemeClr val="tx1"/>
          </a:solidFill>
          <a:latin typeface="+mn-lt"/>
          <a:ea typeface="+mn-ea"/>
          <a:cs typeface="+mn-cs"/>
        </a:defRPr>
      </a:lvl5pPr>
      <a:lvl6pPr marL="3006907" algn="l" defTabSz="1202763" rtl="0" eaLnBrk="1" latinLnBrk="0" hangingPunct="1">
        <a:defRPr sz="2600" kern="1200">
          <a:solidFill>
            <a:schemeClr val="tx1"/>
          </a:solidFill>
          <a:latin typeface="+mn-lt"/>
          <a:ea typeface="+mn-ea"/>
          <a:cs typeface="+mn-cs"/>
        </a:defRPr>
      </a:lvl6pPr>
      <a:lvl7pPr marL="3608290" algn="l" defTabSz="1202763" rtl="0" eaLnBrk="1" latinLnBrk="0" hangingPunct="1">
        <a:defRPr sz="2600" kern="1200">
          <a:solidFill>
            <a:schemeClr val="tx1"/>
          </a:solidFill>
          <a:latin typeface="+mn-lt"/>
          <a:ea typeface="+mn-ea"/>
          <a:cs typeface="+mn-cs"/>
        </a:defRPr>
      </a:lvl7pPr>
      <a:lvl8pPr marL="4209670" algn="l" defTabSz="1202763" rtl="0" eaLnBrk="1" latinLnBrk="0" hangingPunct="1">
        <a:defRPr sz="2600" kern="1200">
          <a:solidFill>
            <a:schemeClr val="tx1"/>
          </a:solidFill>
          <a:latin typeface="+mn-lt"/>
          <a:ea typeface="+mn-ea"/>
          <a:cs typeface="+mn-cs"/>
        </a:defRPr>
      </a:lvl8pPr>
      <a:lvl9pPr marL="4811053" algn="l" defTabSz="1202763"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735" userDrawn="1">
          <p15:clr>
            <a:srgbClr val="F26B43"/>
          </p15:clr>
        </p15:guide>
        <p15:guide id="2" orient="horz" pos="9536" userDrawn="1">
          <p15:clr>
            <a:srgbClr val="F26B43"/>
          </p15:clr>
        </p15:guide>
        <p15:guide id="3" pos="498" userDrawn="1">
          <p15:clr>
            <a:srgbClr val="F26B43"/>
          </p15:clr>
        </p15:guide>
        <p15:guide id="4" pos="12972" userDrawn="1">
          <p15:clr>
            <a:srgbClr val="F26B43"/>
          </p15:clr>
        </p15:guide>
        <p15:guide id="5" orient="horz" pos="500" userDrawn="1">
          <p15:clr>
            <a:srgbClr val="F26B43"/>
          </p15:clr>
        </p15:guide>
        <p15:guide id="6" orient="horz" pos="18571" userDrawn="1">
          <p15:clr>
            <a:srgbClr val="F26B43"/>
          </p15:clr>
        </p15:guide>
        <p15:guide id="7" orient="horz" pos="17780" userDrawn="1">
          <p15:clr>
            <a:srgbClr val="F26B43"/>
          </p15:clr>
        </p15:guide>
        <p15:guide id="8" orient="horz" pos="3094" userDrawn="1">
          <p15:clr>
            <a:srgbClr val="F26B43"/>
          </p15:clr>
        </p15:guide>
        <p15:guide id="9" pos="8761" userDrawn="1">
          <p15:clr>
            <a:srgbClr val="F26B43"/>
          </p15:clr>
        </p15:guide>
        <p15:guide id="10" pos="8923" userDrawn="1">
          <p15:clr>
            <a:srgbClr val="F26B43"/>
          </p15:clr>
        </p15:guide>
        <p15:guide id="11" pos="4547" userDrawn="1">
          <p15:clr>
            <a:srgbClr val="F26B43"/>
          </p15:clr>
        </p15:guide>
        <p15:guide id="12" pos="4709"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DFD2B-A843-E289-E2DF-12B8939D08B0}"/>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C9687D8C-79C5-BF4D-BF81-6144D90C0875}"/>
              </a:ext>
            </a:extLst>
          </p:cNvPr>
          <p:cNvSpPr>
            <a:spLocks noGrp="1"/>
          </p:cNvSpPr>
          <p:nvPr>
            <p:ph type="title"/>
          </p:nvPr>
        </p:nvSpPr>
        <p:spPr/>
        <p:txBody>
          <a:bodyPr/>
          <a:lstStyle/>
          <a:p>
            <a:r>
              <a:rPr lang="en-GB" sz="6000" dirty="0"/>
              <a:t>The Science of Quantifying Innovation</a:t>
            </a:r>
            <a:br>
              <a:rPr lang="en-GB" dirty="0"/>
            </a:br>
            <a:r>
              <a:rPr lang="en-GB" dirty="0"/>
              <a:t> </a:t>
            </a:r>
          </a:p>
        </p:txBody>
      </p:sp>
      <p:sp>
        <p:nvSpPr>
          <p:cNvPr id="4" name="Footer Placeholder 3">
            <a:extLst>
              <a:ext uri="{FF2B5EF4-FFF2-40B4-BE49-F238E27FC236}">
                <a16:creationId xmlns:a16="http://schemas.microsoft.com/office/drawing/2014/main" id="{3BCDEADC-3F47-1D06-E801-071FD19B0F1C}"/>
              </a:ext>
            </a:extLst>
          </p:cNvPr>
          <p:cNvSpPr>
            <a:spLocks noGrp="1"/>
          </p:cNvSpPr>
          <p:nvPr>
            <p:ph type="ftr" sz="quarter" idx="12"/>
          </p:nvPr>
        </p:nvSpPr>
        <p:spPr>
          <a:xfrm>
            <a:off x="11474046" y="28782537"/>
            <a:ext cx="9119003" cy="605999"/>
          </a:xfrm>
        </p:spPr>
        <p:txBody>
          <a:bodyPr/>
          <a:lstStyle/>
          <a:p>
            <a:r>
              <a:rPr lang="en-GB" dirty="0"/>
              <a:t>imperial.ac.uk</a:t>
            </a:r>
          </a:p>
        </p:txBody>
      </p:sp>
      <p:sp>
        <p:nvSpPr>
          <p:cNvPr id="20" name="Subtitle 19">
            <a:extLst>
              <a:ext uri="{FF2B5EF4-FFF2-40B4-BE49-F238E27FC236}">
                <a16:creationId xmlns:a16="http://schemas.microsoft.com/office/drawing/2014/main" id="{BBFC77CB-2AF4-49C8-4E19-CFEAE8ADBA1E}"/>
              </a:ext>
            </a:extLst>
          </p:cNvPr>
          <p:cNvSpPr>
            <a:spLocks noGrp="1"/>
          </p:cNvSpPr>
          <p:nvPr>
            <p:ph type="subTitle" idx="1"/>
          </p:nvPr>
        </p:nvSpPr>
        <p:spPr/>
        <p:txBody>
          <a:bodyPr/>
          <a:lstStyle/>
          <a:p>
            <a:r>
              <a:rPr lang="en-GB" dirty="0"/>
              <a:t>Theoretical Physics Group</a:t>
            </a:r>
          </a:p>
          <a:p>
            <a:r>
              <a:rPr lang="en-GB" dirty="0"/>
              <a:t>Sid Diamond</a:t>
            </a:r>
          </a:p>
          <a:p>
            <a:r>
              <a:rPr lang="en-GB" dirty="0"/>
              <a:t>Supervisor: Tim Evans</a:t>
            </a:r>
          </a:p>
        </p:txBody>
      </p:sp>
      <mc:AlternateContent xmlns:mc="http://schemas.openxmlformats.org/markup-compatibility/2006">
        <mc:Choice xmlns:a14="http://schemas.microsoft.com/office/drawing/2010/main" Requires="a14">
          <p:sp>
            <p:nvSpPr>
              <p:cNvPr id="77" name="Text Placeholder 76">
                <a:extLst>
                  <a:ext uri="{FF2B5EF4-FFF2-40B4-BE49-F238E27FC236}">
                    <a16:creationId xmlns:a16="http://schemas.microsoft.com/office/drawing/2014/main" id="{19CD4B66-8497-A520-F2DA-98A1685120DD}"/>
                  </a:ext>
                </a:extLst>
              </p:cNvPr>
              <p:cNvSpPr>
                <a:spLocks noGrp="1"/>
              </p:cNvSpPr>
              <p:nvPr>
                <p:ph type="body" sz="quarter" idx="20"/>
              </p:nvPr>
            </p:nvSpPr>
            <p:spPr>
              <a:xfrm>
                <a:off x="7606505" y="22160892"/>
                <a:ext cx="12925176" cy="654420"/>
              </a:xfrm>
            </p:spPr>
            <p:txBody>
              <a:bodyPr/>
              <a:lstStyle/>
              <a:p>
                <a:r>
                  <a:rPr lang="en-GB" b="1" dirty="0"/>
                  <a:t>Figure 4. </a:t>
                </a:r>
                <a:r>
                  <a:rPr lang="en-GB" dirty="0"/>
                  <a:t> Log-binned citation count distributions for node types “a” and “b”  in a directed acyclic homophilic network. Empirical probabilities are computed using logarithmic binning with binning factor 1.01; bin centres are given by the geometric mean.</a:t>
                </a:r>
                <a:r>
                  <a:rPr lang="ar-AE" dirty="0"/>
                  <a:t> </a:t>
                </a:r>
                <a:r>
                  <a:rPr lang="en-GB" dirty="0"/>
                  <a:t>The </a:t>
                </a:r>
                <a14:m>
                  <m:oMath xmlns:m="http://schemas.openxmlformats.org/officeDocument/2006/math">
                    <m:r>
                      <a:rPr lang="en-GB" i="1"/>
                      <m:t>𝑘</m:t>
                    </m:r>
                    <m:r>
                      <a:rPr lang="en-GB"/>
                      <m:t>=</m:t>
                    </m:r>
                    <m:r>
                      <a:rPr lang="en-GB"/>
                      <m:t>0</m:t>
                    </m:r>
                  </m:oMath>
                </a14:m>
                <a:r>
                  <a:rPr lang="en-GB" dirty="0"/>
                  <a:t> mass is shown separately. The x-axis is displayed on a symmetric logarithmic scale (linear for </a:t>
                </a:r>
                <a14:m>
                  <m:oMath xmlns:m="http://schemas.openxmlformats.org/officeDocument/2006/math">
                    <m:r>
                      <a:rPr lang="en-GB"/>
                      <m:t>∣</m:t>
                    </m:r>
                    <m:r>
                      <a:rPr lang="en-GB" i="1"/>
                      <m:t>𝑘</m:t>
                    </m:r>
                    <m:r>
                      <a:rPr lang="en-GB"/>
                      <m:t>∣&lt;</m:t>
                    </m:r>
                    <m:r>
                      <a:rPr lang="en-GB"/>
                      <m:t>0</m:t>
                    </m:r>
                    <m:r>
                      <a:rPr lang="en-GB"/>
                      <m:t>.</m:t>
                    </m:r>
                    <m:r>
                      <a:rPr lang="en-GB"/>
                      <m:t>1</m:t>
                    </m:r>
                  </m:oMath>
                </a14:m>
                <a:r>
                  <a:rPr lang="en-GB" dirty="0"/>
                  <a:t>, logarithmic otherwise), while the y-axis is logarithmic. Overlaid curves show the corresponding theoretical distributions. Network parameters: </a:t>
                </a:r>
                <a14:m>
                  <m:oMath xmlns:m="http://schemas.openxmlformats.org/officeDocument/2006/math">
                    <m:r>
                      <a:rPr lang="en-GB" i="1"/>
                      <m:t>𝑁</m:t>
                    </m:r>
                    <m:r>
                      <a:rPr lang="en-GB"/>
                      <m:t>=</m:t>
                    </m:r>
                    <m:sSub>
                      <m:sSubPr>
                        <m:ctrlPr>
                          <a:rPr lang="ar-AE" i="1"/>
                        </m:ctrlPr>
                      </m:sSubPr>
                      <m:e>
                        <m:r>
                          <a:rPr lang="ar-AE" i="1"/>
                          <m:t>𝑛</m:t>
                        </m:r>
                      </m:e>
                      <m:sub>
                        <m:r>
                          <a:rPr lang="ar-AE"/>
                          <m:t>0</m:t>
                        </m:r>
                      </m:sub>
                    </m:sSub>
                    <m:r>
                      <a:rPr lang="ar-AE"/>
                      <m:t>+</m:t>
                    </m:r>
                    <m:r>
                      <a:rPr lang="en-GB" b="0" i="0" smtClean="0">
                        <a:latin typeface="Cambria Math" panose="02040503050406030204" pitchFamily="18" charset="0"/>
                      </a:rPr>
                      <m:t>28</m:t>
                    </m:r>
                    <m:r>
                      <a:rPr lang="en-GB" b="0" i="0" smtClean="0">
                        <a:latin typeface="Cambria Math" panose="02040503050406030204" pitchFamily="18" charset="0"/>
                      </a:rPr>
                      <m:t>,</m:t>
                    </m:r>
                    <m:r>
                      <a:rPr lang="en-GB" b="0" i="0" smtClean="0">
                        <a:latin typeface="Cambria Math" panose="02040503050406030204" pitchFamily="18" charset="0"/>
                      </a:rPr>
                      <m:t>000</m:t>
                    </m:r>
                    <m:r>
                      <a:rPr lang="en-GB" b="0" i="0" smtClean="0">
                        <a:latin typeface="Cambria Math" panose="02040503050406030204" pitchFamily="18" charset="0"/>
                      </a:rPr>
                      <m:t> , </m:t>
                    </m:r>
                    <m:sSub>
                      <m:sSubPr>
                        <m:ctrlPr>
                          <a:rPr lang="ar-AE"/>
                        </m:ctrlPr>
                      </m:sSubPr>
                      <m:e>
                        <m:r>
                          <a:rPr lang="en-GB" b="0" i="0" smtClean="0">
                            <a:latin typeface="Cambria Math" panose="02040503050406030204" pitchFamily="18" charset="0"/>
                          </a:rPr>
                          <m:t> </m:t>
                        </m:r>
                        <m:r>
                          <a:rPr lang="ar-AE" i="1"/>
                          <m:t>𝑛</m:t>
                        </m:r>
                      </m:e>
                      <m:sub>
                        <m:r>
                          <a:rPr lang="ar-AE"/>
                          <m:t>0</m:t>
                        </m:r>
                      </m:sub>
                    </m:sSub>
                    <m:r>
                      <a:rPr lang="en-GB" b="0" i="1" smtClean="0">
                        <a:latin typeface="Cambria Math" panose="02040503050406030204" pitchFamily="18" charset="0"/>
                      </a:rPr>
                      <m:t>=</m:t>
                    </m:r>
                    <m:r>
                      <a:rPr lang="en-GB" b="0" i="1" smtClean="0">
                        <a:latin typeface="Cambria Math" panose="02040503050406030204" pitchFamily="18" charset="0"/>
                      </a:rPr>
                      <m:t>3</m:t>
                    </m:r>
                  </m:oMath>
                </a14:m>
                <a:r>
                  <a:rPr lang="ar-AE" dirty="0"/>
                  <a:t>, </a:t>
                </a:r>
                <a14:m>
                  <m:oMath xmlns:m="http://schemas.openxmlformats.org/officeDocument/2006/math">
                    <m:r>
                      <a:rPr lang="en-GB" i="1"/>
                      <m:t>𝑚</m:t>
                    </m:r>
                    <m:r>
                      <a:rPr lang="en-GB" b="0" i="1" smtClean="0">
                        <a:latin typeface="Cambria Math" panose="02040503050406030204" pitchFamily="18" charset="0"/>
                      </a:rPr>
                      <m:t>=</m:t>
                    </m:r>
                    <m:r>
                      <a:rPr lang="en-GB" b="0" i="1" smtClean="0">
                        <a:latin typeface="Cambria Math" panose="02040503050406030204" pitchFamily="18" charset="0"/>
                      </a:rPr>
                      <m:t>2</m:t>
                    </m:r>
                  </m:oMath>
                </a14:m>
                <a:r>
                  <a:rPr lang="en-GB" dirty="0"/>
                  <a:t>,  </a:t>
                </a:r>
                <a14:m>
                  <m:oMath xmlns:m="http://schemas.openxmlformats.org/officeDocument/2006/math">
                    <m:r>
                      <a:rPr lang="en-GB" i="1"/>
                      <m:t>h</m:t>
                    </m:r>
                    <m:r>
                      <a:rPr lang="en-GB" b="0" i="1" smtClean="0">
                        <a:latin typeface="Cambria Math" panose="02040503050406030204" pitchFamily="18" charset="0"/>
                      </a:rPr>
                      <m:t>=</m:t>
                    </m:r>
                    <m:r>
                      <a:rPr lang="en-GB" b="0" i="1" smtClean="0">
                        <a:latin typeface="Cambria Math" panose="02040503050406030204" pitchFamily="18" charset="0"/>
                      </a:rPr>
                      <m:t>0</m:t>
                    </m:r>
                    <m:r>
                      <a:rPr lang="en-GB" b="0" i="1" smtClean="0">
                        <a:latin typeface="Cambria Math" panose="02040503050406030204" pitchFamily="18" charset="0"/>
                      </a:rPr>
                      <m:t>.</m:t>
                    </m:r>
                    <m:r>
                      <a:rPr lang="en-GB" b="0" i="1" smtClean="0">
                        <a:latin typeface="Cambria Math" panose="02040503050406030204" pitchFamily="18" charset="0"/>
                      </a:rPr>
                      <m:t>7</m:t>
                    </m:r>
                  </m:oMath>
                </a14:m>
                <a:r>
                  <a:rPr lang="en-GB" dirty="0"/>
                  <a:t>, and type fraction </a:t>
                </a:r>
                <a14:m>
                  <m:oMath xmlns:m="http://schemas.openxmlformats.org/officeDocument/2006/math">
                    <m:sSub>
                      <m:sSubPr>
                        <m:ctrlPr>
                          <a:rPr lang="ar-AE"/>
                        </m:ctrlPr>
                      </m:sSubPr>
                      <m:e>
                        <m:r>
                          <a:rPr lang="ar-AE" i="1"/>
                          <m:t>𝑓</m:t>
                        </m:r>
                      </m:e>
                      <m:sub>
                        <m:r>
                          <a:rPr lang="ar-AE" i="1"/>
                          <m:t>𝑎</m:t>
                        </m:r>
                      </m:sub>
                    </m:sSub>
                    <m:r>
                      <a:rPr lang="en-GB" b="0" i="1" smtClean="0">
                        <a:latin typeface="Cambria Math" panose="02040503050406030204" pitchFamily="18" charset="0"/>
                      </a:rPr>
                      <m:t>=</m:t>
                    </m:r>
                    <m:r>
                      <a:rPr lang="en-GB" b="0" i="1" smtClean="0">
                        <a:latin typeface="Cambria Math" panose="02040503050406030204" pitchFamily="18" charset="0"/>
                      </a:rPr>
                      <m:t>0</m:t>
                    </m:r>
                    <m:r>
                      <a:rPr lang="en-GB" b="0" i="1" smtClean="0">
                        <a:latin typeface="Cambria Math" panose="02040503050406030204" pitchFamily="18" charset="0"/>
                      </a:rPr>
                      <m:t>.</m:t>
                    </m:r>
                    <m:r>
                      <a:rPr lang="en-GB" b="0" i="1" smtClean="0">
                        <a:latin typeface="Cambria Math" panose="02040503050406030204" pitchFamily="18" charset="0"/>
                      </a:rPr>
                      <m:t>55</m:t>
                    </m:r>
                    <m:r>
                      <a:rPr lang="en-GB" b="0" i="1" smtClean="0">
                        <a:latin typeface="Cambria Math" panose="02040503050406030204" pitchFamily="18" charset="0"/>
                      </a:rPr>
                      <m:t>.</m:t>
                    </m:r>
                  </m:oMath>
                </a14:m>
                <a:endParaRPr lang="ar-AE" dirty="0"/>
              </a:p>
              <a:p>
                <a:endParaRPr lang="en-GB" dirty="0"/>
              </a:p>
            </p:txBody>
          </p:sp>
        </mc:Choice>
        <mc:Fallback>
          <p:sp>
            <p:nvSpPr>
              <p:cNvPr id="77" name="Text Placeholder 76">
                <a:extLst>
                  <a:ext uri="{FF2B5EF4-FFF2-40B4-BE49-F238E27FC236}">
                    <a16:creationId xmlns:a16="http://schemas.microsoft.com/office/drawing/2014/main" id="{19CD4B66-8497-A520-F2DA-98A1685120DD}"/>
                  </a:ext>
                </a:extLst>
              </p:cNvPr>
              <p:cNvSpPr>
                <a:spLocks noGrp="1" noRot="1" noChangeAspect="1" noMove="1" noResize="1" noEditPoints="1" noAdjustHandles="1" noChangeArrowheads="1" noChangeShapeType="1" noTextEdit="1"/>
              </p:cNvSpPr>
              <p:nvPr>
                <p:ph type="body" sz="quarter" idx="20"/>
              </p:nvPr>
            </p:nvSpPr>
            <p:spPr>
              <a:xfrm>
                <a:off x="7606505" y="22160892"/>
                <a:ext cx="12925176" cy="654420"/>
              </a:xfrm>
              <a:blipFill>
                <a:blip r:embed="rId3"/>
                <a:stretch>
                  <a:fillRect l="-613" t="-5556" r="-142"/>
                </a:stretch>
              </a:blipFill>
            </p:spPr>
            <p:txBody>
              <a:bodyPr/>
              <a:lstStyle/>
              <a:p>
                <a:r>
                  <a:rPr lang="en-GB">
                    <a:noFill/>
                  </a:rPr>
                  <a:t> </a:t>
                </a:r>
              </a:p>
            </p:txBody>
          </p:sp>
        </mc:Fallback>
      </mc:AlternateContent>
      <p:sp>
        <p:nvSpPr>
          <p:cNvPr id="23" name="Content Placeholder 22">
            <a:extLst>
              <a:ext uri="{FF2B5EF4-FFF2-40B4-BE49-F238E27FC236}">
                <a16:creationId xmlns:a16="http://schemas.microsoft.com/office/drawing/2014/main" id="{9C5B59EC-F2D3-3060-2BD0-E3219684AA1A}"/>
              </a:ext>
            </a:extLst>
          </p:cNvPr>
          <p:cNvSpPr>
            <a:spLocks noGrp="1"/>
          </p:cNvSpPr>
          <p:nvPr>
            <p:ph type="body" sz="quarter" idx="26"/>
          </p:nvPr>
        </p:nvSpPr>
        <p:spPr>
          <a:xfrm>
            <a:off x="790576" y="4694952"/>
            <a:ext cx="6427788" cy="11573747"/>
          </a:xfrm>
        </p:spPr>
        <p:txBody>
          <a:bodyPr/>
          <a:lstStyle/>
          <a:p>
            <a:r>
              <a:rPr lang="en-GB" sz="4200" b="1" dirty="0">
                <a:solidFill>
                  <a:schemeClr val="tx2"/>
                </a:solidFill>
              </a:rPr>
              <a:t>Background</a:t>
            </a:r>
            <a:br>
              <a:rPr lang="en-GB" dirty="0"/>
            </a:br>
            <a:endParaRPr lang="en-GB" dirty="0"/>
          </a:p>
          <a:p>
            <a:pPr algn="just"/>
            <a:r>
              <a:rPr lang="en-GB" dirty="0"/>
              <a:t>How likely is it that a string theory paper receives 100 citations? How does this likelihood change if the researcher is female or otherwise? What if the paper is written in  English or otherwise? Predictive insight into a network’s topology allows us to locate its inefficiencies and non-level playing fields. What can this tell us about how we quantify innovation?</a:t>
            </a:r>
          </a:p>
          <a:p>
            <a:pPr algn="just"/>
            <a:endParaRPr lang="en-GB" dirty="0"/>
          </a:p>
          <a:p>
            <a:pPr algn="just"/>
            <a:r>
              <a:rPr lang="en-GB" dirty="0"/>
              <a:t>We derive a new equation for the probability that a node of a given type has a given citation count by adapting the Price model [1] for a homophilic directed acyclic graph (DAG). Using an asymptotic convergence approximation, our result is a distribution modelled by Beta functions (1) that, under Sterling’s approximation, becomes the literature convention, and in our case less accurate, power law distribution. </a:t>
            </a:r>
          </a:p>
          <a:p>
            <a:pPr algn="just"/>
            <a:endParaRPr lang="en-GB" dirty="0"/>
          </a:p>
          <a:p>
            <a:pPr algn="just"/>
            <a:r>
              <a:rPr lang="en-GB" dirty="0"/>
              <a:t>We also provide a new statistical recipe for the goodness of fit (</a:t>
            </a:r>
            <a:r>
              <a:rPr lang="en-GB" dirty="0" err="1"/>
              <a:t>G.o.F</a:t>
            </a:r>
            <a:r>
              <a:rPr lang="en-GB" dirty="0"/>
              <a:t>) of our result that accounts for the challenging statistics of our simulated networks.</a:t>
            </a:r>
          </a:p>
          <a:p>
            <a:endParaRPr lang="en-GB" dirty="0"/>
          </a:p>
        </p:txBody>
      </p:sp>
      <p:sp>
        <p:nvSpPr>
          <p:cNvPr id="82" name="Text Placeholder 81">
            <a:extLst>
              <a:ext uri="{FF2B5EF4-FFF2-40B4-BE49-F238E27FC236}">
                <a16:creationId xmlns:a16="http://schemas.microsoft.com/office/drawing/2014/main" id="{49A48DAE-563C-CEAA-AA7B-DF7159D46202}"/>
              </a:ext>
            </a:extLst>
          </p:cNvPr>
          <p:cNvSpPr>
            <a:spLocks noGrp="1"/>
          </p:cNvSpPr>
          <p:nvPr>
            <p:ph type="body" sz="quarter" idx="30"/>
          </p:nvPr>
        </p:nvSpPr>
        <p:spPr>
          <a:xfrm>
            <a:off x="7490599" y="25497532"/>
            <a:ext cx="6244640" cy="2926786"/>
          </a:xfrm>
        </p:spPr>
        <p:txBody>
          <a:bodyPr/>
          <a:lstStyle/>
          <a:p>
            <a:pPr lvl="6"/>
            <a:r>
              <a:rPr lang="en-GB" sz="12000" dirty="0"/>
              <a:t>82%</a:t>
            </a:r>
          </a:p>
          <a:p>
            <a:pPr lvl="6" algn="just"/>
            <a:r>
              <a:rPr lang="en-US" sz="2600" dirty="0">
                <a:solidFill>
                  <a:schemeClr val="tx1"/>
                </a:solidFill>
                <a:latin typeface="+mn-lt"/>
              </a:rPr>
              <a:t>Of papers are predicted to receive zero to three citations. As finite-size effects mainly impact the high-degree tail, Equation (1) performs well in this low-degree regime.</a:t>
            </a:r>
            <a:endParaRPr lang="en-GB" sz="2600" dirty="0">
              <a:solidFill>
                <a:schemeClr val="tx1"/>
              </a:solidFill>
              <a:latin typeface="+mn-lt"/>
            </a:endParaRPr>
          </a:p>
        </p:txBody>
      </p:sp>
      <p:sp>
        <p:nvSpPr>
          <p:cNvPr id="83" name="Text Placeholder 82">
            <a:extLst>
              <a:ext uri="{FF2B5EF4-FFF2-40B4-BE49-F238E27FC236}">
                <a16:creationId xmlns:a16="http://schemas.microsoft.com/office/drawing/2014/main" id="{1B759BEF-A493-B315-EFC4-7D63FCFF09B3}"/>
              </a:ext>
            </a:extLst>
          </p:cNvPr>
          <p:cNvSpPr>
            <a:spLocks noGrp="1"/>
          </p:cNvSpPr>
          <p:nvPr>
            <p:ph type="body" sz="quarter" idx="31"/>
          </p:nvPr>
        </p:nvSpPr>
        <p:spPr>
          <a:xfrm>
            <a:off x="14584209" y="25396966"/>
            <a:ext cx="6244639" cy="3188686"/>
          </a:xfrm>
        </p:spPr>
        <p:txBody>
          <a:bodyPr/>
          <a:lstStyle/>
          <a:p>
            <a:pPr lvl="5" algn="just"/>
            <a:r>
              <a:rPr lang="en-GB" b="1" dirty="0">
                <a:latin typeface="+mn-lt"/>
              </a:rPr>
              <a:t>Next Steps</a:t>
            </a:r>
          </a:p>
          <a:p>
            <a:pPr lvl="5" algn="just"/>
            <a:r>
              <a:rPr lang="en-US" sz="2600" dirty="0">
                <a:solidFill>
                  <a:schemeClr val="tx1"/>
                </a:solidFill>
                <a:latin typeface="+mn-lt"/>
              </a:rPr>
              <a:t>Now that we have both the theory and the </a:t>
            </a:r>
            <a:r>
              <a:rPr lang="en-US" sz="2600" dirty="0" err="1">
                <a:solidFill>
                  <a:schemeClr val="tx1"/>
                </a:solidFill>
                <a:latin typeface="+mn-lt"/>
              </a:rPr>
              <a:t>G.o.F</a:t>
            </a:r>
            <a:r>
              <a:rPr lang="en-US" sz="2600" dirty="0">
                <a:solidFill>
                  <a:schemeClr val="tx1"/>
                </a:solidFill>
                <a:latin typeface="+mn-lt"/>
              </a:rPr>
              <a:t> test, our future work will explore how applying this analysis to real patent‑citation databases can improve our understanding of the innovation process.</a:t>
            </a:r>
            <a:endParaRPr lang="en-GB" sz="2600" dirty="0">
              <a:solidFill>
                <a:schemeClr val="tx1"/>
              </a:solidFill>
              <a:latin typeface="+mn-lt"/>
            </a:endParaRPr>
          </a:p>
        </p:txBody>
      </p:sp>
      <p:pic>
        <p:nvPicPr>
          <p:cNvPr id="28" name="Content Placeholder 26">
            <a:extLst>
              <a:ext uri="{FF2B5EF4-FFF2-40B4-BE49-F238E27FC236}">
                <a16:creationId xmlns:a16="http://schemas.microsoft.com/office/drawing/2014/main" id="{9C879CC2-5D2F-701A-D1FC-7DAC7B7F3F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9331" y="5354481"/>
            <a:ext cx="4534243" cy="1667888"/>
          </a:xfrm>
          <a:prstGeom prst="rect">
            <a:avLst/>
          </a:prstGeom>
        </p:spPr>
      </p:pic>
      <p:sp>
        <p:nvSpPr>
          <p:cNvPr id="32" name="TextBox 31">
            <a:extLst>
              <a:ext uri="{FF2B5EF4-FFF2-40B4-BE49-F238E27FC236}">
                <a16:creationId xmlns:a16="http://schemas.microsoft.com/office/drawing/2014/main" id="{2B33CAB5-F7FA-B3B7-D0F2-C9296999A933}"/>
              </a:ext>
            </a:extLst>
          </p:cNvPr>
          <p:cNvSpPr txBox="1"/>
          <p:nvPr/>
        </p:nvSpPr>
        <p:spPr>
          <a:xfrm>
            <a:off x="12390946" y="9816281"/>
            <a:ext cx="8202103" cy="2492990"/>
          </a:xfrm>
          <a:prstGeom prst="rect">
            <a:avLst/>
          </a:prstGeom>
          <a:noFill/>
        </p:spPr>
        <p:txBody>
          <a:bodyPr wrap="square">
            <a:spAutoFit/>
          </a:bodyPr>
          <a:lstStyle/>
          <a:p>
            <a:pPr algn="just"/>
            <a:r>
              <a:rPr lang="en-GB" sz="2600" dirty="0"/>
              <a:t>A citation between two papers is constrained to pointing backwards in time. A newer paper cites a preexisting one. By representing, as nodes, all the papers and representing, as directed edges, all the citations in a database, we can construct a  DAG representation of our network. </a:t>
            </a:r>
          </a:p>
        </p:txBody>
      </p:sp>
      <mc:AlternateContent xmlns:mc="http://schemas.openxmlformats.org/markup-compatibility/2006">
        <mc:Choice xmlns:a14="http://schemas.microsoft.com/office/drawing/2010/main" Requires="a14">
          <p:sp>
            <p:nvSpPr>
              <p:cNvPr id="54" name="TextBox 53">
                <a:extLst>
                  <a:ext uri="{FF2B5EF4-FFF2-40B4-BE49-F238E27FC236}">
                    <a16:creationId xmlns:a16="http://schemas.microsoft.com/office/drawing/2014/main" id="{090E17E1-9135-60E4-5903-0691F9E31772}"/>
                  </a:ext>
                </a:extLst>
              </p:cNvPr>
              <p:cNvSpPr txBox="1"/>
              <p:nvPr/>
            </p:nvSpPr>
            <p:spPr>
              <a:xfrm>
                <a:off x="13075429" y="15035417"/>
                <a:ext cx="7517620" cy="1695336"/>
              </a:xfrm>
              <a:prstGeom prst="rect">
                <a:avLst/>
              </a:prstGeom>
              <a:noFill/>
            </p:spPr>
            <p:txBody>
              <a:bodyPr wrap="square">
                <a:spAutoFit/>
              </a:bodyPr>
              <a:lstStyle/>
              <a:p>
                <a:pPr algn="just"/>
                <a:endParaRPr lang="en-GB" sz="2600" dirty="0"/>
              </a:p>
              <a:p>
                <a:pPr/>
                <a14:m>
                  <m:oMathPara xmlns:m="http://schemas.openxmlformats.org/officeDocument/2006/math">
                    <m:oMathParaPr>
                      <m:jc m:val="left"/>
                    </m:oMathParaPr>
                    <m:oMath xmlns:m="http://schemas.openxmlformats.org/officeDocument/2006/math">
                      <m:r>
                        <m:rPr>
                          <m:sty m:val="p"/>
                        </m:rPr>
                        <a:rPr lang="en-GB" sz="2600">
                          <a:latin typeface="Cambria Math" panose="02040503050406030204" pitchFamily="18" charset="0"/>
                        </a:rPr>
                        <m:t>t</m:t>
                      </m:r>
                      <m:r>
                        <a:rPr lang="en-GB" sz="2600">
                          <a:latin typeface="Cambria Math" panose="02040503050406030204" pitchFamily="18" charset="0"/>
                        </a:rPr>
                        <m:t>=</m:t>
                      </m:r>
                      <m:r>
                        <m:rPr>
                          <m:sty m:val="p"/>
                        </m:rPr>
                        <a:rPr lang="en-GB" sz="2600">
                          <a:latin typeface="Cambria Math" panose="02040503050406030204" pitchFamily="18" charset="0"/>
                        </a:rPr>
                        <m:t>network</m:t>
                      </m:r>
                      <m:r>
                        <a:rPr lang="en-GB" sz="2600">
                          <a:latin typeface="Cambria Math" panose="02040503050406030204" pitchFamily="18" charset="0"/>
                        </a:rPr>
                        <m:t> </m:t>
                      </m:r>
                      <m:r>
                        <m:rPr>
                          <m:sty m:val="p"/>
                        </m:rPr>
                        <a:rPr lang="en-GB" sz="2600">
                          <a:latin typeface="Cambria Math" panose="02040503050406030204" pitchFamily="18" charset="0"/>
                        </a:rPr>
                        <m:t>timestep</m:t>
                      </m:r>
                      <m:r>
                        <a:rPr lang="en-GB" sz="2600">
                          <a:latin typeface="Cambria Math" panose="02040503050406030204" pitchFamily="18" charset="0"/>
                        </a:rPr>
                        <m:t>=</m:t>
                      </m:r>
                      <m:r>
                        <m:rPr>
                          <m:sty m:val="p"/>
                        </m:rPr>
                        <a:rPr lang="en-GB" sz="2600" b="0" i="0" smtClean="0">
                          <a:latin typeface="Cambria Math" panose="02040503050406030204" pitchFamily="18" charset="0"/>
                        </a:rPr>
                        <m:t>overall</m:t>
                      </m:r>
                      <m:r>
                        <a:rPr lang="en-GB" sz="2600" b="0" i="0" smtClean="0">
                          <a:latin typeface="Cambria Math" panose="02040503050406030204" pitchFamily="18" charset="0"/>
                        </a:rPr>
                        <m:t> </m:t>
                      </m:r>
                      <m:r>
                        <m:rPr>
                          <m:sty m:val="p"/>
                        </m:rPr>
                        <a:rPr lang="en-GB" sz="2600">
                          <a:latin typeface="Cambria Math" panose="02040503050406030204" pitchFamily="18" charset="0"/>
                        </a:rPr>
                        <m:t>number</m:t>
                      </m:r>
                      <m:r>
                        <a:rPr lang="en-GB" sz="2600">
                          <a:latin typeface="Cambria Math" panose="02040503050406030204" pitchFamily="18" charset="0"/>
                        </a:rPr>
                        <m:t> </m:t>
                      </m:r>
                      <m:r>
                        <m:rPr>
                          <m:sty m:val="p"/>
                        </m:rPr>
                        <a:rPr lang="en-GB" sz="2600">
                          <a:latin typeface="Cambria Math" panose="02040503050406030204" pitchFamily="18" charset="0"/>
                        </a:rPr>
                        <m:t>of</m:t>
                      </m:r>
                      <m:r>
                        <a:rPr lang="en-GB" sz="2600">
                          <a:latin typeface="Cambria Math" panose="02040503050406030204" pitchFamily="18" charset="0"/>
                        </a:rPr>
                        <m:t> </m:t>
                      </m:r>
                      <m:r>
                        <m:rPr>
                          <m:sty m:val="p"/>
                        </m:rPr>
                        <a:rPr lang="en-GB" sz="2600">
                          <a:latin typeface="Cambria Math" panose="02040503050406030204" pitchFamily="18" charset="0"/>
                        </a:rPr>
                        <m:t>papers</m:t>
                      </m:r>
                    </m:oMath>
                  </m:oMathPara>
                </a14:m>
                <a:endParaRPr lang="en-GB" sz="260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GB" sz="2600" b="0" i="0" smtClean="0">
                          <a:solidFill>
                            <a:schemeClr val="tx1"/>
                          </a:solidFill>
                          <a:latin typeface="Cambria Math" panose="02040503050406030204" pitchFamily="18" charset="0"/>
                        </a:rPr>
                        <m:t>h</m:t>
                      </m:r>
                      <m:r>
                        <a:rPr lang="en-GB" sz="2600" b="0" i="0" smtClean="0">
                          <a:solidFill>
                            <a:schemeClr val="tx1"/>
                          </a:solidFill>
                          <a:latin typeface="Cambria Math" panose="02040503050406030204" pitchFamily="18" charset="0"/>
                        </a:rPr>
                        <m:t>=</m:t>
                      </m:r>
                      <m:sSub>
                        <m:sSubPr>
                          <m:ctrlPr>
                            <a:rPr lang="en-GB" sz="2600" b="0" i="1" smtClean="0">
                              <a:solidFill>
                                <a:schemeClr val="tx1"/>
                              </a:solidFill>
                              <a:latin typeface="Cambria Math" panose="02040503050406030204" pitchFamily="18" charset="0"/>
                            </a:rPr>
                          </m:ctrlPr>
                        </m:sSubPr>
                        <m:e>
                          <m:r>
                            <m:rPr>
                              <m:sty m:val="p"/>
                            </m:rPr>
                            <a:rPr lang="en-GB" sz="2600" b="0" i="0" smtClean="0">
                              <a:solidFill>
                                <a:schemeClr val="tx1"/>
                              </a:solidFill>
                              <a:latin typeface="Cambria Math" panose="02040503050406030204" pitchFamily="18" charset="0"/>
                            </a:rPr>
                            <m:t>h</m:t>
                          </m:r>
                        </m:e>
                        <m:sub>
                          <m:r>
                            <m:rPr>
                              <m:sty m:val="p"/>
                            </m:rPr>
                            <a:rPr lang="en-GB" sz="2600" b="0" i="0" smtClean="0">
                              <a:solidFill>
                                <a:schemeClr val="tx1"/>
                              </a:solidFill>
                              <a:latin typeface="Cambria Math" panose="02040503050406030204" pitchFamily="18" charset="0"/>
                            </a:rPr>
                            <m:t>xx</m:t>
                          </m:r>
                        </m:sub>
                      </m:sSub>
                      <m:r>
                        <a:rPr lang="en-GB" sz="2600" b="0" i="0" smtClean="0">
                          <a:solidFill>
                            <a:schemeClr val="tx1"/>
                          </a:solidFill>
                          <a:latin typeface="Cambria Math" panose="02040503050406030204" pitchFamily="18" charset="0"/>
                        </a:rPr>
                        <m:t>=</m:t>
                      </m:r>
                      <m:sSub>
                        <m:sSubPr>
                          <m:ctrlPr>
                            <a:rPr lang="en-GB" sz="2600" b="0" i="1" smtClean="0">
                              <a:solidFill>
                                <a:schemeClr val="tx1"/>
                              </a:solidFill>
                              <a:latin typeface="Cambria Math" panose="02040503050406030204" pitchFamily="18" charset="0"/>
                            </a:rPr>
                          </m:ctrlPr>
                        </m:sSubPr>
                        <m:e>
                          <m:r>
                            <m:rPr>
                              <m:sty m:val="p"/>
                            </m:rPr>
                            <a:rPr lang="en-GB" sz="2600" b="0" i="0" smtClean="0">
                              <a:solidFill>
                                <a:schemeClr val="tx1"/>
                              </a:solidFill>
                              <a:latin typeface="Cambria Math" panose="02040503050406030204" pitchFamily="18" charset="0"/>
                            </a:rPr>
                            <m:t>h</m:t>
                          </m:r>
                        </m:e>
                        <m:sub>
                          <m:sSup>
                            <m:sSupPr>
                              <m:ctrlPr>
                                <a:rPr lang="en-GB" sz="2600" b="0" i="1" smtClean="0">
                                  <a:solidFill>
                                    <a:schemeClr val="tx1"/>
                                  </a:solidFill>
                                  <a:latin typeface="Cambria Math" panose="02040503050406030204" pitchFamily="18" charset="0"/>
                                </a:rPr>
                              </m:ctrlPr>
                            </m:sSupPr>
                            <m:e>
                              <m:r>
                                <m:rPr>
                                  <m:sty m:val="p"/>
                                </m:rPr>
                                <a:rPr lang="en-GB" sz="2600" b="0" i="0" smtClean="0">
                                  <a:solidFill>
                                    <a:schemeClr val="tx1"/>
                                  </a:solidFill>
                                  <a:latin typeface="Cambria Math" panose="02040503050406030204" pitchFamily="18" charset="0"/>
                                </a:rPr>
                                <m:t>x</m:t>
                              </m:r>
                            </m:e>
                            <m:sup>
                              <m:r>
                                <a:rPr lang="en-GB" sz="2600" b="0" i="0" smtClean="0">
                                  <a:solidFill>
                                    <a:schemeClr val="tx1"/>
                                  </a:solidFill>
                                  <a:latin typeface="Cambria Math" panose="02040503050406030204" pitchFamily="18" charset="0"/>
                                </a:rPr>
                                <m:t>′</m:t>
                              </m:r>
                            </m:sup>
                          </m:sSup>
                          <m:sSup>
                            <m:sSupPr>
                              <m:ctrlPr>
                                <a:rPr lang="en-GB" sz="2600" b="0" i="1" smtClean="0">
                                  <a:solidFill>
                                    <a:schemeClr val="tx1"/>
                                  </a:solidFill>
                                  <a:latin typeface="Cambria Math" panose="02040503050406030204" pitchFamily="18" charset="0"/>
                                </a:rPr>
                              </m:ctrlPr>
                            </m:sSupPr>
                            <m:e>
                              <m:r>
                                <m:rPr>
                                  <m:sty m:val="p"/>
                                </m:rPr>
                                <a:rPr lang="en-GB" sz="2600" b="0" i="0" smtClean="0">
                                  <a:solidFill>
                                    <a:schemeClr val="tx1"/>
                                  </a:solidFill>
                                  <a:latin typeface="Cambria Math" panose="02040503050406030204" pitchFamily="18" charset="0"/>
                                </a:rPr>
                                <m:t>x</m:t>
                              </m:r>
                            </m:e>
                            <m:sup>
                              <m:r>
                                <a:rPr lang="en-GB" sz="2600" b="0" i="0" smtClean="0">
                                  <a:solidFill>
                                    <a:schemeClr val="tx1"/>
                                  </a:solidFill>
                                  <a:latin typeface="Cambria Math" panose="02040503050406030204" pitchFamily="18" charset="0"/>
                                </a:rPr>
                                <m:t>′</m:t>
                              </m:r>
                            </m:sup>
                          </m:sSup>
                        </m:sub>
                      </m:sSub>
                      <m:r>
                        <a:rPr lang="en-GB" sz="2600" b="0" i="0" smtClean="0">
                          <a:solidFill>
                            <a:schemeClr val="tx1"/>
                          </a:solidFill>
                          <a:latin typeface="Cambria Math" panose="02040503050406030204" pitchFamily="18" charset="0"/>
                        </a:rPr>
                        <m:t>=</m:t>
                      </m:r>
                      <m:r>
                        <m:rPr>
                          <m:sty m:val="p"/>
                        </m:rPr>
                        <a:rPr lang="en-GB" sz="2600" b="0" i="0" smtClean="0">
                          <a:solidFill>
                            <a:schemeClr val="tx1"/>
                          </a:solidFill>
                          <a:latin typeface="Cambria Math" panose="02040503050406030204" pitchFamily="18" charset="0"/>
                        </a:rPr>
                        <m:t>across</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type</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weight</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of</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attraction</m:t>
                      </m:r>
                    </m:oMath>
                  </m:oMathPara>
                </a14:m>
                <a:endParaRPr lang="en-GB" sz="2600" dirty="0"/>
              </a:p>
              <a:p>
                <a:pPr/>
                <a:endParaRPr lang="en-GB" sz="2600" dirty="0"/>
              </a:p>
            </p:txBody>
          </p:sp>
        </mc:Choice>
        <mc:Fallback>
          <p:sp>
            <p:nvSpPr>
              <p:cNvPr id="54" name="TextBox 53">
                <a:extLst>
                  <a:ext uri="{FF2B5EF4-FFF2-40B4-BE49-F238E27FC236}">
                    <a16:creationId xmlns:a16="http://schemas.microsoft.com/office/drawing/2014/main" id="{090E17E1-9135-60E4-5903-0691F9E31772}"/>
                  </a:ext>
                </a:extLst>
              </p:cNvPr>
              <p:cNvSpPr txBox="1">
                <a:spLocks noRot="1" noChangeAspect="1" noMove="1" noResize="1" noEditPoints="1" noAdjustHandles="1" noChangeArrowheads="1" noChangeShapeType="1" noTextEdit="1"/>
              </p:cNvSpPr>
              <p:nvPr/>
            </p:nvSpPr>
            <p:spPr>
              <a:xfrm>
                <a:off x="13075429" y="15035417"/>
                <a:ext cx="7517620" cy="1695336"/>
              </a:xfrm>
              <a:prstGeom prst="rect">
                <a:avLst/>
              </a:prstGeom>
              <a:blipFill>
                <a:blip r:embed="rId5"/>
                <a:stretch>
                  <a:fillRect/>
                </a:stretch>
              </a:blipFill>
            </p:spPr>
            <p:txBody>
              <a:bodyPr/>
              <a:lstStyle/>
              <a:p>
                <a:r>
                  <a:rPr lang="en-GB">
                    <a:noFill/>
                  </a:rPr>
                  <a:t> </a:t>
                </a:r>
              </a:p>
            </p:txBody>
          </p:sp>
        </mc:Fallback>
      </mc:AlternateContent>
      <p:sp>
        <p:nvSpPr>
          <p:cNvPr id="62" name="TextBox 61">
            <a:extLst>
              <a:ext uri="{FF2B5EF4-FFF2-40B4-BE49-F238E27FC236}">
                <a16:creationId xmlns:a16="http://schemas.microsoft.com/office/drawing/2014/main" id="{7FA4A0EE-31C7-E588-8131-10AC1C1F59D9}"/>
              </a:ext>
            </a:extLst>
          </p:cNvPr>
          <p:cNvSpPr txBox="1"/>
          <p:nvPr/>
        </p:nvSpPr>
        <p:spPr>
          <a:xfrm>
            <a:off x="7342144" y="7256491"/>
            <a:ext cx="4418607" cy="417647"/>
          </a:xfrm>
          <a:prstGeom prst="rect">
            <a:avLst/>
          </a:prstGeom>
          <a:noFill/>
        </p:spPr>
        <p:txBody>
          <a:bodyPr wrap="square" lIns="0" tIns="0" rIns="0" bIns="0" rtlCol="0">
            <a:noAutofit/>
          </a:bodyPr>
          <a:lstStyle/>
          <a:p>
            <a:pPr algn="l">
              <a:lnSpc>
                <a:spcPct val="105000"/>
              </a:lnSpc>
            </a:pPr>
            <a:r>
              <a:rPr lang="en-GB" sz="1000" b="1" dirty="0"/>
              <a:t>Fig 1:  </a:t>
            </a:r>
            <a:r>
              <a:rPr lang="en-GB" sz="1000" dirty="0"/>
              <a:t>Directed Acyclic Graph DAG diagram containing 6 nodes, labelled from one to six. Directed edges connect the nodes.  </a:t>
            </a:r>
            <a:endParaRPr lang="en-GB" sz="1000" dirty="0">
              <a:solidFill>
                <a:schemeClr val="tx1"/>
              </a:solidFill>
            </a:endParaRPr>
          </a:p>
        </p:txBody>
      </p:sp>
      <mc:AlternateContent xmlns:mc="http://schemas.openxmlformats.org/markup-compatibility/2006">
        <mc:Choice xmlns:a14="http://schemas.microsoft.com/office/drawing/2010/main" Requires="a14">
          <p:sp>
            <p:nvSpPr>
              <p:cNvPr id="63" name="TextBox 62">
                <a:extLst>
                  <a:ext uri="{FF2B5EF4-FFF2-40B4-BE49-F238E27FC236}">
                    <a16:creationId xmlns:a16="http://schemas.microsoft.com/office/drawing/2014/main" id="{35E93596-9100-79A1-1E15-512FFA35E24F}"/>
                  </a:ext>
                </a:extLst>
              </p:cNvPr>
              <p:cNvSpPr txBox="1"/>
              <p:nvPr/>
            </p:nvSpPr>
            <p:spPr>
              <a:xfrm>
                <a:off x="7464968" y="11753749"/>
                <a:ext cx="4784530" cy="685457"/>
              </a:xfrm>
              <a:prstGeom prst="rect">
                <a:avLst/>
              </a:prstGeom>
              <a:noFill/>
            </p:spPr>
            <p:txBody>
              <a:bodyPr wrap="square" lIns="0" tIns="0" rIns="0" bIns="0" rtlCol="0">
                <a:noAutofit/>
              </a:bodyPr>
              <a:lstStyle/>
              <a:p>
                <a:pPr algn="just">
                  <a:lnSpc>
                    <a:spcPct val="105000"/>
                  </a:lnSpc>
                </a:pPr>
                <a:r>
                  <a:rPr lang="en-GB" sz="1000" b="1" dirty="0"/>
                  <a:t>Fig 3: </a:t>
                </a:r>
                <a:r>
                  <a:rPr lang="en-GB" sz="1000" dirty="0"/>
                  <a:t>28,004 node artificial citation network represented by homophilic directed acyclic graph. Network parameters: </a:t>
                </a:r>
                <a14:m>
                  <m:oMath xmlns:m="http://schemas.openxmlformats.org/officeDocument/2006/math">
                    <m:r>
                      <a:rPr lang="en-GB" sz="1000" i="1">
                        <a:latin typeface="Cambria Math" panose="02040503050406030204" pitchFamily="18" charset="0"/>
                      </a:rPr>
                      <m:t>𝑁</m:t>
                    </m:r>
                    <m:r>
                      <a:rPr lang="en-GB" sz="1000">
                        <a:latin typeface="Cambria Math" panose="02040503050406030204" pitchFamily="18" charset="0"/>
                      </a:rPr>
                      <m:t>=</m:t>
                    </m:r>
                    <m:sSub>
                      <m:sSubPr>
                        <m:ctrlPr>
                          <a:rPr lang="ar-AE" sz="1000" i="1">
                            <a:latin typeface="Cambria Math" panose="02040503050406030204" pitchFamily="18" charset="0"/>
                          </a:rPr>
                        </m:ctrlPr>
                      </m:sSubPr>
                      <m:e>
                        <m:r>
                          <a:rPr lang="ar-AE" sz="1000" i="1">
                            <a:latin typeface="Cambria Math" panose="02040503050406030204" pitchFamily="18" charset="0"/>
                          </a:rPr>
                          <m:t>𝑛</m:t>
                        </m:r>
                      </m:e>
                      <m:sub>
                        <m:r>
                          <a:rPr lang="ar-AE" sz="1000">
                            <a:latin typeface="Cambria Math" panose="02040503050406030204" pitchFamily="18" charset="0"/>
                          </a:rPr>
                          <m:t>0</m:t>
                        </m:r>
                      </m:sub>
                    </m:sSub>
                    <m:r>
                      <a:rPr lang="ar-AE" sz="1000">
                        <a:latin typeface="Cambria Math" panose="02040503050406030204" pitchFamily="18" charset="0"/>
                      </a:rPr>
                      <m:t>+</m:t>
                    </m:r>
                    <m:r>
                      <a:rPr lang="en-GB" sz="1000" b="0" i="0" smtClean="0">
                        <a:latin typeface="Cambria Math" panose="02040503050406030204" pitchFamily="18" charset="0"/>
                      </a:rPr>
                      <m:t>28</m:t>
                    </m:r>
                    <m:r>
                      <a:rPr lang="en-GB" sz="1000" b="0" i="0" smtClean="0">
                        <a:latin typeface="Cambria Math" panose="02040503050406030204" pitchFamily="18" charset="0"/>
                      </a:rPr>
                      <m:t>,</m:t>
                    </m:r>
                    <m:r>
                      <a:rPr lang="en-GB" sz="1000" b="0" i="0" smtClean="0">
                        <a:latin typeface="Cambria Math" panose="02040503050406030204" pitchFamily="18" charset="0"/>
                      </a:rPr>
                      <m:t>000</m:t>
                    </m:r>
                    <m:r>
                      <a:rPr lang="en-GB" sz="1000">
                        <a:latin typeface="Cambria Math" panose="02040503050406030204" pitchFamily="18" charset="0"/>
                      </a:rPr>
                      <m:t> , </m:t>
                    </m:r>
                    <m:sSub>
                      <m:sSubPr>
                        <m:ctrlPr>
                          <a:rPr lang="ar-AE" sz="1000" i="1">
                            <a:latin typeface="Cambria Math" panose="02040503050406030204" pitchFamily="18" charset="0"/>
                          </a:rPr>
                        </m:ctrlPr>
                      </m:sSubPr>
                      <m:e>
                        <m:r>
                          <a:rPr lang="en-GB" sz="1000">
                            <a:latin typeface="Cambria Math" panose="02040503050406030204" pitchFamily="18" charset="0"/>
                          </a:rPr>
                          <m:t> </m:t>
                        </m:r>
                        <m:r>
                          <a:rPr lang="ar-AE" sz="1000" i="1">
                            <a:latin typeface="Cambria Math" panose="02040503050406030204" pitchFamily="18" charset="0"/>
                          </a:rPr>
                          <m:t>𝑛</m:t>
                        </m:r>
                      </m:e>
                      <m:sub>
                        <m:r>
                          <a:rPr lang="ar-AE" sz="1000">
                            <a:latin typeface="Cambria Math" panose="02040503050406030204" pitchFamily="18" charset="0"/>
                          </a:rPr>
                          <m:t>0</m:t>
                        </m:r>
                      </m:sub>
                    </m:sSub>
                    <m:r>
                      <a:rPr lang="en-GB" sz="1000" i="1">
                        <a:latin typeface="Cambria Math" panose="02040503050406030204" pitchFamily="18" charset="0"/>
                      </a:rPr>
                      <m:t>=</m:t>
                    </m:r>
                    <m:r>
                      <a:rPr lang="en-GB" sz="1000" b="0" i="1" smtClean="0">
                        <a:latin typeface="Cambria Math" panose="02040503050406030204" pitchFamily="18" charset="0"/>
                      </a:rPr>
                      <m:t>4</m:t>
                    </m:r>
                  </m:oMath>
                </a14:m>
                <a:r>
                  <a:rPr lang="ar-AE" sz="1000" dirty="0"/>
                  <a:t>,</a:t>
                </a:r>
                <a14:m>
                  <m:oMath xmlns:m="http://schemas.openxmlformats.org/officeDocument/2006/math">
                    <m:r>
                      <a:rPr lang="en-GB" sz="1000" b="0" i="0" smtClean="0">
                        <a:latin typeface="Cambria Math" panose="02040503050406030204" pitchFamily="18" charset="0"/>
                      </a:rPr>
                      <m:t> </m:t>
                    </m:r>
                    <m:r>
                      <a:rPr lang="en-GB" sz="1000" b="0" i="1" smtClean="0">
                        <a:latin typeface="Cambria Math" panose="02040503050406030204" pitchFamily="18" charset="0"/>
                      </a:rPr>
                      <m:t> </m:t>
                    </m:r>
                    <m:r>
                      <a:rPr lang="en-GB" sz="1000" i="1">
                        <a:latin typeface="Cambria Math" panose="02040503050406030204" pitchFamily="18" charset="0"/>
                      </a:rPr>
                      <m:t>𝑚</m:t>
                    </m:r>
                    <m:r>
                      <a:rPr lang="en-GB" sz="1000" i="1">
                        <a:latin typeface="Cambria Math" panose="02040503050406030204" pitchFamily="18" charset="0"/>
                      </a:rPr>
                      <m:t>=</m:t>
                    </m:r>
                    <m:r>
                      <a:rPr lang="en-GB" sz="1000" b="0" i="1" smtClean="0">
                        <a:latin typeface="Cambria Math" panose="02040503050406030204" pitchFamily="18" charset="0"/>
                      </a:rPr>
                      <m:t>3</m:t>
                    </m:r>
                  </m:oMath>
                </a14:m>
                <a:r>
                  <a:rPr lang="en-GB" sz="1000" dirty="0"/>
                  <a:t>,  </a:t>
                </a:r>
                <a14:m>
                  <m:oMath xmlns:m="http://schemas.openxmlformats.org/officeDocument/2006/math">
                    <m:r>
                      <a:rPr lang="en-GB" sz="1000" i="1">
                        <a:latin typeface="Cambria Math" panose="02040503050406030204" pitchFamily="18" charset="0"/>
                      </a:rPr>
                      <m:t>h</m:t>
                    </m:r>
                    <m:r>
                      <a:rPr lang="en-GB" sz="1000" i="1">
                        <a:latin typeface="Cambria Math" panose="02040503050406030204" pitchFamily="18" charset="0"/>
                      </a:rPr>
                      <m:t>=</m:t>
                    </m:r>
                    <m:r>
                      <a:rPr lang="en-GB" sz="1000" i="1">
                        <a:latin typeface="Cambria Math" panose="02040503050406030204" pitchFamily="18" charset="0"/>
                      </a:rPr>
                      <m:t>0</m:t>
                    </m:r>
                    <m:r>
                      <a:rPr lang="en-GB" sz="1000" i="1">
                        <a:latin typeface="Cambria Math" panose="02040503050406030204" pitchFamily="18" charset="0"/>
                      </a:rPr>
                      <m:t>.</m:t>
                    </m:r>
                    <m:r>
                      <a:rPr lang="en-GB" sz="1000" i="1">
                        <a:latin typeface="Cambria Math" panose="02040503050406030204" pitchFamily="18" charset="0"/>
                      </a:rPr>
                      <m:t>7</m:t>
                    </m:r>
                  </m:oMath>
                </a14:m>
                <a:r>
                  <a:rPr lang="en-GB" sz="1000" dirty="0"/>
                  <a:t>, and type fraction </a:t>
                </a:r>
                <a14:m>
                  <m:oMath xmlns:m="http://schemas.openxmlformats.org/officeDocument/2006/math">
                    <m:sSub>
                      <m:sSubPr>
                        <m:ctrlPr>
                          <a:rPr lang="ar-AE" sz="1000" i="1">
                            <a:latin typeface="Cambria Math" panose="02040503050406030204" pitchFamily="18" charset="0"/>
                          </a:rPr>
                        </m:ctrlPr>
                      </m:sSubPr>
                      <m:e>
                        <m:r>
                          <a:rPr lang="ar-AE" sz="1000" i="1">
                            <a:latin typeface="Cambria Math" panose="02040503050406030204" pitchFamily="18" charset="0"/>
                          </a:rPr>
                          <m:t>𝑓</m:t>
                        </m:r>
                      </m:e>
                      <m:sub>
                        <m:r>
                          <a:rPr lang="ar-AE" sz="1000" i="1">
                            <a:latin typeface="Cambria Math" panose="02040503050406030204" pitchFamily="18" charset="0"/>
                          </a:rPr>
                          <m:t>𝑎</m:t>
                        </m:r>
                      </m:sub>
                    </m:sSub>
                    <m:r>
                      <a:rPr lang="en-GB" sz="1000" i="1">
                        <a:latin typeface="Cambria Math" panose="02040503050406030204" pitchFamily="18" charset="0"/>
                      </a:rPr>
                      <m:t>=</m:t>
                    </m:r>
                    <m:r>
                      <a:rPr lang="en-GB" sz="1000" i="1">
                        <a:latin typeface="Cambria Math" panose="02040503050406030204" pitchFamily="18" charset="0"/>
                      </a:rPr>
                      <m:t>0</m:t>
                    </m:r>
                    <m:r>
                      <a:rPr lang="en-GB" sz="1000" i="1">
                        <a:latin typeface="Cambria Math" panose="02040503050406030204" pitchFamily="18" charset="0"/>
                      </a:rPr>
                      <m:t>.</m:t>
                    </m:r>
                    <m:r>
                      <a:rPr lang="en-GB" sz="1000" i="1">
                        <a:latin typeface="Cambria Math" panose="02040503050406030204" pitchFamily="18" charset="0"/>
                      </a:rPr>
                      <m:t>55</m:t>
                    </m:r>
                    <m:r>
                      <a:rPr lang="en-GB" sz="1000" i="1">
                        <a:latin typeface="Cambria Math" panose="02040503050406030204" pitchFamily="18" charset="0"/>
                      </a:rPr>
                      <m:t>.</m:t>
                    </m:r>
                  </m:oMath>
                </a14:m>
                <a:r>
                  <a:rPr lang="en-GB" sz="1000" dirty="0"/>
                  <a:t> See theory section for parameter dictionary. Clearly visual analysis of these networks at scales of interest is not the way to go!</a:t>
                </a:r>
                <a:endParaRPr lang="en-GB" sz="1000" dirty="0">
                  <a:solidFill>
                    <a:schemeClr val="tx1"/>
                  </a:solidFill>
                </a:endParaRPr>
              </a:p>
            </p:txBody>
          </p:sp>
        </mc:Choice>
        <mc:Fallback>
          <p:sp>
            <p:nvSpPr>
              <p:cNvPr id="63" name="TextBox 62">
                <a:extLst>
                  <a:ext uri="{FF2B5EF4-FFF2-40B4-BE49-F238E27FC236}">
                    <a16:creationId xmlns:a16="http://schemas.microsoft.com/office/drawing/2014/main" id="{35E93596-9100-79A1-1E15-512FFA35E24F}"/>
                  </a:ext>
                </a:extLst>
              </p:cNvPr>
              <p:cNvSpPr txBox="1">
                <a:spLocks noRot="1" noChangeAspect="1" noMove="1" noResize="1" noEditPoints="1" noAdjustHandles="1" noChangeArrowheads="1" noChangeShapeType="1" noTextEdit="1"/>
              </p:cNvSpPr>
              <p:nvPr/>
            </p:nvSpPr>
            <p:spPr>
              <a:xfrm>
                <a:off x="7464968" y="11753749"/>
                <a:ext cx="4784530" cy="685457"/>
              </a:xfrm>
              <a:prstGeom prst="rect">
                <a:avLst/>
              </a:prstGeom>
              <a:blipFill>
                <a:blip r:embed="rId6"/>
                <a:stretch>
                  <a:fillRect l="-1658" t="-6195" r="-1786" b="-2655"/>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5" name="TextBox 64">
                <a:extLst>
                  <a:ext uri="{FF2B5EF4-FFF2-40B4-BE49-F238E27FC236}">
                    <a16:creationId xmlns:a16="http://schemas.microsoft.com/office/drawing/2014/main" id="{18A835D0-41A1-DFFE-A276-4103A3ACC766}"/>
                  </a:ext>
                </a:extLst>
              </p:cNvPr>
              <p:cNvSpPr txBox="1"/>
              <p:nvPr/>
            </p:nvSpPr>
            <p:spPr>
              <a:xfrm flipH="1">
                <a:off x="12390946" y="9292100"/>
                <a:ext cx="8437901" cy="406586"/>
              </a:xfrm>
              <a:prstGeom prst="rect">
                <a:avLst/>
              </a:prstGeom>
              <a:noFill/>
            </p:spPr>
            <p:txBody>
              <a:bodyPr wrap="square">
                <a:spAutoFit/>
              </a:bodyPr>
              <a:lstStyle/>
              <a:p>
                <a:pPr>
                  <a:lnSpc>
                    <a:spcPct val="105000"/>
                  </a:lnSpc>
                </a:pPr>
                <a:r>
                  <a:rPr lang="en-GB" sz="1000" b="1" dirty="0"/>
                  <a:t>Fig 2: </a:t>
                </a:r>
                <a:r>
                  <a:rPr lang="en-GB" sz="1000" dirty="0"/>
                  <a:t>104  node artificial citation network represented by homophilic directed acyclic graph. Network parameters: </a:t>
                </a:r>
                <a14:m>
                  <m:oMath xmlns:m="http://schemas.openxmlformats.org/officeDocument/2006/math">
                    <m:r>
                      <a:rPr lang="en-GB" sz="1000" i="1">
                        <a:latin typeface="Cambria Math" panose="02040503050406030204" pitchFamily="18" charset="0"/>
                      </a:rPr>
                      <m:t>𝑁</m:t>
                    </m:r>
                    <m:r>
                      <a:rPr lang="en-GB" sz="1000">
                        <a:latin typeface="Cambria Math" panose="02040503050406030204" pitchFamily="18" charset="0"/>
                      </a:rPr>
                      <m:t>=</m:t>
                    </m:r>
                    <m:sSub>
                      <m:sSubPr>
                        <m:ctrlPr>
                          <a:rPr lang="ar-AE" sz="1000" i="1">
                            <a:latin typeface="Cambria Math" panose="02040503050406030204" pitchFamily="18" charset="0"/>
                          </a:rPr>
                        </m:ctrlPr>
                      </m:sSubPr>
                      <m:e>
                        <m:r>
                          <a:rPr lang="ar-AE" sz="1000" i="1">
                            <a:latin typeface="Cambria Math" panose="02040503050406030204" pitchFamily="18" charset="0"/>
                          </a:rPr>
                          <m:t>𝑛</m:t>
                        </m:r>
                      </m:e>
                      <m:sub>
                        <m:r>
                          <a:rPr lang="ar-AE" sz="1000">
                            <a:latin typeface="Cambria Math" panose="02040503050406030204" pitchFamily="18" charset="0"/>
                          </a:rPr>
                          <m:t>0</m:t>
                        </m:r>
                      </m:sub>
                    </m:sSub>
                    <m:r>
                      <a:rPr lang="ar-AE" sz="1000">
                        <a:latin typeface="Cambria Math" panose="02040503050406030204" pitchFamily="18" charset="0"/>
                      </a:rPr>
                      <m:t>+</m:t>
                    </m:r>
                    <m:r>
                      <a:rPr lang="en-GB" sz="1000">
                        <a:latin typeface="Cambria Math" panose="02040503050406030204" pitchFamily="18" charset="0"/>
                      </a:rPr>
                      <m:t>100</m:t>
                    </m:r>
                    <m:r>
                      <a:rPr lang="en-GB" sz="1000">
                        <a:latin typeface="Cambria Math" panose="02040503050406030204" pitchFamily="18" charset="0"/>
                      </a:rPr>
                      <m:t> , </m:t>
                    </m:r>
                    <m:sSub>
                      <m:sSubPr>
                        <m:ctrlPr>
                          <a:rPr lang="ar-AE" sz="1000" i="1">
                            <a:latin typeface="Cambria Math" panose="02040503050406030204" pitchFamily="18" charset="0"/>
                          </a:rPr>
                        </m:ctrlPr>
                      </m:sSubPr>
                      <m:e>
                        <m:r>
                          <a:rPr lang="en-GB" sz="1000">
                            <a:latin typeface="Cambria Math" panose="02040503050406030204" pitchFamily="18" charset="0"/>
                          </a:rPr>
                          <m:t> </m:t>
                        </m:r>
                        <m:r>
                          <a:rPr lang="ar-AE" sz="1000" i="1">
                            <a:latin typeface="Cambria Math" panose="02040503050406030204" pitchFamily="18" charset="0"/>
                          </a:rPr>
                          <m:t>𝑛</m:t>
                        </m:r>
                      </m:e>
                      <m:sub>
                        <m:r>
                          <a:rPr lang="ar-AE" sz="1000">
                            <a:latin typeface="Cambria Math" panose="02040503050406030204" pitchFamily="18" charset="0"/>
                          </a:rPr>
                          <m:t>0</m:t>
                        </m:r>
                      </m:sub>
                    </m:sSub>
                    <m:r>
                      <a:rPr lang="en-GB" sz="1000" i="1">
                        <a:latin typeface="Cambria Math" panose="02040503050406030204" pitchFamily="18" charset="0"/>
                      </a:rPr>
                      <m:t>=</m:t>
                    </m:r>
                    <m:r>
                      <a:rPr lang="en-GB" sz="1000" i="1">
                        <a:latin typeface="Cambria Math" panose="02040503050406030204" pitchFamily="18" charset="0"/>
                      </a:rPr>
                      <m:t>4</m:t>
                    </m:r>
                  </m:oMath>
                </a14:m>
                <a:r>
                  <a:rPr lang="ar-AE" sz="1000" dirty="0"/>
                  <a:t>,</a:t>
                </a:r>
                <a14:m>
                  <m:oMath xmlns:m="http://schemas.openxmlformats.org/officeDocument/2006/math">
                    <m:r>
                      <a:rPr lang="en-GB" sz="1000">
                        <a:latin typeface="Cambria Math" panose="02040503050406030204" pitchFamily="18" charset="0"/>
                      </a:rPr>
                      <m:t> </m:t>
                    </m:r>
                    <m:r>
                      <a:rPr lang="en-GB" sz="1000" b="0" i="1" smtClean="0">
                        <a:latin typeface="Cambria Math" panose="02040503050406030204" pitchFamily="18" charset="0"/>
                      </a:rPr>
                      <m:t> </m:t>
                    </m:r>
                    <m:r>
                      <a:rPr lang="en-GB" sz="1000" i="1">
                        <a:latin typeface="Cambria Math" panose="02040503050406030204" pitchFamily="18" charset="0"/>
                      </a:rPr>
                      <m:t>𝑚</m:t>
                    </m:r>
                    <m:r>
                      <a:rPr lang="en-GB" sz="1000" i="1">
                        <a:latin typeface="Cambria Math" panose="02040503050406030204" pitchFamily="18" charset="0"/>
                      </a:rPr>
                      <m:t>=</m:t>
                    </m:r>
                    <m:r>
                      <a:rPr lang="en-GB" sz="1000" i="1">
                        <a:latin typeface="Cambria Math" panose="02040503050406030204" pitchFamily="18" charset="0"/>
                      </a:rPr>
                      <m:t>3</m:t>
                    </m:r>
                  </m:oMath>
                </a14:m>
                <a:r>
                  <a:rPr lang="en-GB" sz="1000" dirty="0"/>
                  <a:t>,  </a:t>
                </a:r>
                <a14:m>
                  <m:oMath xmlns:m="http://schemas.openxmlformats.org/officeDocument/2006/math">
                    <m:r>
                      <a:rPr lang="en-GB" sz="1000" i="1">
                        <a:latin typeface="Cambria Math" panose="02040503050406030204" pitchFamily="18" charset="0"/>
                      </a:rPr>
                      <m:t>h</m:t>
                    </m:r>
                    <m:r>
                      <a:rPr lang="en-GB" sz="1000" i="1">
                        <a:latin typeface="Cambria Math" panose="02040503050406030204" pitchFamily="18" charset="0"/>
                      </a:rPr>
                      <m:t>=</m:t>
                    </m:r>
                    <m:r>
                      <a:rPr lang="en-GB" sz="1000" i="1">
                        <a:latin typeface="Cambria Math" panose="02040503050406030204" pitchFamily="18" charset="0"/>
                      </a:rPr>
                      <m:t>0</m:t>
                    </m:r>
                    <m:r>
                      <a:rPr lang="en-GB" sz="1000" i="1">
                        <a:latin typeface="Cambria Math" panose="02040503050406030204" pitchFamily="18" charset="0"/>
                      </a:rPr>
                      <m:t>.</m:t>
                    </m:r>
                    <m:r>
                      <a:rPr lang="en-GB" sz="1000" i="1">
                        <a:latin typeface="Cambria Math" panose="02040503050406030204" pitchFamily="18" charset="0"/>
                      </a:rPr>
                      <m:t>7</m:t>
                    </m:r>
                  </m:oMath>
                </a14:m>
                <a:r>
                  <a:rPr lang="en-GB" sz="1000" dirty="0"/>
                  <a:t>, and type fraction </a:t>
                </a:r>
                <a14:m>
                  <m:oMath xmlns:m="http://schemas.openxmlformats.org/officeDocument/2006/math">
                    <m:sSub>
                      <m:sSubPr>
                        <m:ctrlPr>
                          <a:rPr lang="ar-AE" sz="1000" i="1">
                            <a:latin typeface="Cambria Math" panose="02040503050406030204" pitchFamily="18" charset="0"/>
                          </a:rPr>
                        </m:ctrlPr>
                      </m:sSubPr>
                      <m:e>
                        <m:r>
                          <a:rPr lang="ar-AE" sz="1000" i="1">
                            <a:latin typeface="Cambria Math" panose="02040503050406030204" pitchFamily="18" charset="0"/>
                          </a:rPr>
                          <m:t>𝑓</m:t>
                        </m:r>
                      </m:e>
                      <m:sub>
                        <m:r>
                          <a:rPr lang="ar-AE" sz="1000" i="1">
                            <a:latin typeface="Cambria Math" panose="02040503050406030204" pitchFamily="18" charset="0"/>
                          </a:rPr>
                          <m:t>𝑎</m:t>
                        </m:r>
                      </m:sub>
                    </m:sSub>
                    <m:r>
                      <a:rPr lang="en-GB" sz="1000" i="1">
                        <a:latin typeface="Cambria Math" panose="02040503050406030204" pitchFamily="18" charset="0"/>
                      </a:rPr>
                      <m:t>=</m:t>
                    </m:r>
                    <m:r>
                      <a:rPr lang="en-GB" sz="1000" i="1">
                        <a:latin typeface="Cambria Math" panose="02040503050406030204" pitchFamily="18" charset="0"/>
                      </a:rPr>
                      <m:t>0</m:t>
                    </m:r>
                    <m:r>
                      <a:rPr lang="en-GB" sz="1000" i="1">
                        <a:latin typeface="Cambria Math" panose="02040503050406030204" pitchFamily="18" charset="0"/>
                      </a:rPr>
                      <m:t>.</m:t>
                    </m:r>
                    <m:r>
                      <a:rPr lang="en-GB" sz="1000" i="1">
                        <a:latin typeface="Cambria Math" panose="02040503050406030204" pitchFamily="18" charset="0"/>
                      </a:rPr>
                      <m:t>55</m:t>
                    </m:r>
                    <m:r>
                      <a:rPr lang="en-GB" sz="1000" i="1">
                        <a:latin typeface="Cambria Math" panose="02040503050406030204" pitchFamily="18" charset="0"/>
                      </a:rPr>
                      <m:t>.</m:t>
                    </m:r>
                  </m:oMath>
                </a14:m>
                <a:r>
                  <a:rPr lang="en-GB" sz="1000" dirty="0"/>
                  <a:t> See theory section for parameter dictionary. </a:t>
                </a:r>
                <a:endParaRPr lang="ar-AE" sz="1000" dirty="0"/>
              </a:p>
            </p:txBody>
          </p:sp>
        </mc:Choice>
        <mc:Fallback>
          <p:sp>
            <p:nvSpPr>
              <p:cNvPr id="65" name="TextBox 64">
                <a:extLst>
                  <a:ext uri="{FF2B5EF4-FFF2-40B4-BE49-F238E27FC236}">
                    <a16:creationId xmlns:a16="http://schemas.microsoft.com/office/drawing/2014/main" id="{18A835D0-41A1-DFFE-A276-4103A3ACC766}"/>
                  </a:ext>
                </a:extLst>
              </p:cNvPr>
              <p:cNvSpPr txBox="1">
                <a:spLocks noRot="1" noChangeAspect="1" noMove="1" noResize="1" noEditPoints="1" noAdjustHandles="1" noChangeArrowheads="1" noChangeShapeType="1" noTextEdit="1"/>
              </p:cNvSpPr>
              <p:nvPr/>
            </p:nvSpPr>
            <p:spPr>
              <a:xfrm flipH="1">
                <a:off x="12390946" y="9292100"/>
                <a:ext cx="8437901" cy="406586"/>
              </a:xfrm>
              <a:prstGeom prst="rect">
                <a:avLst/>
              </a:prstGeom>
              <a:blipFill>
                <a:blip r:embed="rId7"/>
                <a:stretch>
                  <a:fillRect b="-7463"/>
                </a:stretch>
              </a:blipFill>
            </p:spPr>
            <p:txBody>
              <a:bodyPr/>
              <a:lstStyle/>
              <a:p>
                <a:r>
                  <a:rPr lang="en-GB">
                    <a:noFill/>
                  </a:rPr>
                  <a:t> </a:t>
                </a:r>
              </a:p>
            </p:txBody>
          </p:sp>
        </mc:Fallback>
      </mc:AlternateContent>
      <p:sp>
        <p:nvSpPr>
          <p:cNvPr id="69" name="TextBox 68">
            <a:extLst>
              <a:ext uri="{FF2B5EF4-FFF2-40B4-BE49-F238E27FC236}">
                <a16:creationId xmlns:a16="http://schemas.microsoft.com/office/drawing/2014/main" id="{1817F0A7-A884-8C01-056B-216A08ECFF41}"/>
              </a:ext>
            </a:extLst>
          </p:cNvPr>
          <p:cNvSpPr txBox="1"/>
          <p:nvPr/>
        </p:nvSpPr>
        <p:spPr>
          <a:xfrm>
            <a:off x="7464967" y="22702667"/>
            <a:ext cx="13292789" cy="2831544"/>
          </a:xfrm>
          <a:prstGeom prst="rect">
            <a:avLst/>
          </a:prstGeom>
          <a:noFill/>
        </p:spPr>
        <p:txBody>
          <a:bodyPr wrap="square">
            <a:spAutoFit/>
          </a:bodyPr>
          <a:lstStyle/>
          <a:p>
            <a:r>
              <a:rPr lang="en-GB" sz="4200" b="1" dirty="0">
                <a:solidFill>
                  <a:schemeClr val="tx2"/>
                </a:solidFill>
              </a:rPr>
              <a:t>Statistical Validation</a:t>
            </a:r>
          </a:p>
          <a:p>
            <a:endParaRPr lang="en-GB" sz="2600" dirty="0"/>
          </a:p>
          <a:p>
            <a:pPr algn="just"/>
            <a:r>
              <a:rPr lang="en-GB" sz="2600" dirty="0"/>
              <a:t>Nodes in citation networks are coupled. </a:t>
            </a:r>
            <a:r>
              <a:rPr lang="en-US" sz="2800" dirty="0"/>
              <a:t>Classical </a:t>
            </a:r>
            <a:r>
              <a:rPr lang="en-US" sz="2800" dirty="0" err="1"/>
              <a:t>G.o.F</a:t>
            </a:r>
            <a:r>
              <a:rPr lang="en-US" sz="2800" dirty="0"/>
              <a:t> tests rely on asymptotic null distributions derived under independence (or weak-dependence) assumptions. These assumptions are not satisfied in our network. </a:t>
            </a:r>
            <a:r>
              <a:rPr lang="en-GB" sz="2600" dirty="0"/>
              <a:t>In turn, we create a new numerical </a:t>
            </a:r>
            <a:r>
              <a:rPr lang="en-GB" sz="2600" dirty="0" err="1"/>
              <a:t>G.o.F.</a:t>
            </a:r>
            <a:r>
              <a:rPr lang="en-GB" sz="2600" dirty="0"/>
              <a:t> test designed for heavy tailed coupled distributions, valid for a variety of networks.</a:t>
            </a:r>
          </a:p>
        </p:txBody>
      </p:sp>
      <mc:AlternateContent xmlns:mc="http://schemas.openxmlformats.org/markup-compatibility/2006">
        <mc:Choice xmlns:a14="http://schemas.microsoft.com/office/drawing/2010/main" Requires="a14">
          <p:sp>
            <p:nvSpPr>
              <p:cNvPr id="71" name="Text Placeholder 76">
                <a:extLst>
                  <a:ext uri="{FF2B5EF4-FFF2-40B4-BE49-F238E27FC236}">
                    <a16:creationId xmlns:a16="http://schemas.microsoft.com/office/drawing/2014/main" id="{631ABDBD-DBE5-4FEA-6511-51F4D5BA7088}"/>
                  </a:ext>
                </a:extLst>
              </p:cNvPr>
              <p:cNvSpPr txBox="1">
                <a:spLocks/>
              </p:cNvSpPr>
              <p:nvPr/>
            </p:nvSpPr>
            <p:spPr>
              <a:xfrm>
                <a:off x="1419007" y="21533082"/>
                <a:ext cx="4373868" cy="1007421"/>
              </a:xfrm>
              <a:prstGeom prst="rect">
                <a:avLst/>
              </a:prstGeom>
            </p:spPr>
            <p:txBody>
              <a:bodyPr vert="horz" lIns="0" tIns="0" rIns="0" bIns="0" rtlCol="0">
                <a:noAutofit/>
              </a:bodyPr>
              <a:lstStyle>
                <a:lvl1pPr marL="0" indent="0" algn="l" defTabSz="1202763" rtl="0" eaLnBrk="1" latinLnBrk="0" hangingPunct="1">
                  <a:lnSpc>
                    <a:spcPct val="105000"/>
                  </a:lnSpc>
                  <a:spcBef>
                    <a:spcPts val="0"/>
                  </a:spcBef>
                  <a:buFont typeface="Arial" panose="020B0604020202020204" pitchFamily="34" charset="0"/>
                  <a:buNone/>
                  <a:defRPr sz="1000" kern="1200">
                    <a:solidFill>
                      <a:schemeClr val="tx1"/>
                    </a:solidFill>
                    <a:latin typeface="+mn-lt"/>
                    <a:ea typeface="+mn-ea"/>
                    <a:cs typeface="+mn-cs"/>
                  </a:defRPr>
                </a:lvl1pPr>
                <a:lvl2pPr marL="0" indent="0" algn="l" defTabSz="1202763" rtl="0" eaLnBrk="1" latinLnBrk="0" hangingPunct="1">
                  <a:lnSpc>
                    <a:spcPct val="105000"/>
                  </a:lnSpc>
                  <a:spcBef>
                    <a:spcPts val="0"/>
                  </a:spcBef>
                  <a:buFont typeface="Arial" panose="020B0604020202020204" pitchFamily="34" charset="0"/>
                  <a:buNone/>
                  <a:defRPr sz="1000" b="0" i="0" kern="1200">
                    <a:solidFill>
                      <a:schemeClr val="tx1"/>
                    </a:solidFill>
                    <a:latin typeface="+mj-lt"/>
                    <a:ea typeface="+mn-ea"/>
                    <a:cs typeface="+mn-cs"/>
                  </a:defRPr>
                </a:lvl2pPr>
                <a:lvl3pPr marL="360000" indent="-360000" algn="l" defTabSz="1202763" rtl="0" eaLnBrk="1" latinLnBrk="0" hangingPunct="1">
                  <a:lnSpc>
                    <a:spcPct val="105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3pPr>
                <a:lvl4pPr marL="0" indent="0" algn="l" defTabSz="1202763" rtl="0" eaLnBrk="1" latinLnBrk="0" hangingPunct="1">
                  <a:lnSpc>
                    <a:spcPct val="105000"/>
                  </a:lnSpc>
                  <a:spcBef>
                    <a:spcPts val="0"/>
                  </a:spcBef>
                  <a:spcAft>
                    <a:spcPts val="0"/>
                  </a:spcAft>
                  <a:buFont typeface="Arial" panose="020B0604020202020204" pitchFamily="34" charset="0"/>
                  <a:buNone/>
                  <a:defRPr sz="1000" kern="1200">
                    <a:solidFill>
                      <a:schemeClr val="tx1"/>
                    </a:solidFill>
                    <a:latin typeface="+mn-lt"/>
                    <a:ea typeface="+mn-ea"/>
                    <a:cs typeface="+mn-cs"/>
                  </a:defRPr>
                </a:lvl4pPr>
                <a:lvl5pPr marL="0" indent="0" algn="l" defTabSz="1202763" rtl="0" eaLnBrk="1" latinLnBrk="0" hangingPunct="1">
                  <a:lnSpc>
                    <a:spcPct val="105000"/>
                  </a:lnSpc>
                  <a:spcBef>
                    <a:spcPts val="0"/>
                  </a:spcBef>
                  <a:spcAft>
                    <a:spcPts val="3969"/>
                  </a:spcAft>
                  <a:buFont typeface="Arial" panose="020B0604020202020204" pitchFamily="34" charset="0"/>
                  <a:buNone/>
                  <a:defRPr sz="1000" b="0" kern="1200">
                    <a:solidFill>
                      <a:schemeClr val="tx1"/>
                    </a:solidFill>
                    <a:latin typeface="+mn-lt"/>
                    <a:ea typeface="+mn-ea"/>
                    <a:cs typeface="+mn-cs"/>
                  </a:defRPr>
                </a:lvl5pPr>
                <a:lvl6pPr marL="0" indent="0" algn="l" defTabSz="1202763"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202763"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4510361"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8pPr>
                <a:lvl9pPr marL="5111743"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9pPr>
              </a:lstStyle>
              <a:p>
                <a:pPr algn="just"/>
                <a:r>
                  <a:rPr lang="en-GB" b="1" dirty="0"/>
                  <a:t>Figure 5.</a:t>
                </a:r>
                <a:r>
                  <a:rPr lang="en-GB" dirty="0"/>
                  <a:t> Fraction of total citations for which equation (1) passes our </a:t>
                </a:r>
                <a:r>
                  <a:rPr lang="en-GB" dirty="0" err="1"/>
                  <a:t>G.o.F</a:t>
                </a:r>
                <a:r>
                  <a:rPr lang="en-GB" dirty="0"/>
                  <a:t> test as a function of </a:t>
                </a:r>
                <a14:m>
                  <m:oMath xmlns:m="http://schemas.openxmlformats.org/officeDocument/2006/math">
                    <m:r>
                      <a:rPr lang="en-GB" i="1"/>
                      <m:t>𝑚</m:t>
                    </m:r>
                    <m:r>
                      <a:rPr lang="en-GB" b="0" i="0" smtClean="0">
                        <a:latin typeface="Cambria Math" panose="02040503050406030204" pitchFamily="18" charset="0"/>
                      </a:rPr>
                      <m:t> </m:t>
                    </m:r>
                  </m:oMath>
                </a14:m>
                <a:r>
                  <a:rPr lang="en-GB" dirty="0"/>
                  <a:t>citations each paper makes,  (horizontal axis) and the </a:t>
                </a:r>
                <a14:m>
                  <m:oMath xmlns:m="http://schemas.openxmlformats.org/officeDocument/2006/math">
                    <m:sSub>
                      <m:sSubPr>
                        <m:ctrlPr>
                          <a:rPr lang="ar-AE" smtClean="0"/>
                        </m:ctrlPr>
                      </m:sSubPr>
                      <m:e>
                        <m:r>
                          <a:rPr lang="ar-AE" i="1"/>
                          <m:t>𝑛</m:t>
                        </m:r>
                      </m:e>
                      <m:sub>
                        <m:r>
                          <a:rPr lang="ar-AE"/>
                          <m:t>0</m:t>
                        </m:r>
                      </m:sub>
                    </m:sSub>
                    <m:r>
                      <a:rPr lang="en-GB" b="0" i="0" smtClean="0">
                        <a:latin typeface="Cambria Math" panose="02040503050406030204" pitchFamily="18" charset="0"/>
                      </a:rPr>
                      <m:t> </m:t>
                    </m:r>
                  </m:oMath>
                </a14:m>
                <a:r>
                  <a:rPr lang="en-GB" dirty="0"/>
                  <a:t>initial nodes in our model, (vertical axis). The colour scale shows the fraction of edges retained, from 0 (dark) to 1 (bright yellow), where a value of 1 indicates that all edges in are within the regime where our </a:t>
                </a:r>
                <a:r>
                  <a:rPr lang="en-GB" dirty="0" err="1"/>
                  <a:t>G.o.F</a:t>
                </a:r>
                <a:r>
                  <a:rPr lang="en-GB" dirty="0"/>
                  <a:t> test accepts the theoretical distribution at the chosen threshold </a:t>
                </a:r>
                <a14:m>
                  <m:oMath xmlns:m="http://schemas.openxmlformats.org/officeDocument/2006/math">
                    <m:sSub>
                      <m:sSubPr>
                        <m:ctrlPr>
                          <a:rPr lang="ar-AE"/>
                        </m:ctrlPr>
                      </m:sSubPr>
                      <m:e>
                        <m:r>
                          <a:rPr lang="ar-AE" i="1"/>
                          <m:t>𝑃</m:t>
                        </m:r>
                      </m:e>
                      <m:sub>
                        <m:r>
                          <a:rPr lang="ar-AE" i="1"/>
                          <m:t>𝑐</m:t>
                        </m:r>
                      </m:sub>
                    </m:sSub>
                  </m:oMath>
                </a14:m>
                <a:r>
                  <a:rPr lang="ar-AE" dirty="0"/>
                  <a:t>.</a:t>
                </a:r>
                <a:r>
                  <a:rPr lang="en-GB" dirty="0"/>
                  <a:t> 10,000 nodes added.</a:t>
                </a:r>
              </a:p>
            </p:txBody>
          </p:sp>
        </mc:Choice>
        <mc:Fallback>
          <p:sp>
            <p:nvSpPr>
              <p:cNvPr id="71" name="Text Placeholder 76">
                <a:extLst>
                  <a:ext uri="{FF2B5EF4-FFF2-40B4-BE49-F238E27FC236}">
                    <a16:creationId xmlns:a16="http://schemas.microsoft.com/office/drawing/2014/main" id="{631ABDBD-DBE5-4FEA-6511-51F4D5BA7088}"/>
                  </a:ext>
                </a:extLst>
              </p:cNvPr>
              <p:cNvSpPr txBox="1">
                <a:spLocks noRot="1" noChangeAspect="1" noMove="1" noResize="1" noEditPoints="1" noAdjustHandles="1" noChangeArrowheads="1" noChangeShapeType="1" noTextEdit="1"/>
              </p:cNvSpPr>
              <p:nvPr/>
            </p:nvSpPr>
            <p:spPr>
              <a:xfrm>
                <a:off x="1419007" y="21533082"/>
                <a:ext cx="4373868" cy="1007421"/>
              </a:xfrm>
              <a:prstGeom prst="rect">
                <a:avLst/>
              </a:prstGeom>
              <a:blipFill>
                <a:blip r:embed="rId8"/>
                <a:stretch>
                  <a:fillRect l="-1813" t="-3614" r="-1813" b="-1807"/>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4" name="Text Placeholder 76">
                <a:extLst>
                  <a:ext uri="{FF2B5EF4-FFF2-40B4-BE49-F238E27FC236}">
                    <a16:creationId xmlns:a16="http://schemas.microsoft.com/office/drawing/2014/main" id="{4128A7C7-C9CF-640E-2146-E39DE97974CE}"/>
                  </a:ext>
                </a:extLst>
              </p:cNvPr>
              <p:cNvSpPr txBox="1">
                <a:spLocks/>
              </p:cNvSpPr>
              <p:nvPr/>
            </p:nvSpPr>
            <p:spPr>
              <a:xfrm>
                <a:off x="1454385" y="27705062"/>
                <a:ext cx="4303111" cy="1027441"/>
              </a:xfrm>
              <a:prstGeom prst="rect">
                <a:avLst/>
              </a:prstGeom>
            </p:spPr>
            <p:txBody>
              <a:bodyPr vert="horz" lIns="0" tIns="0" rIns="0" bIns="0" rtlCol="0">
                <a:noAutofit/>
              </a:bodyPr>
              <a:lstStyle>
                <a:lvl1pPr marL="0" indent="0" algn="l" defTabSz="1202763" rtl="0" eaLnBrk="1" latinLnBrk="0" hangingPunct="1">
                  <a:lnSpc>
                    <a:spcPct val="105000"/>
                  </a:lnSpc>
                  <a:spcBef>
                    <a:spcPts val="0"/>
                  </a:spcBef>
                  <a:buFont typeface="Arial" panose="020B0604020202020204" pitchFamily="34" charset="0"/>
                  <a:buNone/>
                  <a:defRPr sz="1000" kern="1200">
                    <a:solidFill>
                      <a:schemeClr val="tx1"/>
                    </a:solidFill>
                    <a:latin typeface="+mn-lt"/>
                    <a:ea typeface="+mn-ea"/>
                    <a:cs typeface="+mn-cs"/>
                  </a:defRPr>
                </a:lvl1pPr>
                <a:lvl2pPr marL="0" indent="0" algn="l" defTabSz="1202763" rtl="0" eaLnBrk="1" latinLnBrk="0" hangingPunct="1">
                  <a:lnSpc>
                    <a:spcPct val="105000"/>
                  </a:lnSpc>
                  <a:spcBef>
                    <a:spcPts val="0"/>
                  </a:spcBef>
                  <a:buFont typeface="Arial" panose="020B0604020202020204" pitchFamily="34" charset="0"/>
                  <a:buNone/>
                  <a:defRPr sz="1000" b="0" i="0" kern="1200">
                    <a:solidFill>
                      <a:schemeClr val="tx1"/>
                    </a:solidFill>
                    <a:latin typeface="+mj-lt"/>
                    <a:ea typeface="+mn-ea"/>
                    <a:cs typeface="+mn-cs"/>
                  </a:defRPr>
                </a:lvl2pPr>
                <a:lvl3pPr marL="360000" indent="-360000" algn="l" defTabSz="1202763" rtl="0" eaLnBrk="1" latinLnBrk="0" hangingPunct="1">
                  <a:lnSpc>
                    <a:spcPct val="105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3pPr>
                <a:lvl4pPr marL="0" indent="0" algn="l" defTabSz="1202763" rtl="0" eaLnBrk="1" latinLnBrk="0" hangingPunct="1">
                  <a:lnSpc>
                    <a:spcPct val="105000"/>
                  </a:lnSpc>
                  <a:spcBef>
                    <a:spcPts val="0"/>
                  </a:spcBef>
                  <a:spcAft>
                    <a:spcPts val="0"/>
                  </a:spcAft>
                  <a:buFont typeface="Arial" panose="020B0604020202020204" pitchFamily="34" charset="0"/>
                  <a:buNone/>
                  <a:defRPr sz="1000" kern="1200">
                    <a:solidFill>
                      <a:schemeClr val="tx1"/>
                    </a:solidFill>
                    <a:latin typeface="+mn-lt"/>
                    <a:ea typeface="+mn-ea"/>
                    <a:cs typeface="+mn-cs"/>
                  </a:defRPr>
                </a:lvl4pPr>
                <a:lvl5pPr marL="0" indent="0" algn="l" defTabSz="1202763" rtl="0" eaLnBrk="1" latinLnBrk="0" hangingPunct="1">
                  <a:lnSpc>
                    <a:spcPct val="105000"/>
                  </a:lnSpc>
                  <a:spcBef>
                    <a:spcPts val="0"/>
                  </a:spcBef>
                  <a:spcAft>
                    <a:spcPts val="3969"/>
                  </a:spcAft>
                  <a:buFont typeface="Arial" panose="020B0604020202020204" pitchFamily="34" charset="0"/>
                  <a:buNone/>
                  <a:defRPr sz="1000" b="0" kern="1200">
                    <a:solidFill>
                      <a:schemeClr val="tx1"/>
                    </a:solidFill>
                    <a:latin typeface="+mn-lt"/>
                    <a:ea typeface="+mn-ea"/>
                    <a:cs typeface="+mn-cs"/>
                  </a:defRPr>
                </a:lvl5pPr>
                <a:lvl6pPr marL="0" indent="0" algn="l" defTabSz="1202763"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202763"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4510361"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8pPr>
                <a:lvl9pPr marL="5111743"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9pPr>
              </a:lstStyle>
              <a:p>
                <a:pPr algn="just"/>
                <a:r>
                  <a:rPr lang="en-GB" b="1" dirty="0"/>
                  <a:t>Figure 6.</a:t>
                </a:r>
                <a:r>
                  <a:rPr lang="en-GB" dirty="0"/>
                  <a:t> Fraction of nodes for which  equation (1) passes our </a:t>
                </a:r>
                <a:r>
                  <a:rPr lang="en-GB" dirty="0" err="1"/>
                  <a:t>G.o.F.</a:t>
                </a:r>
                <a:r>
                  <a:rPr lang="en-GB" dirty="0"/>
                  <a:t> test as a function of </a:t>
                </a:r>
                <a14:m>
                  <m:oMath xmlns:m="http://schemas.openxmlformats.org/officeDocument/2006/math">
                    <m:r>
                      <a:rPr lang="en-GB" i="1">
                        <a:latin typeface="Cambria Math" panose="02040503050406030204" pitchFamily="18" charset="0"/>
                      </a:rPr>
                      <m:t>𝑚</m:t>
                    </m:r>
                  </m:oMath>
                </a14:m>
                <a:r>
                  <a:rPr lang="en-GB" dirty="0"/>
                  <a:t> citations each paper makes,  (horizontal axis) and the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a:latin typeface="Cambria Math" panose="02040503050406030204" pitchFamily="18" charset="0"/>
                          </a:rPr>
                          <m:t>0</m:t>
                        </m:r>
                      </m:sub>
                    </m:sSub>
                    <m:r>
                      <a:rPr lang="en-GB">
                        <a:latin typeface="Cambria Math" panose="02040503050406030204" pitchFamily="18" charset="0"/>
                      </a:rPr>
                      <m:t> </m:t>
                    </m:r>
                  </m:oMath>
                </a14:m>
                <a:r>
                  <a:rPr lang="en-GB" dirty="0"/>
                  <a:t> initial papers in our model, (vertical axis). The colour scale shows the fraction of nodes retained, from 0 (dark) to 1 (bright yellow), where a value of 1 indicates that all edges in are within the regime where our </a:t>
                </a:r>
                <a:r>
                  <a:rPr lang="en-GB" dirty="0" err="1"/>
                  <a:t>G.o.F.</a:t>
                </a:r>
                <a:r>
                  <a:rPr lang="en-GB" dirty="0"/>
                  <a:t> test accepts the theoretical distribution at the chosen threshold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𝑃</m:t>
                        </m:r>
                      </m:e>
                      <m:sub>
                        <m:r>
                          <a:rPr lang="ar-AE" i="1">
                            <a:latin typeface="Cambria Math" panose="02040503050406030204" pitchFamily="18" charset="0"/>
                          </a:rPr>
                          <m:t>𝑐</m:t>
                        </m:r>
                      </m:sub>
                    </m:sSub>
                  </m:oMath>
                </a14:m>
                <a:r>
                  <a:rPr lang="ar-AE" dirty="0"/>
                  <a:t>.</a:t>
                </a:r>
                <a:r>
                  <a:rPr lang="en-GB" dirty="0"/>
                  <a:t> 10,000 nodes added.</a:t>
                </a:r>
              </a:p>
              <a:p>
                <a:endParaRPr lang="en-GB" dirty="0"/>
              </a:p>
            </p:txBody>
          </p:sp>
        </mc:Choice>
        <mc:Fallback>
          <p:sp>
            <p:nvSpPr>
              <p:cNvPr id="74" name="Text Placeholder 76">
                <a:extLst>
                  <a:ext uri="{FF2B5EF4-FFF2-40B4-BE49-F238E27FC236}">
                    <a16:creationId xmlns:a16="http://schemas.microsoft.com/office/drawing/2014/main" id="{4128A7C7-C9CF-640E-2146-E39DE97974CE}"/>
                  </a:ext>
                </a:extLst>
              </p:cNvPr>
              <p:cNvSpPr txBox="1">
                <a:spLocks noRot="1" noChangeAspect="1" noMove="1" noResize="1" noEditPoints="1" noAdjustHandles="1" noChangeArrowheads="1" noChangeShapeType="1" noTextEdit="1"/>
              </p:cNvSpPr>
              <p:nvPr/>
            </p:nvSpPr>
            <p:spPr>
              <a:xfrm>
                <a:off x="1454385" y="27705062"/>
                <a:ext cx="4303111" cy="1027441"/>
              </a:xfrm>
              <a:prstGeom prst="rect">
                <a:avLst/>
              </a:prstGeom>
              <a:blipFill>
                <a:blip r:embed="rId9"/>
                <a:stretch>
                  <a:fillRect l="-1844" t="-4167" r="-1986" b="-595"/>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88" name="TextBox 87">
                <a:extLst>
                  <a:ext uri="{FF2B5EF4-FFF2-40B4-BE49-F238E27FC236}">
                    <a16:creationId xmlns:a16="http://schemas.microsoft.com/office/drawing/2014/main" id="{5A75D117-198C-2983-1A30-FB9664308773}"/>
                  </a:ext>
                </a:extLst>
              </p:cNvPr>
              <p:cNvSpPr txBox="1"/>
              <p:nvPr/>
            </p:nvSpPr>
            <p:spPr>
              <a:xfrm>
                <a:off x="7516815" y="15467366"/>
                <a:ext cx="5737101" cy="174906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sz="2600" i="1" smtClean="0">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𝛼</m:t>
                          </m:r>
                        </m:e>
                        <m:sub>
                          <m:r>
                            <a:rPr lang="en-GB" sz="2600" i="1">
                              <a:latin typeface="Cambria Math" panose="02040503050406030204" pitchFamily="18" charset="0"/>
                              <a:ea typeface="Cambria Math" panose="02040503050406030204" pitchFamily="18" charset="0"/>
                            </a:rPr>
                            <m:t>𝑥</m:t>
                          </m:r>
                        </m:sub>
                      </m:sSub>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𝛼</m:t>
                      </m:r>
                      <m:d>
                        <m:dPr>
                          <m:ctrlPr>
                            <a:rPr lang="en-GB" sz="2600" i="1">
                              <a:latin typeface="Cambria Math" panose="02040503050406030204" pitchFamily="18" charset="0"/>
                              <a:ea typeface="Cambria Math" panose="02040503050406030204" pitchFamily="18" charset="0"/>
                            </a:rPr>
                          </m:ctrlPr>
                        </m:dPr>
                        <m:e>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h</m:t>
                              </m:r>
                            </m:e>
                            <m:sub>
                              <m:r>
                                <a:rPr lang="en-GB" sz="2600" i="1">
                                  <a:latin typeface="Cambria Math" panose="02040503050406030204" pitchFamily="18" charset="0"/>
                                  <a:ea typeface="Cambria Math" panose="02040503050406030204" pitchFamily="18" charset="0"/>
                                </a:rPr>
                                <m:t>𝑥</m:t>
                              </m:r>
                              <m:sSup>
                                <m:sSupPr>
                                  <m:ctrlPr>
                                    <a:rPr lang="en-GB" sz="2600" i="1">
                                      <a:latin typeface="Cambria Math" panose="02040503050406030204" pitchFamily="18" charset="0"/>
                                      <a:ea typeface="Cambria Math" panose="02040503050406030204" pitchFamily="18" charset="0"/>
                                    </a:rPr>
                                  </m:ctrlPr>
                                </m:sSupPr>
                                <m:e>
                                  <m:r>
                                    <a:rPr lang="en-GB" sz="2600" i="1">
                                      <a:latin typeface="Cambria Math" panose="02040503050406030204" pitchFamily="18" charset="0"/>
                                      <a:ea typeface="Cambria Math" panose="02040503050406030204" pitchFamily="18" charset="0"/>
                                    </a:rPr>
                                    <m:t>𝑥</m:t>
                                  </m:r>
                                </m:e>
                                <m:sup>
                                  <m:r>
                                    <a:rPr lang="en-GB" sz="2600" i="1">
                                      <a:latin typeface="Cambria Math" panose="02040503050406030204" pitchFamily="18" charset="0"/>
                                      <a:ea typeface="Cambria Math" panose="02040503050406030204" pitchFamily="18" charset="0"/>
                                    </a:rPr>
                                    <m:t>′</m:t>
                                  </m:r>
                                </m:sup>
                              </m:sSup>
                            </m:sub>
                          </m:sSub>
                          <m:r>
                            <a:rPr lang="en-GB" sz="2600" i="1">
                              <a:latin typeface="Cambria Math" panose="02040503050406030204" pitchFamily="18" charset="0"/>
                              <a:ea typeface="Cambria Math" panose="02040503050406030204" pitchFamily="18" charset="0"/>
                            </a:rPr>
                            <m:t>, </m:t>
                          </m:r>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h</m:t>
                              </m:r>
                            </m:e>
                            <m:sub>
                              <m:r>
                                <a:rPr lang="en-GB" sz="2600" i="1">
                                  <a:latin typeface="Cambria Math" panose="02040503050406030204" pitchFamily="18" charset="0"/>
                                  <a:ea typeface="Cambria Math" panose="02040503050406030204" pitchFamily="18" charset="0"/>
                                </a:rPr>
                                <m:t>𝑥𝑥</m:t>
                              </m:r>
                              <m:r>
                                <a:rPr lang="en-GB" sz="2600" b="0" i="1" smtClean="0">
                                  <a:latin typeface="Cambria Math" panose="02040503050406030204" pitchFamily="18" charset="0"/>
                                  <a:ea typeface="Cambria Math" panose="02040503050406030204" pitchFamily="18" charset="0"/>
                                </a:rPr>
                                <m:t>,</m:t>
                              </m:r>
                            </m:sub>
                          </m:sSub>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𝑓</m:t>
                              </m:r>
                            </m:e>
                            <m:sub>
                              <m:r>
                                <a:rPr lang="en-GB" sz="2600" i="1">
                                  <a:latin typeface="Cambria Math" panose="02040503050406030204" pitchFamily="18" charset="0"/>
                                  <a:ea typeface="Cambria Math" panose="02040503050406030204" pitchFamily="18" charset="0"/>
                                </a:rPr>
                                <m:t>𝑥</m:t>
                              </m:r>
                            </m:sub>
                          </m:sSub>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𝑚</m:t>
                          </m:r>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𝑡</m:t>
                          </m:r>
                        </m:e>
                        <m:e>
                          <m:r>
                            <a:rPr lang="en-GB" sz="2600" i="1">
                              <a:latin typeface="Cambria Math" panose="02040503050406030204" pitchFamily="18" charset="0"/>
                              <a:ea typeface="Cambria Math" panose="02040503050406030204" pitchFamily="18" charset="0"/>
                            </a:rPr>
                            <m:t>𝑥</m:t>
                          </m:r>
                        </m:e>
                      </m:d>
                    </m:oMath>
                  </m:oMathPara>
                </a14:m>
                <a:endParaRPr lang="en-GB" sz="26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GB" sz="2600" b="0" i="1" smtClean="0">
                              <a:latin typeface="Cambria Math" panose="02040503050406030204" pitchFamily="18" charset="0"/>
                              <a:ea typeface="Cambria Math" panose="02040503050406030204" pitchFamily="18" charset="0"/>
                            </a:rPr>
                          </m:ctrlPr>
                        </m:sSubPr>
                        <m:e>
                          <m:r>
                            <a:rPr lang="en-GB" sz="2600" i="1" smtClean="0">
                              <a:latin typeface="Cambria Math" panose="02040503050406030204" pitchFamily="18" charset="0"/>
                              <a:ea typeface="Cambria Math" panose="02040503050406030204" pitchFamily="18" charset="0"/>
                            </a:rPr>
                            <m:t>𝛾</m:t>
                          </m:r>
                        </m:e>
                        <m:sub>
                          <m:r>
                            <a:rPr lang="en-GB" sz="2600" b="0" i="1" smtClean="0">
                              <a:latin typeface="Cambria Math" panose="02040503050406030204" pitchFamily="18" charset="0"/>
                              <a:ea typeface="Cambria Math" panose="02040503050406030204" pitchFamily="18" charset="0"/>
                            </a:rPr>
                            <m:t>𝑥</m:t>
                          </m:r>
                        </m:sub>
                      </m:sSub>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𝛾</m:t>
                      </m:r>
                      <m:d>
                        <m:dPr>
                          <m:ctrlPr>
                            <a:rPr lang="en-GB" sz="2600" i="1">
                              <a:latin typeface="Cambria Math" panose="02040503050406030204" pitchFamily="18" charset="0"/>
                              <a:ea typeface="Cambria Math" panose="02040503050406030204" pitchFamily="18" charset="0"/>
                            </a:rPr>
                          </m:ctrlPr>
                        </m:dPr>
                        <m:e>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h</m:t>
                              </m:r>
                            </m:e>
                            <m:sub>
                              <m:r>
                                <a:rPr lang="en-GB" sz="2600" i="1">
                                  <a:latin typeface="Cambria Math" panose="02040503050406030204" pitchFamily="18" charset="0"/>
                                  <a:ea typeface="Cambria Math" panose="02040503050406030204" pitchFamily="18" charset="0"/>
                                </a:rPr>
                                <m:t>𝑥</m:t>
                              </m:r>
                              <m:sSup>
                                <m:sSupPr>
                                  <m:ctrlPr>
                                    <a:rPr lang="en-GB" sz="2600" i="1">
                                      <a:latin typeface="Cambria Math" panose="02040503050406030204" pitchFamily="18" charset="0"/>
                                      <a:ea typeface="Cambria Math" panose="02040503050406030204" pitchFamily="18" charset="0"/>
                                    </a:rPr>
                                  </m:ctrlPr>
                                </m:sSupPr>
                                <m:e>
                                  <m:r>
                                    <a:rPr lang="en-GB" sz="2600" i="1">
                                      <a:latin typeface="Cambria Math" panose="02040503050406030204" pitchFamily="18" charset="0"/>
                                      <a:ea typeface="Cambria Math" panose="02040503050406030204" pitchFamily="18" charset="0"/>
                                    </a:rPr>
                                    <m:t>𝑥</m:t>
                                  </m:r>
                                </m:e>
                                <m:sup>
                                  <m:r>
                                    <a:rPr lang="en-GB" sz="2600" i="1">
                                      <a:latin typeface="Cambria Math" panose="02040503050406030204" pitchFamily="18" charset="0"/>
                                      <a:ea typeface="Cambria Math" panose="02040503050406030204" pitchFamily="18" charset="0"/>
                                    </a:rPr>
                                    <m:t>′</m:t>
                                  </m:r>
                                </m:sup>
                              </m:sSup>
                            </m:sub>
                          </m:sSub>
                          <m:r>
                            <a:rPr lang="en-GB" sz="2600" i="1">
                              <a:latin typeface="Cambria Math" panose="02040503050406030204" pitchFamily="18" charset="0"/>
                              <a:ea typeface="Cambria Math" panose="02040503050406030204" pitchFamily="18" charset="0"/>
                            </a:rPr>
                            <m:t>, </m:t>
                          </m:r>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h</m:t>
                              </m:r>
                            </m:e>
                            <m:sub>
                              <m:r>
                                <a:rPr lang="en-GB" sz="2600" i="1">
                                  <a:latin typeface="Cambria Math" panose="02040503050406030204" pitchFamily="18" charset="0"/>
                                  <a:ea typeface="Cambria Math" panose="02040503050406030204" pitchFamily="18" charset="0"/>
                                </a:rPr>
                                <m:t>𝑥𝑥</m:t>
                              </m:r>
                            </m:sub>
                          </m:sSub>
                          <m:sSub>
                            <m:sSubPr>
                              <m:ctrlPr>
                                <a:rPr lang="en-GB" sz="2600" i="1">
                                  <a:latin typeface="Cambria Math" panose="02040503050406030204" pitchFamily="18" charset="0"/>
                                  <a:ea typeface="Cambria Math" panose="02040503050406030204" pitchFamily="18" charset="0"/>
                                </a:rPr>
                              </m:ctrlPr>
                            </m:sSubPr>
                            <m:e>
                              <m:r>
                                <a:rPr lang="en-GB" sz="2600" b="0" i="1" smtClean="0">
                                  <a:latin typeface="Cambria Math" panose="02040503050406030204" pitchFamily="18" charset="0"/>
                                  <a:ea typeface="Cambria Math" panose="02040503050406030204" pitchFamily="18" charset="0"/>
                                </a:rPr>
                                <m:t>,</m:t>
                              </m:r>
                              <m:r>
                                <a:rPr lang="en-GB" sz="2600" i="1">
                                  <a:latin typeface="Cambria Math" panose="02040503050406030204" pitchFamily="18" charset="0"/>
                                  <a:ea typeface="Cambria Math" panose="02040503050406030204" pitchFamily="18" charset="0"/>
                                </a:rPr>
                                <m:t>𝑓</m:t>
                              </m:r>
                            </m:e>
                            <m:sub>
                              <m:r>
                                <a:rPr lang="en-GB" sz="2600" i="1">
                                  <a:latin typeface="Cambria Math" panose="02040503050406030204" pitchFamily="18" charset="0"/>
                                  <a:ea typeface="Cambria Math" panose="02040503050406030204" pitchFamily="18" charset="0"/>
                                </a:rPr>
                                <m:t>𝑥</m:t>
                              </m:r>
                            </m:sub>
                          </m:sSub>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𝑚</m:t>
                          </m:r>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𝑡</m:t>
                          </m:r>
                        </m:e>
                        <m:e>
                          <m:r>
                            <a:rPr lang="en-GB" sz="2600" i="1">
                              <a:latin typeface="Cambria Math" panose="02040503050406030204" pitchFamily="18" charset="0"/>
                              <a:ea typeface="Cambria Math" panose="02040503050406030204" pitchFamily="18" charset="0"/>
                            </a:rPr>
                            <m:t>𝑥</m:t>
                          </m:r>
                        </m:e>
                      </m:d>
                    </m:oMath>
                  </m:oMathPara>
                </a14:m>
                <a:endParaRPr lang="en-GB" sz="2600" b="0" i="0" dirty="0">
                  <a:solidFill>
                    <a:schemeClr val="tx1"/>
                  </a:solidFill>
                  <a:latin typeface="Cambria Math" panose="02040503050406030204" pitchFamily="18" charset="0"/>
                </a:endParaRPr>
              </a:p>
              <a:p>
                <a:pPr/>
                <a14:m>
                  <m:oMath xmlns:m="http://schemas.openxmlformats.org/officeDocument/2006/math">
                    <m:sSub>
                      <m:sSubPr>
                        <m:ctrlPr>
                          <a:rPr lang="en-GB" sz="2600" i="1">
                            <a:latin typeface="Cambria Math" panose="02040503050406030204" pitchFamily="18" charset="0"/>
                          </a:rPr>
                        </m:ctrlPr>
                      </m:sSubPr>
                      <m:e>
                        <m:r>
                          <m:rPr>
                            <m:sty m:val="p"/>
                          </m:rPr>
                          <a:rPr lang="en-GB" sz="2600">
                            <a:latin typeface="Cambria Math" panose="02040503050406030204" pitchFamily="18" charset="0"/>
                          </a:rPr>
                          <m:t>f</m:t>
                        </m:r>
                      </m:e>
                      <m:sub>
                        <m:r>
                          <m:rPr>
                            <m:sty m:val="p"/>
                          </m:rPr>
                          <a:rPr lang="en-GB" sz="2600">
                            <a:latin typeface="Cambria Math" panose="02040503050406030204" pitchFamily="18" charset="0"/>
                          </a:rPr>
                          <m:t>x</m:t>
                        </m:r>
                      </m:sub>
                    </m:sSub>
                    <m:r>
                      <a:rPr lang="en-GB" sz="2600">
                        <a:latin typeface="Cambria Math" panose="02040503050406030204" pitchFamily="18" charset="0"/>
                      </a:rPr>
                      <m:t>=</m:t>
                    </m:r>
                    <m:r>
                      <m:rPr>
                        <m:sty m:val="p"/>
                      </m:rPr>
                      <a:rPr lang="en-GB" sz="2600" b="0" i="0" smtClean="0">
                        <a:latin typeface="Cambria Math" panose="02040503050406030204" pitchFamily="18" charset="0"/>
                      </a:rPr>
                      <m:t>fraction</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of</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x</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type</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papers</m:t>
                    </m:r>
                  </m:oMath>
                </a14:m>
                <a:r>
                  <a:rPr lang="en-GB" sz="2600" dirty="0">
                    <a:latin typeface="Cambria Math" panose="02040503050406030204" pitchFamily="18" charset="0"/>
                  </a:rPr>
                  <a:t> </a:t>
                </a:r>
              </a:p>
              <a:p>
                <a:pPr/>
                <a14:m>
                  <m:oMathPara xmlns:m="http://schemas.openxmlformats.org/officeDocument/2006/math">
                    <m:oMathParaPr>
                      <m:jc m:val="left"/>
                    </m:oMathParaPr>
                    <m:oMath xmlns:m="http://schemas.openxmlformats.org/officeDocument/2006/math">
                      <m:r>
                        <m:rPr>
                          <m:sty m:val="p"/>
                        </m:rPr>
                        <a:rPr lang="en-GB" sz="2600">
                          <a:latin typeface="Cambria Math" panose="02040503050406030204" pitchFamily="18" charset="0"/>
                        </a:rPr>
                        <m:t>m</m:t>
                      </m:r>
                      <m:r>
                        <a:rPr lang="en-GB" sz="2600" b="0" i="0" smtClean="0">
                          <a:latin typeface="Cambria Math" panose="02040503050406030204" pitchFamily="18" charset="0"/>
                        </a:rPr>
                        <m:t>=</m:t>
                      </m:r>
                      <m:r>
                        <m:rPr>
                          <m:sty m:val="p"/>
                        </m:rPr>
                        <a:rPr lang="en-GB" sz="2600" b="0" i="0" smtClean="0">
                          <a:latin typeface="Cambria Math" panose="02040503050406030204" pitchFamily="18" charset="0"/>
                        </a:rPr>
                        <m:t>citations</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each</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paper</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makes</m:t>
                      </m:r>
                    </m:oMath>
                  </m:oMathPara>
                </a14:m>
                <a:endParaRPr lang="en-GB" sz="2600" dirty="0"/>
              </a:p>
            </p:txBody>
          </p:sp>
        </mc:Choice>
        <mc:Fallback>
          <p:sp>
            <p:nvSpPr>
              <p:cNvPr id="88" name="TextBox 87">
                <a:extLst>
                  <a:ext uri="{FF2B5EF4-FFF2-40B4-BE49-F238E27FC236}">
                    <a16:creationId xmlns:a16="http://schemas.microsoft.com/office/drawing/2014/main" id="{5A75D117-198C-2983-1A30-FB9664308773}"/>
                  </a:ext>
                </a:extLst>
              </p:cNvPr>
              <p:cNvSpPr txBox="1">
                <a:spLocks noRot="1" noChangeAspect="1" noMove="1" noResize="1" noEditPoints="1" noAdjustHandles="1" noChangeArrowheads="1" noChangeShapeType="1" noTextEdit="1"/>
              </p:cNvSpPr>
              <p:nvPr/>
            </p:nvSpPr>
            <p:spPr>
              <a:xfrm>
                <a:off x="7516815" y="15467366"/>
                <a:ext cx="5737101" cy="1749069"/>
              </a:xfrm>
              <a:prstGeom prst="rect">
                <a:avLst/>
              </a:prstGeom>
              <a:blipFill>
                <a:blip r:embed="rId10"/>
                <a:stretch>
                  <a:fillRect/>
                </a:stretch>
              </a:blipFill>
            </p:spPr>
            <p:txBody>
              <a:bodyPr/>
              <a:lstStyle/>
              <a:p>
                <a:r>
                  <a:rPr lang="en-GB">
                    <a:noFill/>
                  </a:rPr>
                  <a:t> </a:t>
                </a:r>
              </a:p>
            </p:txBody>
          </p:sp>
        </mc:Fallback>
      </mc:AlternateContent>
      <p:sp>
        <p:nvSpPr>
          <p:cNvPr id="90" name="TextBox 89">
            <a:extLst>
              <a:ext uri="{FF2B5EF4-FFF2-40B4-BE49-F238E27FC236}">
                <a16:creationId xmlns:a16="http://schemas.microsoft.com/office/drawing/2014/main" id="{BD366EA9-E476-BB1F-AE42-3D380866C80D}"/>
              </a:ext>
            </a:extLst>
          </p:cNvPr>
          <p:cNvSpPr txBox="1"/>
          <p:nvPr/>
        </p:nvSpPr>
        <p:spPr>
          <a:xfrm>
            <a:off x="7349331" y="12472795"/>
            <a:ext cx="2679009" cy="738664"/>
          </a:xfrm>
          <a:prstGeom prst="rect">
            <a:avLst/>
          </a:prstGeom>
          <a:noFill/>
        </p:spPr>
        <p:txBody>
          <a:bodyPr wrap="square">
            <a:spAutoFit/>
          </a:bodyPr>
          <a:lstStyle/>
          <a:p>
            <a:r>
              <a:rPr lang="en-GB" sz="4200" b="1" dirty="0">
                <a:solidFill>
                  <a:schemeClr val="tx2"/>
                </a:solidFill>
              </a:rPr>
              <a:t>Theory</a:t>
            </a:r>
          </a:p>
        </p:txBody>
      </p:sp>
      <mc:AlternateContent xmlns:mc="http://schemas.openxmlformats.org/markup-compatibility/2006">
        <mc:Choice xmlns:a14="http://schemas.microsoft.com/office/drawing/2010/main" Requires="a14">
          <p:sp>
            <p:nvSpPr>
              <p:cNvPr id="91" name="TextBox 90">
                <a:extLst>
                  <a:ext uri="{FF2B5EF4-FFF2-40B4-BE49-F238E27FC236}">
                    <a16:creationId xmlns:a16="http://schemas.microsoft.com/office/drawing/2014/main" id="{6B886DC3-A3C1-1C3D-BCCC-BB3CB25857EC}"/>
                  </a:ext>
                </a:extLst>
              </p:cNvPr>
              <p:cNvSpPr txBox="1"/>
              <p:nvPr/>
            </p:nvSpPr>
            <p:spPr>
              <a:xfrm>
                <a:off x="7464967" y="13207178"/>
                <a:ext cx="5363858" cy="1492216"/>
              </a:xfrm>
              <a:prstGeom prst="rect">
                <a:avLst/>
              </a:prstGeom>
              <a:noFill/>
            </p:spPr>
            <p:txBody>
              <a:bodyPr wrap="none" lIns="0" tIns="0" rIns="0" bIns="0" rtlCol="0">
                <a:noAutofit/>
              </a:bodyPr>
              <a:lstStyle/>
              <a:p>
                <a:pPr algn="just">
                  <a:lnSpc>
                    <a:spcPct val="105000"/>
                  </a:lnSpc>
                </a:pPr>
                <a14:m>
                  <m:oMath xmlns:m="http://schemas.openxmlformats.org/officeDocument/2006/math">
                    <m:sSub>
                      <m:sSubPr>
                        <m:ctrlPr>
                          <a:rPr lang="en-GB" sz="2600" b="0" i="1" smtClean="0">
                            <a:solidFill>
                              <a:schemeClr val="tx1"/>
                            </a:solidFill>
                            <a:latin typeface="Cambria Math" panose="02040503050406030204" pitchFamily="18" charset="0"/>
                          </a:rPr>
                        </m:ctrlPr>
                      </m:sSubPr>
                      <m:e>
                        <m:r>
                          <a:rPr lang="en-GB" sz="2600" b="0" i="1" smtClean="0">
                            <a:solidFill>
                              <a:schemeClr val="tx1"/>
                            </a:solidFill>
                            <a:latin typeface="Cambria Math" panose="02040503050406030204" pitchFamily="18" charset="0"/>
                          </a:rPr>
                          <m:t>𝑝</m:t>
                        </m:r>
                      </m:e>
                      <m:sub>
                        <m:r>
                          <a:rPr lang="en-GB" sz="2600" b="0" i="1" smtClean="0">
                            <a:solidFill>
                              <a:schemeClr val="tx1"/>
                            </a:solidFill>
                            <a:latin typeface="Cambria Math" panose="02040503050406030204" pitchFamily="18" charset="0"/>
                            <a:ea typeface="Cambria Math" panose="02040503050406030204" pitchFamily="18" charset="0"/>
                          </a:rPr>
                          <m:t>∞</m:t>
                        </m:r>
                        <m:r>
                          <a:rPr lang="en-GB" sz="2600" b="0" i="1" smtClean="0">
                            <a:solidFill>
                              <a:schemeClr val="tx1"/>
                            </a:solidFill>
                            <a:latin typeface="Cambria Math" panose="02040503050406030204" pitchFamily="18" charset="0"/>
                            <a:ea typeface="Cambria Math" panose="02040503050406030204" pitchFamily="18" charset="0"/>
                          </a:rPr>
                          <m:t>,</m:t>
                        </m:r>
                        <m:r>
                          <a:rPr lang="en-GB" sz="2600" b="0" i="1" smtClean="0">
                            <a:solidFill>
                              <a:schemeClr val="tx1"/>
                            </a:solidFill>
                            <a:latin typeface="Cambria Math" panose="02040503050406030204" pitchFamily="18" charset="0"/>
                            <a:ea typeface="Cambria Math" panose="02040503050406030204" pitchFamily="18" charset="0"/>
                          </a:rPr>
                          <m:t>𝑥</m:t>
                        </m:r>
                      </m:sub>
                    </m:sSub>
                    <m:d>
                      <m:dPr>
                        <m:ctrlPr>
                          <a:rPr lang="en-GB" sz="2600" b="0" i="1" smtClean="0">
                            <a:solidFill>
                              <a:schemeClr val="tx1"/>
                            </a:solidFill>
                            <a:latin typeface="Cambria Math" panose="02040503050406030204" pitchFamily="18" charset="0"/>
                            <a:ea typeface="Cambria Math" panose="02040503050406030204" pitchFamily="18" charset="0"/>
                          </a:rPr>
                        </m:ctrlPr>
                      </m:dPr>
                      <m:e>
                        <m:r>
                          <a:rPr lang="en-GB" sz="2600" b="0" i="1" smtClean="0">
                            <a:solidFill>
                              <a:schemeClr val="tx1"/>
                            </a:solidFill>
                            <a:latin typeface="Cambria Math" panose="02040503050406030204" pitchFamily="18" charset="0"/>
                            <a:ea typeface="Cambria Math" panose="02040503050406030204" pitchFamily="18" charset="0"/>
                          </a:rPr>
                          <m:t>𝑘</m:t>
                        </m:r>
                      </m:e>
                    </m:d>
                    <m:r>
                      <a:rPr lang="en-GB" sz="2600" b="0" i="1" smtClean="0">
                        <a:solidFill>
                          <a:schemeClr val="tx1"/>
                        </a:solidFill>
                        <a:latin typeface="Cambria Math" panose="02040503050406030204" pitchFamily="18" charset="0"/>
                        <a:ea typeface="Cambria Math" panose="02040503050406030204" pitchFamily="18" charset="0"/>
                      </a:rPr>
                      <m:t>=</m:t>
                    </m:r>
                    <m:d>
                      <m:dPr>
                        <m:begChr m:val="{"/>
                        <m:endChr m:val=""/>
                        <m:ctrlPr>
                          <a:rPr lang="en-GB" sz="2600" b="0" i="1" smtClean="0">
                            <a:solidFill>
                              <a:schemeClr val="tx1"/>
                            </a:solidFill>
                            <a:latin typeface="Cambria Math" panose="02040503050406030204" pitchFamily="18" charset="0"/>
                            <a:ea typeface="Cambria Math" panose="02040503050406030204" pitchFamily="18" charset="0"/>
                          </a:rPr>
                        </m:ctrlPr>
                      </m:dPr>
                      <m:e>
                        <m:eqArr>
                          <m:eqArrPr>
                            <m:ctrlPr>
                              <a:rPr lang="en-GB" sz="2600" b="0" i="1" smtClean="0">
                                <a:solidFill>
                                  <a:schemeClr val="tx1"/>
                                </a:solidFill>
                                <a:latin typeface="Cambria Math" panose="02040503050406030204" pitchFamily="18" charset="0"/>
                                <a:ea typeface="Cambria Math" panose="02040503050406030204" pitchFamily="18" charset="0"/>
                              </a:rPr>
                            </m:ctrlPr>
                          </m:eqArrPr>
                          <m:e>
                            <m:sSub>
                              <m:sSubPr>
                                <m:ctrlPr>
                                  <a:rPr lang="en-GB" sz="2600" i="1">
                                    <a:latin typeface="Cambria Math" panose="02040503050406030204" pitchFamily="18" charset="0"/>
                                  </a:rPr>
                                </m:ctrlPr>
                              </m:sSubPr>
                              <m:e>
                                <m:r>
                                  <a:rPr lang="en-GB" sz="2600" i="1">
                                    <a:latin typeface="Cambria Math" panose="02040503050406030204" pitchFamily="18" charset="0"/>
                                  </a:rPr>
                                  <m:t>𝑝</m:t>
                                </m:r>
                              </m:e>
                              <m:sub>
                                <m:r>
                                  <a:rPr lang="en-GB" sz="2600" b="0" i="1" smtClean="0">
                                    <a:latin typeface="Cambria Math" panose="02040503050406030204" pitchFamily="18" charset="0"/>
                                  </a:rPr>
                                  <m:t>𝑥</m:t>
                                </m:r>
                                <m:r>
                                  <a:rPr lang="en-GB" sz="2600" i="1">
                                    <a:latin typeface="Cambria Math" panose="02040503050406030204" pitchFamily="18" charset="0"/>
                                    <a:ea typeface="Cambria Math" panose="02040503050406030204" pitchFamily="18" charset="0"/>
                                  </a:rPr>
                                  <m:t>,</m:t>
                                </m:r>
                                <m:r>
                                  <a:rPr lang="en-GB" sz="2600" b="0" i="1" smtClean="0">
                                    <a:latin typeface="Cambria Math" panose="02040503050406030204" pitchFamily="18" charset="0"/>
                                    <a:ea typeface="Cambria Math" panose="02040503050406030204" pitchFamily="18" charset="0"/>
                                  </a:rPr>
                                  <m:t>   </m:t>
                                </m:r>
                                <m:r>
                                  <a:rPr lang="en-GB" sz="2600" b="0" i="1" smtClean="0">
                                    <a:latin typeface="Cambria Math" panose="02040503050406030204" pitchFamily="18" charset="0"/>
                                    <a:ea typeface="Cambria Math" panose="02040503050406030204" pitchFamily="18" charset="0"/>
                                  </a:rPr>
                                  <m:t>0</m:t>
                                </m:r>
                              </m:sub>
                            </m:sSub>
                            <m:r>
                              <a:rPr lang="en-GB" sz="2600" b="0" i="1" smtClean="0">
                                <a:latin typeface="Cambria Math" panose="02040503050406030204" pitchFamily="18" charset="0"/>
                                <a:ea typeface="Cambria Math" panose="02040503050406030204" pitchFamily="18" charset="0"/>
                              </a:rPr>
                              <m:t>,</m:t>
                            </m:r>
                            <m:r>
                              <a:rPr lang="en-GB" sz="2600" b="0" i="1" smtClean="0">
                                <a:solidFill>
                                  <a:schemeClr val="tx1"/>
                                </a:solidFill>
                                <a:latin typeface="Cambria Math" panose="02040503050406030204" pitchFamily="18" charset="0"/>
                                <a:ea typeface="Cambria Math" panose="02040503050406030204" pitchFamily="18" charset="0"/>
                              </a:rPr>
                              <m:t>                  </m:t>
                            </m:r>
                            <m:r>
                              <a:rPr lang="en-GB" sz="2600" b="0" i="1" smtClean="0">
                                <a:solidFill>
                                  <a:schemeClr val="tx1"/>
                                </a:solidFill>
                                <a:latin typeface="Cambria Math" panose="02040503050406030204" pitchFamily="18" charset="0"/>
                                <a:ea typeface="Cambria Math" panose="02040503050406030204" pitchFamily="18" charset="0"/>
                              </a:rPr>
                              <m:t>𝑘</m:t>
                            </m:r>
                            <m:r>
                              <a:rPr lang="en-GB" sz="2600" b="0" i="1" smtClean="0">
                                <a:solidFill>
                                  <a:schemeClr val="tx1"/>
                                </a:solidFill>
                                <a:latin typeface="Cambria Math" panose="02040503050406030204" pitchFamily="18" charset="0"/>
                                <a:ea typeface="Cambria Math" panose="02040503050406030204" pitchFamily="18" charset="0"/>
                              </a:rPr>
                              <m:t>=</m:t>
                            </m:r>
                            <m:r>
                              <a:rPr lang="en-GB" sz="2600" b="0" i="1" smtClean="0">
                                <a:solidFill>
                                  <a:schemeClr val="tx1"/>
                                </a:solidFill>
                                <a:latin typeface="Cambria Math" panose="02040503050406030204" pitchFamily="18" charset="0"/>
                                <a:ea typeface="Cambria Math" panose="02040503050406030204" pitchFamily="18" charset="0"/>
                              </a:rPr>
                              <m:t>0</m:t>
                            </m:r>
                          </m:e>
                          <m:e>
                            <m:r>
                              <a:rPr lang="en-GB" sz="2600" b="0" i="1" smtClean="0">
                                <a:solidFill>
                                  <a:schemeClr val="tx1"/>
                                </a:solidFill>
                                <a:latin typeface="Cambria Math" panose="02040503050406030204" pitchFamily="18" charset="0"/>
                                <a:ea typeface="Cambria Math" panose="02040503050406030204" pitchFamily="18" charset="0"/>
                              </a:rPr>
                              <m:t>&amp;</m:t>
                            </m:r>
                            <m:sSub>
                              <m:sSubPr>
                                <m:ctrlPr>
                                  <a:rPr lang="en-GB" sz="2600" i="1">
                                    <a:latin typeface="Cambria Math" panose="02040503050406030204" pitchFamily="18" charset="0"/>
                                  </a:rPr>
                                </m:ctrlPr>
                              </m:sSubPr>
                              <m:e>
                                <m:r>
                                  <a:rPr lang="en-GB" sz="2600" i="1">
                                    <a:latin typeface="Cambria Math" panose="02040503050406030204" pitchFamily="18" charset="0"/>
                                  </a:rPr>
                                  <m:t>𝑝</m:t>
                                </m:r>
                              </m:e>
                              <m:sub>
                                <m:r>
                                  <a:rPr lang="en-GB" sz="2600" b="0" i="1" smtClean="0">
                                    <a:latin typeface="Cambria Math" panose="02040503050406030204" pitchFamily="18" charset="0"/>
                                  </a:rPr>
                                  <m:t>𝑥</m:t>
                                </m:r>
                                <m:r>
                                  <a:rPr lang="en-GB" sz="2600" i="1">
                                    <a:latin typeface="Cambria Math" panose="02040503050406030204" pitchFamily="18" charset="0"/>
                                    <a:ea typeface="Cambria Math" panose="02040503050406030204" pitchFamily="18" charset="0"/>
                                  </a:rPr>
                                  <m:t>,   </m:t>
                                </m:r>
                                <m:r>
                                  <a:rPr lang="en-GB" sz="2600" b="0" i="1" smtClean="0">
                                    <a:latin typeface="Cambria Math" panose="02040503050406030204" pitchFamily="18" charset="0"/>
                                    <a:ea typeface="Cambria Math" panose="02040503050406030204" pitchFamily="18" charset="0"/>
                                  </a:rPr>
                                  <m:t>0</m:t>
                                </m:r>
                              </m:sub>
                            </m:sSub>
                            <m:f>
                              <m:fPr>
                                <m:ctrlPr>
                                  <a:rPr lang="en-GB" sz="2600" i="1" smtClean="0">
                                    <a:latin typeface="Cambria Math" panose="02040503050406030204" pitchFamily="18" charset="0"/>
                                    <a:ea typeface="Cambria Math" panose="02040503050406030204" pitchFamily="18" charset="0"/>
                                  </a:rPr>
                                </m:ctrlPr>
                              </m:fPr>
                              <m:num>
                                <m:r>
                                  <a:rPr lang="en-GB" sz="2600" b="0" i="1" smtClean="0">
                                    <a:latin typeface="Cambria Math" panose="02040503050406030204" pitchFamily="18" charset="0"/>
                                    <a:ea typeface="Cambria Math" panose="02040503050406030204" pitchFamily="18" charset="0"/>
                                  </a:rPr>
                                  <m:t>𝐵</m:t>
                                </m:r>
                                <m:d>
                                  <m:dPr>
                                    <m:ctrlPr>
                                      <a:rPr lang="en-GB" sz="2600" b="0" i="1" smtClean="0">
                                        <a:latin typeface="Cambria Math" panose="02040503050406030204" pitchFamily="18" charset="0"/>
                                        <a:ea typeface="Cambria Math" panose="02040503050406030204" pitchFamily="18" charset="0"/>
                                      </a:rPr>
                                    </m:ctrlPr>
                                  </m:dPr>
                                  <m:e>
                                    <m:r>
                                      <a:rPr lang="en-GB" sz="2600" b="0" i="1" smtClean="0">
                                        <a:latin typeface="Cambria Math" panose="02040503050406030204" pitchFamily="18" charset="0"/>
                                        <a:ea typeface="Cambria Math" panose="02040503050406030204" pitchFamily="18" charset="0"/>
                                      </a:rPr>
                                      <m:t>𝑘</m:t>
                                    </m:r>
                                    <m:r>
                                      <a:rPr lang="en-GB" sz="2600" b="0" i="1" smtClean="0">
                                        <a:latin typeface="Cambria Math" panose="02040503050406030204" pitchFamily="18" charset="0"/>
                                        <a:ea typeface="Cambria Math" panose="02040503050406030204" pitchFamily="18" charset="0"/>
                                      </a:rPr>
                                      <m:t>, </m:t>
                                    </m:r>
                                    <m:sSub>
                                      <m:sSubPr>
                                        <m:ctrlPr>
                                          <a:rPr lang="en-GB" sz="2600" b="0" i="1" smtClean="0">
                                            <a:latin typeface="Cambria Math" panose="02040503050406030204" pitchFamily="18" charset="0"/>
                                            <a:ea typeface="Cambria Math" panose="02040503050406030204" pitchFamily="18" charset="0"/>
                                          </a:rPr>
                                        </m:ctrlPr>
                                      </m:sSubPr>
                                      <m:e>
                                        <m:r>
                                          <a:rPr lang="en-GB" sz="2600" b="0" i="1" smtClean="0">
                                            <a:latin typeface="Cambria Math" panose="02040503050406030204" pitchFamily="18" charset="0"/>
                                            <a:ea typeface="Cambria Math" panose="02040503050406030204" pitchFamily="18" charset="0"/>
                                          </a:rPr>
                                          <m:t>𝛼</m:t>
                                        </m:r>
                                      </m:e>
                                      <m:sub>
                                        <m:r>
                                          <a:rPr lang="en-GB" sz="2600" b="0" i="1" smtClean="0">
                                            <a:latin typeface="Cambria Math" panose="02040503050406030204" pitchFamily="18" charset="0"/>
                                            <a:ea typeface="Cambria Math" panose="02040503050406030204" pitchFamily="18" charset="0"/>
                                          </a:rPr>
                                          <m:t>𝑥</m:t>
                                        </m:r>
                                      </m:sub>
                                    </m:sSub>
                                    <m:r>
                                      <a:rPr lang="en-GB" sz="2600" b="0" i="1" smtClean="0">
                                        <a:latin typeface="Cambria Math" panose="02040503050406030204" pitchFamily="18" charset="0"/>
                                        <a:ea typeface="Cambria Math" panose="02040503050406030204" pitchFamily="18" charset="0"/>
                                      </a:rPr>
                                      <m:t>+</m:t>
                                    </m:r>
                                    <m:sSub>
                                      <m:sSubPr>
                                        <m:ctrlPr>
                                          <a:rPr lang="en-GB" sz="2600" b="0" i="1" smtClean="0">
                                            <a:latin typeface="Cambria Math" panose="02040503050406030204" pitchFamily="18" charset="0"/>
                                            <a:ea typeface="Cambria Math" panose="02040503050406030204" pitchFamily="18" charset="0"/>
                                          </a:rPr>
                                        </m:ctrlPr>
                                      </m:sSubPr>
                                      <m:e>
                                        <m:r>
                                          <a:rPr lang="en-GB" sz="2600" b="0" i="1" smtClean="0">
                                            <a:latin typeface="Cambria Math" panose="02040503050406030204" pitchFamily="18" charset="0"/>
                                            <a:ea typeface="Cambria Math" panose="02040503050406030204" pitchFamily="18" charset="0"/>
                                          </a:rPr>
                                          <m:t>𝛾</m:t>
                                        </m:r>
                                      </m:e>
                                      <m:sub>
                                        <m:r>
                                          <a:rPr lang="en-GB" sz="2600" b="0" i="1" smtClean="0">
                                            <a:latin typeface="Cambria Math" panose="02040503050406030204" pitchFamily="18" charset="0"/>
                                            <a:ea typeface="Cambria Math" panose="02040503050406030204" pitchFamily="18" charset="0"/>
                                          </a:rPr>
                                          <m:t>𝑥</m:t>
                                        </m:r>
                                      </m:sub>
                                    </m:sSub>
                                  </m:e>
                                </m:d>
                              </m:num>
                              <m:den>
                                <m:r>
                                  <a:rPr lang="en-GB" sz="2600" b="0" i="1" smtClean="0">
                                    <a:latin typeface="Cambria Math" panose="02040503050406030204" pitchFamily="18" charset="0"/>
                                    <a:ea typeface="Cambria Math" panose="02040503050406030204" pitchFamily="18" charset="0"/>
                                  </a:rPr>
                                  <m:t>𝐵</m:t>
                                </m:r>
                                <m:d>
                                  <m:dPr>
                                    <m:ctrlPr>
                                      <a:rPr lang="en-GB" sz="2600" b="0" i="1" smtClean="0">
                                        <a:latin typeface="Cambria Math" panose="02040503050406030204" pitchFamily="18" charset="0"/>
                                        <a:ea typeface="Cambria Math" panose="02040503050406030204" pitchFamily="18" charset="0"/>
                                      </a:rPr>
                                    </m:ctrlPr>
                                  </m:dPr>
                                  <m:e>
                                    <m:r>
                                      <a:rPr lang="en-GB" sz="2600" b="0" i="1" smtClean="0">
                                        <a:latin typeface="Cambria Math" panose="02040503050406030204" pitchFamily="18" charset="0"/>
                                        <a:ea typeface="Cambria Math" panose="02040503050406030204" pitchFamily="18" charset="0"/>
                                      </a:rPr>
                                      <m:t>𝑘</m:t>
                                    </m:r>
                                    <m:r>
                                      <a:rPr lang="en-GB" sz="2600" b="0" i="1" smtClean="0">
                                        <a:latin typeface="Cambria Math" panose="02040503050406030204" pitchFamily="18" charset="0"/>
                                        <a:ea typeface="Cambria Math" panose="02040503050406030204" pitchFamily="18" charset="0"/>
                                      </a:rPr>
                                      <m:t>, </m:t>
                                    </m:r>
                                    <m:sSub>
                                      <m:sSubPr>
                                        <m:ctrlPr>
                                          <a:rPr lang="en-GB" sz="2600" b="0" i="1" smtClean="0">
                                            <a:latin typeface="Cambria Math" panose="02040503050406030204" pitchFamily="18" charset="0"/>
                                            <a:ea typeface="Cambria Math" panose="02040503050406030204" pitchFamily="18" charset="0"/>
                                          </a:rPr>
                                        </m:ctrlPr>
                                      </m:sSubPr>
                                      <m:e>
                                        <m:r>
                                          <a:rPr lang="en-GB" sz="2600" b="0" i="1" smtClean="0">
                                            <a:latin typeface="Cambria Math" panose="02040503050406030204" pitchFamily="18" charset="0"/>
                                            <a:ea typeface="Cambria Math" panose="02040503050406030204" pitchFamily="18" charset="0"/>
                                          </a:rPr>
                                          <m:t>𝛼</m:t>
                                        </m:r>
                                      </m:e>
                                      <m:sub>
                                        <m:r>
                                          <a:rPr lang="en-GB" sz="2600" b="0" i="1" smtClean="0">
                                            <a:latin typeface="Cambria Math" panose="02040503050406030204" pitchFamily="18" charset="0"/>
                                            <a:ea typeface="Cambria Math" panose="02040503050406030204" pitchFamily="18" charset="0"/>
                                          </a:rPr>
                                          <m:t>𝑥</m:t>
                                        </m:r>
                                      </m:sub>
                                    </m:sSub>
                                  </m:e>
                                </m:d>
                              </m:den>
                            </m:f>
                            <m:r>
                              <a:rPr lang="en-GB" sz="2600" b="0" i="1" smtClean="0">
                                <a:latin typeface="Cambria Math" panose="02040503050406030204" pitchFamily="18" charset="0"/>
                                <a:ea typeface="Cambria Math" panose="02040503050406030204" pitchFamily="18" charset="0"/>
                              </a:rPr>
                              <m:t>, </m:t>
                            </m:r>
                            <m:r>
                              <a:rPr lang="en-GB" sz="2600" b="0" i="1" smtClean="0">
                                <a:solidFill>
                                  <a:schemeClr val="tx1"/>
                                </a:solidFill>
                                <a:latin typeface="Cambria Math" panose="02040503050406030204" pitchFamily="18" charset="0"/>
                                <a:ea typeface="Cambria Math" panose="02040503050406030204" pitchFamily="18" charset="0"/>
                              </a:rPr>
                              <m:t>𝑘</m:t>
                            </m:r>
                            <m:r>
                              <a:rPr lang="en-GB" sz="2600" b="0" i="1" smtClean="0">
                                <a:solidFill>
                                  <a:schemeClr val="tx1"/>
                                </a:solidFill>
                                <a:latin typeface="Cambria Math" panose="02040503050406030204" pitchFamily="18" charset="0"/>
                                <a:ea typeface="Cambria Math" panose="02040503050406030204" pitchFamily="18" charset="0"/>
                              </a:rPr>
                              <m:t>𝜖</m:t>
                            </m:r>
                            <m:sSup>
                              <m:sSupPr>
                                <m:ctrlPr>
                                  <a:rPr lang="en-GB" sz="2600" b="0" i="1" smtClean="0">
                                    <a:solidFill>
                                      <a:schemeClr val="tx1"/>
                                    </a:solidFill>
                                    <a:latin typeface="Cambria Math" panose="02040503050406030204" pitchFamily="18" charset="0"/>
                                    <a:ea typeface="Cambria Math" panose="02040503050406030204" pitchFamily="18" charset="0"/>
                                  </a:rPr>
                                </m:ctrlPr>
                              </m:sSupPr>
                              <m:e>
                                <m:r>
                                  <a:rPr lang="en-GB" sz="2600" b="0" i="1" smtClean="0">
                                    <a:solidFill>
                                      <a:schemeClr val="tx1"/>
                                    </a:solidFill>
                                    <a:latin typeface="Cambria Math" panose="02040503050406030204" pitchFamily="18" charset="0"/>
                                    <a:ea typeface="Cambria Math" panose="02040503050406030204" pitchFamily="18" charset="0"/>
                                  </a:rPr>
                                  <m:t>ℤ</m:t>
                                </m:r>
                              </m:e>
                              <m:sup>
                                <m:r>
                                  <a:rPr lang="en-GB" sz="2600" b="0" i="1" smtClean="0">
                                    <a:solidFill>
                                      <a:schemeClr val="tx1"/>
                                    </a:solidFill>
                                    <a:latin typeface="Cambria Math" panose="02040503050406030204" pitchFamily="18" charset="0"/>
                                    <a:ea typeface="Cambria Math" panose="02040503050406030204" pitchFamily="18" charset="0"/>
                                  </a:rPr>
                                  <m:t>+</m:t>
                                </m:r>
                              </m:sup>
                            </m:sSup>
                            <m:r>
                              <a:rPr lang="en-GB" sz="2600" b="0" i="1" smtClean="0">
                                <a:solidFill>
                                  <a:schemeClr val="tx1"/>
                                </a:solidFill>
                                <a:latin typeface="Cambria Math" panose="02040503050406030204" pitchFamily="18" charset="0"/>
                                <a:ea typeface="Cambria Math" panose="02040503050406030204" pitchFamily="18" charset="0"/>
                              </a:rPr>
                              <m:t> </m:t>
                            </m:r>
                          </m:e>
                        </m:eqArr>
                        <m:r>
                          <a:rPr lang="en-GB" sz="2600" b="0" i="1" smtClean="0">
                            <a:solidFill>
                              <a:schemeClr val="tx1"/>
                            </a:solidFill>
                            <a:latin typeface="Cambria Math" panose="02040503050406030204" pitchFamily="18" charset="0"/>
                            <a:ea typeface="Cambria Math" panose="02040503050406030204" pitchFamily="18" charset="0"/>
                          </a:rPr>
                          <m:t>  </m:t>
                        </m:r>
                        <m:r>
                          <a:rPr lang="en-GB" sz="2600" b="0" i="1" smtClean="0">
                            <a:solidFill>
                              <a:schemeClr val="tx1"/>
                            </a:solidFill>
                            <a:latin typeface="Cambria Math" panose="02040503050406030204" pitchFamily="18" charset="0"/>
                            <a:ea typeface="Cambria Math" panose="02040503050406030204" pitchFamily="18" charset="0"/>
                          </a:rPr>
                          <m:t>  </m:t>
                        </m:r>
                        <m:r>
                          <a:rPr lang="en-GB" sz="2600" b="0" i="1" smtClean="0">
                            <a:solidFill>
                              <a:schemeClr val="tx1"/>
                            </a:solidFill>
                            <a:latin typeface="Cambria Math" panose="02040503050406030204" pitchFamily="18" charset="0"/>
                            <a:ea typeface="Cambria Math" panose="02040503050406030204" pitchFamily="18" charset="0"/>
                          </a:rPr>
                          <m:t>(</m:t>
                        </m:r>
                        <m:r>
                          <a:rPr lang="en-GB" sz="2600" b="0" i="1" smtClean="0">
                            <a:solidFill>
                              <a:schemeClr val="tx1"/>
                            </a:solidFill>
                            <a:latin typeface="Cambria Math" panose="02040503050406030204" pitchFamily="18" charset="0"/>
                            <a:ea typeface="Cambria Math" panose="02040503050406030204" pitchFamily="18" charset="0"/>
                          </a:rPr>
                          <m:t>1</m:t>
                        </m:r>
                        <m:r>
                          <a:rPr lang="en-GB" sz="2600" b="0" i="1" smtClean="0">
                            <a:solidFill>
                              <a:schemeClr val="tx1"/>
                            </a:solidFill>
                            <a:latin typeface="Cambria Math" panose="02040503050406030204" pitchFamily="18" charset="0"/>
                            <a:ea typeface="Cambria Math" panose="02040503050406030204" pitchFamily="18" charset="0"/>
                          </a:rPr>
                          <m:t>)</m:t>
                        </m:r>
                      </m:e>
                    </m:d>
                  </m:oMath>
                </a14:m>
                <a:r>
                  <a:rPr lang="en-GB" sz="2600" dirty="0">
                    <a:solidFill>
                      <a:schemeClr val="tx1"/>
                    </a:solidFill>
                  </a:rPr>
                  <a:t>,</a:t>
                </a:r>
              </a:p>
            </p:txBody>
          </p:sp>
        </mc:Choice>
        <mc:Fallback>
          <p:sp>
            <p:nvSpPr>
              <p:cNvPr id="91" name="TextBox 90">
                <a:extLst>
                  <a:ext uri="{FF2B5EF4-FFF2-40B4-BE49-F238E27FC236}">
                    <a16:creationId xmlns:a16="http://schemas.microsoft.com/office/drawing/2014/main" id="{6B886DC3-A3C1-1C3D-BCCC-BB3CB25857EC}"/>
                  </a:ext>
                </a:extLst>
              </p:cNvPr>
              <p:cNvSpPr txBox="1">
                <a:spLocks noRot="1" noChangeAspect="1" noMove="1" noResize="1" noEditPoints="1" noAdjustHandles="1" noChangeArrowheads="1" noChangeShapeType="1" noTextEdit="1"/>
              </p:cNvSpPr>
              <p:nvPr/>
            </p:nvSpPr>
            <p:spPr>
              <a:xfrm>
                <a:off x="7464967" y="13207178"/>
                <a:ext cx="5363858" cy="1492216"/>
              </a:xfrm>
              <a:prstGeom prst="rect">
                <a:avLst/>
              </a:prstGeom>
              <a:blipFill>
                <a:blip r:embed="rId11"/>
                <a:stretch>
                  <a:fillRect r="-3982"/>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92" name="TextBox 91">
                <a:extLst>
                  <a:ext uri="{FF2B5EF4-FFF2-40B4-BE49-F238E27FC236}">
                    <a16:creationId xmlns:a16="http://schemas.microsoft.com/office/drawing/2014/main" id="{EC991BAB-B179-89AA-D51F-4510A95D68E0}"/>
                  </a:ext>
                </a:extLst>
              </p:cNvPr>
              <p:cNvSpPr txBox="1"/>
              <p:nvPr/>
            </p:nvSpPr>
            <p:spPr>
              <a:xfrm>
                <a:off x="7536059" y="14584042"/>
                <a:ext cx="12782546" cy="759751"/>
              </a:xfrm>
              <a:prstGeom prst="rect">
                <a:avLst/>
              </a:prstGeom>
              <a:noFill/>
            </p:spPr>
            <p:txBody>
              <a:bodyPr wrap="square" lIns="0" tIns="0" rIns="0" bIns="0" rtlCol="0">
                <a:noAutofit/>
              </a:bodyPr>
              <a:lstStyle/>
              <a:p>
                <a:pPr algn="just">
                  <a:lnSpc>
                    <a:spcPct val="105000"/>
                  </a:lnSpc>
                </a:pPr>
                <a:r>
                  <a:rPr lang="en-GB" sz="2600" dirty="0"/>
                  <a:t>(1) Is the probability a paper of type </a:t>
                </a:r>
                <a14:m>
                  <m:oMath xmlns:m="http://schemas.openxmlformats.org/officeDocument/2006/math">
                    <m:r>
                      <a:rPr lang="en-GB" sz="2600" b="0" i="1" smtClean="0">
                        <a:latin typeface="Cambria Math" panose="02040503050406030204" pitchFamily="18" charset="0"/>
                      </a:rPr>
                      <m:t>𝑥</m:t>
                    </m:r>
                    <m:r>
                      <m:rPr>
                        <m:nor/>
                      </m:rPr>
                      <a:rPr lang="en-GB" sz="2600" b="0" i="0" smtClean="0">
                        <a:latin typeface="Cambria Math" panose="02040503050406030204" pitchFamily="18" charset="0"/>
                      </a:rPr>
                      <m:t> </m:t>
                    </m:r>
                    <m:r>
                      <m:rPr>
                        <m:nor/>
                      </m:rPr>
                      <a:rPr lang="en-GB" sz="2600" dirty="0"/>
                      <m:t>has</m:t>
                    </m:r>
                    <m:r>
                      <m:rPr>
                        <m:nor/>
                      </m:rPr>
                      <a:rPr lang="en-GB" sz="2600" dirty="0"/>
                      <m:t> </m:t>
                    </m:r>
                    <m:r>
                      <a:rPr lang="en-GB" sz="2600" i="1">
                        <a:latin typeface="Cambria Math" panose="02040503050406030204" pitchFamily="18" charset="0"/>
                      </a:rPr>
                      <m:t>𝑘</m:t>
                    </m:r>
                    <m:r>
                      <m:rPr>
                        <m:nor/>
                      </m:rPr>
                      <a:rPr lang="en-GB" sz="2600" dirty="0"/>
                      <m:t> </m:t>
                    </m:r>
                    <m:r>
                      <m:rPr>
                        <m:nor/>
                      </m:rPr>
                      <a:rPr lang="en-GB" sz="2600" dirty="0"/>
                      <m:t>citations</m:t>
                    </m:r>
                    <m:r>
                      <m:rPr>
                        <m:nor/>
                      </m:rPr>
                      <a:rPr lang="en-GB" sz="2600" dirty="0"/>
                      <m:t>. (</m:t>
                    </m:r>
                    <m:r>
                      <m:rPr>
                        <m:nor/>
                      </m:rPr>
                      <a:rPr lang="en-GB" sz="2600" dirty="0"/>
                      <m:t>2</m:t>
                    </m:r>
                    <m:r>
                      <m:rPr>
                        <m:nor/>
                      </m:rPr>
                      <a:rPr lang="en-GB" sz="2600" dirty="0"/>
                      <m:t>) </m:t>
                    </m:r>
                    <m:r>
                      <m:rPr>
                        <m:nor/>
                      </m:rPr>
                      <a:rPr lang="en-GB" sz="2600" dirty="0"/>
                      <m:t>is</m:t>
                    </m:r>
                    <m:r>
                      <m:rPr>
                        <m:nor/>
                      </m:rPr>
                      <a:rPr lang="en-GB" sz="2600" dirty="0"/>
                      <m:t> </m:t>
                    </m:r>
                    <m:r>
                      <m:rPr>
                        <m:nor/>
                      </m:rPr>
                      <a:rPr lang="en-GB" sz="2600" dirty="0"/>
                      <m:t>this</m:t>
                    </m:r>
                    <m:r>
                      <m:rPr>
                        <m:nor/>
                      </m:rPr>
                      <a:rPr lang="en-GB" sz="2600" dirty="0"/>
                      <m:t> </m:t>
                    </m:r>
                    <m:r>
                      <m:rPr>
                        <m:nor/>
                      </m:rPr>
                      <a:rPr lang="en-GB" sz="2600" dirty="0"/>
                      <m:t>distribution</m:t>
                    </m:r>
                    <m:r>
                      <m:rPr>
                        <m:nor/>
                      </m:rPr>
                      <a:rPr lang="en-GB" sz="2600" dirty="0"/>
                      <m:t> </m:t>
                    </m:r>
                    <m:r>
                      <m:rPr>
                        <m:nor/>
                      </m:rPr>
                      <a:rPr lang="en-GB" sz="2600" dirty="0"/>
                      <m:t>transformed</m:t>
                    </m:r>
                    <m:r>
                      <m:rPr>
                        <m:nor/>
                      </m:rPr>
                      <a:rPr lang="en-GB" sz="2600" dirty="0"/>
                      <m:t> </m:t>
                    </m:r>
                    <m:r>
                      <m:rPr>
                        <m:nor/>
                      </m:rPr>
                      <a:rPr lang="en-GB" sz="2600" dirty="0"/>
                      <m:t>into</m:t>
                    </m:r>
                    <m:r>
                      <m:rPr>
                        <m:nor/>
                      </m:rPr>
                      <a:rPr lang="en-GB" sz="2600" dirty="0"/>
                      <m:t> </m:t>
                    </m:r>
                    <m:r>
                      <m:rPr>
                        <m:nor/>
                      </m:rPr>
                      <a:rPr lang="en-GB" sz="2600" dirty="0"/>
                      <m:t>the</m:t>
                    </m:r>
                    <m:r>
                      <m:rPr>
                        <m:nor/>
                      </m:rPr>
                      <a:rPr lang="en-GB" sz="2600" dirty="0"/>
                      <m:t> </m:t>
                    </m:r>
                    <m:r>
                      <m:rPr>
                        <m:nor/>
                      </m:rPr>
                      <a:rPr lang="en-GB" sz="2600" dirty="0"/>
                      <m:t>literature</m:t>
                    </m:r>
                    <m:r>
                      <m:rPr>
                        <m:nor/>
                      </m:rPr>
                      <a:rPr lang="en-GB" sz="2600" dirty="0"/>
                      <m:t> </m:t>
                    </m:r>
                    <m:r>
                      <m:rPr>
                        <m:nor/>
                      </m:rPr>
                      <a:rPr lang="en-GB" sz="2600" dirty="0"/>
                      <m:t>convention</m:t>
                    </m:r>
                    <m:r>
                      <m:rPr>
                        <m:nor/>
                      </m:rPr>
                      <a:rPr lang="en-GB" sz="2600" dirty="0"/>
                      <m:t> </m:t>
                    </m:r>
                    <m:r>
                      <m:rPr>
                        <m:nor/>
                      </m:rPr>
                      <a:rPr lang="en-GB" sz="2600" dirty="0"/>
                      <m:t>power</m:t>
                    </m:r>
                    <m:r>
                      <m:rPr>
                        <m:nor/>
                      </m:rPr>
                      <a:rPr lang="en-GB" sz="2600" dirty="0"/>
                      <m:t> </m:t>
                    </m:r>
                    <m:r>
                      <m:rPr>
                        <m:nor/>
                      </m:rPr>
                      <a:rPr lang="en-GB" sz="2600" dirty="0"/>
                      <m:t>law</m:t>
                    </m:r>
                    <m:r>
                      <m:rPr>
                        <m:nor/>
                      </m:rPr>
                      <a:rPr lang="en-GB" sz="2600" dirty="0"/>
                      <m:t> </m:t>
                    </m:r>
                    <m:r>
                      <m:rPr>
                        <m:nor/>
                      </m:rPr>
                      <a:rPr lang="en-GB" sz="2600" dirty="0"/>
                      <m:t>distribution</m:t>
                    </m:r>
                    <m:r>
                      <m:rPr>
                        <m:nor/>
                      </m:rPr>
                      <a:rPr lang="en-GB" sz="2600" b="0" i="0" dirty="0" smtClean="0"/>
                      <m:t> </m:t>
                    </m:r>
                  </m:oMath>
                </a14:m>
                <a:r>
                  <a:rPr lang="en-GB" sz="2600" dirty="0"/>
                  <a:t>form using Sterling’s approximation.</a:t>
                </a:r>
                <a:endParaRPr lang="en-GB" sz="2600" dirty="0">
                  <a:solidFill>
                    <a:schemeClr val="tx1"/>
                  </a:solidFill>
                </a:endParaRPr>
              </a:p>
            </p:txBody>
          </p:sp>
        </mc:Choice>
        <mc:Fallback>
          <p:sp>
            <p:nvSpPr>
              <p:cNvPr id="92" name="TextBox 91">
                <a:extLst>
                  <a:ext uri="{FF2B5EF4-FFF2-40B4-BE49-F238E27FC236}">
                    <a16:creationId xmlns:a16="http://schemas.microsoft.com/office/drawing/2014/main" id="{EC991BAB-B179-89AA-D51F-4510A95D68E0}"/>
                  </a:ext>
                </a:extLst>
              </p:cNvPr>
              <p:cNvSpPr txBox="1">
                <a:spLocks noRot="1" noChangeAspect="1" noMove="1" noResize="1" noEditPoints="1" noAdjustHandles="1" noChangeArrowheads="1" noChangeShapeType="1" noTextEdit="1"/>
              </p:cNvSpPr>
              <p:nvPr/>
            </p:nvSpPr>
            <p:spPr>
              <a:xfrm>
                <a:off x="7536059" y="14584042"/>
                <a:ext cx="12782546" cy="759751"/>
              </a:xfrm>
              <a:prstGeom prst="rect">
                <a:avLst/>
              </a:prstGeom>
              <a:blipFill>
                <a:blip r:embed="rId12"/>
                <a:stretch>
                  <a:fillRect l="-1574" t="-13600" r="-1049" b="-32000"/>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0274E7C7-2099-2149-8C0F-CBC0882F8DF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02672" y="17293808"/>
            <a:ext cx="12732842" cy="4865928"/>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A004844-8633-DEA8-532A-0E33AC5DD751}"/>
                  </a:ext>
                </a:extLst>
              </p:cNvPr>
              <p:cNvSpPr txBox="1"/>
              <p:nvPr/>
            </p:nvSpPr>
            <p:spPr>
              <a:xfrm>
                <a:off x="13615216" y="13421073"/>
                <a:ext cx="7213632" cy="949074"/>
              </a:xfrm>
              <a:prstGeom prst="rect">
                <a:avLst/>
              </a:prstGeom>
              <a:noFill/>
            </p:spPr>
            <p:txBody>
              <a:bodyPr wrap="square" lIns="0" tIns="0" rIns="0" bIns="0" rtlCol="0">
                <a:noAutofit/>
              </a:bodyPr>
              <a:lstStyle/>
              <a:p>
                <a:pPr>
                  <a:lnSpc>
                    <a:spcPct val="105000"/>
                  </a:lnSpc>
                </a:pPr>
                <a14:m>
                  <m:oMath xmlns:m="http://schemas.openxmlformats.org/officeDocument/2006/math">
                    <m:func>
                      <m:funcPr>
                        <m:ctrlPr>
                          <a:rPr lang="en-GB" sz="2600" b="0" i="1" smtClean="0">
                            <a:solidFill>
                              <a:schemeClr val="tx1"/>
                            </a:solidFill>
                            <a:latin typeface="Cambria Math" panose="02040503050406030204" pitchFamily="18" charset="0"/>
                          </a:rPr>
                        </m:ctrlPr>
                      </m:funcPr>
                      <m:fName>
                        <m:limLow>
                          <m:limLowPr>
                            <m:ctrlPr>
                              <a:rPr lang="en-GB" sz="2600" b="0" i="1" smtClean="0">
                                <a:solidFill>
                                  <a:schemeClr val="tx1"/>
                                </a:solidFill>
                                <a:latin typeface="Cambria Math" panose="02040503050406030204" pitchFamily="18" charset="0"/>
                              </a:rPr>
                            </m:ctrlPr>
                          </m:limLowPr>
                          <m:e>
                            <m:r>
                              <m:rPr>
                                <m:sty m:val="p"/>
                              </m:rPr>
                              <a:rPr lang="en-GB" sz="2600" b="0" i="0" smtClean="0">
                                <a:solidFill>
                                  <a:schemeClr val="tx1"/>
                                </a:solidFill>
                                <a:latin typeface="Cambria Math" panose="02040503050406030204" pitchFamily="18" charset="0"/>
                              </a:rPr>
                              <m:t>lim</m:t>
                            </m:r>
                          </m:e>
                          <m:lim>
                            <m:r>
                              <a:rPr lang="en-GB" sz="2600" b="0" i="1" smtClean="0">
                                <a:solidFill>
                                  <a:schemeClr val="tx1"/>
                                </a:solidFill>
                                <a:latin typeface="Cambria Math" panose="02040503050406030204" pitchFamily="18" charset="0"/>
                              </a:rPr>
                              <m:t>𝑡</m:t>
                            </m:r>
                            <m:r>
                              <a:rPr lang="en-GB" sz="2600" b="0" i="1" smtClean="0">
                                <a:solidFill>
                                  <a:schemeClr val="tx1"/>
                                </a:solidFill>
                                <a:latin typeface="Cambria Math" panose="02040503050406030204" pitchFamily="18" charset="0"/>
                              </a:rPr>
                              <m:t>→</m:t>
                            </m:r>
                            <m:r>
                              <a:rPr lang="en-GB" sz="2600" b="0" i="1" smtClean="0">
                                <a:solidFill>
                                  <a:schemeClr val="tx1"/>
                                </a:solidFill>
                                <a:latin typeface="Cambria Math" panose="02040503050406030204" pitchFamily="18" charset="0"/>
                              </a:rPr>
                              <m:t>𝑙𝑎𝑟𝑔𝑒</m:t>
                            </m:r>
                            <m:r>
                              <a:rPr lang="en-GB" sz="2600" b="0" i="1" smtClean="0">
                                <a:solidFill>
                                  <a:schemeClr val="tx1"/>
                                </a:solidFill>
                                <a:latin typeface="Cambria Math" panose="02040503050406030204" pitchFamily="18" charset="0"/>
                              </a:rPr>
                              <m:t> </m:t>
                            </m:r>
                          </m:lim>
                        </m:limLow>
                      </m:fName>
                      <m:e>
                        <m:sSub>
                          <m:sSubPr>
                            <m:ctrlPr>
                              <a:rPr lang="en-GB" sz="2600" b="0" i="1" smtClean="0">
                                <a:solidFill>
                                  <a:schemeClr val="tx1"/>
                                </a:solidFill>
                                <a:latin typeface="Cambria Math" panose="02040503050406030204" pitchFamily="18" charset="0"/>
                              </a:rPr>
                            </m:ctrlPr>
                          </m:sSubPr>
                          <m:e>
                            <m:r>
                              <a:rPr lang="en-GB" sz="2600" b="0" i="1" smtClean="0">
                                <a:solidFill>
                                  <a:schemeClr val="tx1"/>
                                </a:solidFill>
                                <a:latin typeface="Cambria Math" panose="02040503050406030204" pitchFamily="18" charset="0"/>
                              </a:rPr>
                              <m:t>𝑝</m:t>
                            </m:r>
                          </m:e>
                          <m:sub>
                            <m:r>
                              <a:rPr lang="en-GB" sz="2600" b="0" i="1" smtClean="0">
                                <a:solidFill>
                                  <a:schemeClr val="tx1"/>
                                </a:solidFill>
                                <a:latin typeface="Cambria Math" panose="02040503050406030204" pitchFamily="18" charset="0"/>
                              </a:rPr>
                              <m:t>𝑥</m:t>
                            </m:r>
                            <m:r>
                              <a:rPr lang="en-GB" sz="2600" b="0" i="1" smtClean="0">
                                <a:solidFill>
                                  <a:schemeClr val="tx1"/>
                                </a:solidFill>
                                <a:latin typeface="Cambria Math" panose="02040503050406030204" pitchFamily="18" charset="0"/>
                              </a:rPr>
                              <m:t>,</m:t>
                            </m:r>
                            <m:r>
                              <a:rPr lang="en-GB" sz="2600" b="0" i="1" smtClean="0">
                                <a:solidFill>
                                  <a:schemeClr val="tx1"/>
                                </a:solidFill>
                                <a:latin typeface="Cambria Math" panose="02040503050406030204" pitchFamily="18" charset="0"/>
                                <a:ea typeface="Cambria Math" panose="02040503050406030204" pitchFamily="18" charset="0"/>
                              </a:rPr>
                              <m:t>∞</m:t>
                            </m:r>
                          </m:sub>
                        </m:sSub>
                        <m:d>
                          <m:dPr>
                            <m:ctrlPr>
                              <a:rPr lang="en-GB" sz="2600" b="0" i="1" smtClean="0">
                                <a:solidFill>
                                  <a:schemeClr val="tx1"/>
                                </a:solidFill>
                                <a:latin typeface="Cambria Math" panose="02040503050406030204" pitchFamily="18" charset="0"/>
                              </a:rPr>
                            </m:ctrlPr>
                          </m:dPr>
                          <m:e>
                            <m:r>
                              <a:rPr lang="en-GB" sz="2600" b="0" i="1" smtClean="0">
                                <a:solidFill>
                                  <a:schemeClr val="tx1"/>
                                </a:solidFill>
                                <a:latin typeface="Cambria Math" panose="02040503050406030204" pitchFamily="18" charset="0"/>
                              </a:rPr>
                              <m:t>𝑘</m:t>
                            </m:r>
                          </m:e>
                        </m:d>
                        <m:r>
                          <a:rPr lang="en-GB" sz="2600" b="0" i="1" smtClean="0">
                            <a:solidFill>
                              <a:schemeClr val="tx1"/>
                            </a:solidFill>
                            <a:latin typeface="Cambria Math" panose="02040503050406030204" pitchFamily="18" charset="0"/>
                            <a:ea typeface="Cambria Math" panose="02040503050406030204" pitchFamily="18" charset="0"/>
                          </a:rPr>
                          <m:t>≈</m:t>
                        </m:r>
                        <m:f>
                          <m:fPr>
                            <m:ctrlPr>
                              <a:rPr lang="en-GB" sz="2600" b="0" i="1" smtClean="0">
                                <a:solidFill>
                                  <a:schemeClr val="tx1"/>
                                </a:solidFill>
                                <a:latin typeface="Cambria Math" panose="02040503050406030204" pitchFamily="18" charset="0"/>
                              </a:rPr>
                            </m:ctrlPr>
                          </m:fPr>
                          <m:num>
                            <m:sSub>
                              <m:sSubPr>
                                <m:ctrlPr>
                                  <a:rPr lang="en-GB" sz="2600" b="0" i="1" smtClean="0">
                                    <a:solidFill>
                                      <a:schemeClr val="tx1"/>
                                    </a:solidFill>
                                    <a:latin typeface="Cambria Math" panose="02040503050406030204" pitchFamily="18" charset="0"/>
                                  </a:rPr>
                                </m:ctrlPr>
                              </m:sSubPr>
                              <m:e>
                                <m:r>
                                  <a:rPr lang="en-GB" sz="2600" b="0" i="1" smtClean="0">
                                    <a:solidFill>
                                      <a:schemeClr val="tx1"/>
                                    </a:solidFill>
                                    <a:latin typeface="Cambria Math" panose="02040503050406030204" pitchFamily="18" charset="0"/>
                                  </a:rPr>
                                  <m:t>𝑝</m:t>
                                </m:r>
                              </m:e>
                              <m:sub>
                                <m:r>
                                  <a:rPr lang="en-GB" sz="2600" b="0" i="1" smtClean="0">
                                    <a:solidFill>
                                      <a:schemeClr val="tx1"/>
                                    </a:solidFill>
                                    <a:latin typeface="Cambria Math" panose="02040503050406030204" pitchFamily="18" charset="0"/>
                                  </a:rPr>
                                  <m:t>𝑜</m:t>
                                </m:r>
                                <m:r>
                                  <a:rPr lang="en-GB" sz="2600" b="0" i="1" smtClean="0">
                                    <a:solidFill>
                                      <a:schemeClr val="tx1"/>
                                    </a:solidFill>
                                    <a:latin typeface="Cambria Math" panose="02040503050406030204" pitchFamily="18" charset="0"/>
                                  </a:rPr>
                                  <m:t>,</m:t>
                                </m:r>
                                <m:r>
                                  <a:rPr lang="en-GB" sz="2600" b="0" i="1" smtClean="0">
                                    <a:solidFill>
                                      <a:schemeClr val="tx1"/>
                                    </a:solidFill>
                                    <a:latin typeface="Cambria Math" panose="02040503050406030204" pitchFamily="18" charset="0"/>
                                  </a:rPr>
                                  <m:t>𝑥</m:t>
                                </m:r>
                              </m:sub>
                            </m:sSub>
                            <m:r>
                              <m:rPr>
                                <m:sty m:val="p"/>
                              </m:rPr>
                              <a:rPr lang="el-GR" sz="2600" b="0" i="0" smtClean="0">
                                <a:solidFill>
                                  <a:schemeClr val="tx1"/>
                                </a:solidFill>
                                <a:latin typeface="Cambria Math" panose="02040503050406030204" pitchFamily="18" charset="0"/>
                                <a:ea typeface="Cambria Math" panose="02040503050406030204" pitchFamily="18" charset="0"/>
                              </a:rPr>
                              <m:t>Γ</m:t>
                            </m:r>
                            <m:d>
                              <m:dPr>
                                <m:ctrlPr>
                                  <a:rPr lang="en-GB" sz="2600" b="0" i="1" smtClean="0">
                                    <a:solidFill>
                                      <a:schemeClr val="tx1"/>
                                    </a:solidFill>
                                    <a:latin typeface="Cambria Math" panose="02040503050406030204" pitchFamily="18" charset="0"/>
                                    <a:ea typeface="Cambria Math" panose="02040503050406030204" pitchFamily="18" charset="0"/>
                                  </a:rPr>
                                </m:ctrlPr>
                              </m:dPr>
                              <m:e>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𝛼</m:t>
                                    </m:r>
                                  </m:e>
                                  <m:sub>
                                    <m:r>
                                      <a:rPr lang="en-GB" sz="2600" i="1">
                                        <a:latin typeface="Cambria Math" panose="02040503050406030204" pitchFamily="18" charset="0"/>
                                        <a:ea typeface="Cambria Math" panose="02040503050406030204" pitchFamily="18" charset="0"/>
                                      </a:rPr>
                                      <m:t>𝑥</m:t>
                                    </m:r>
                                  </m:sub>
                                </m:sSub>
                                <m:r>
                                  <a:rPr lang="en-GB" sz="2600" i="1">
                                    <a:latin typeface="Cambria Math" panose="02040503050406030204" pitchFamily="18" charset="0"/>
                                    <a:ea typeface="Cambria Math" panose="02040503050406030204" pitchFamily="18" charset="0"/>
                                  </a:rPr>
                                  <m:t>+</m:t>
                                </m:r>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𝛾</m:t>
                                    </m:r>
                                  </m:e>
                                  <m:sub>
                                    <m:r>
                                      <a:rPr lang="en-GB" sz="2600" i="1">
                                        <a:latin typeface="Cambria Math" panose="02040503050406030204" pitchFamily="18" charset="0"/>
                                        <a:ea typeface="Cambria Math" panose="02040503050406030204" pitchFamily="18" charset="0"/>
                                      </a:rPr>
                                      <m:t>𝑥</m:t>
                                    </m:r>
                                  </m:sub>
                                </m:sSub>
                              </m:e>
                            </m:d>
                          </m:num>
                          <m:den>
                            <m:r>
                              <m:rPr>
                                <m:sty m:val="p"/>
                              </m:rPr>
                              <a:rPr lang="el-GR" sz="2600" i="0">
                                <a:latin typeface="Cambria Math" panose="02040503050406030204" pitchFamily="18" charset="0"/>
                                <a:ea typeface="Cambria Math" panose="02040503050406030204" pitchFamily="18" charset="0"/>
                              </a:rPr>
                              <m:t>Γ</m:t>
                            </m:r>
                            <m:d>
                              <m:dPr>
                                <m:ctrlPr>
                                  <a:rPr lang="en-GB" sz="2600" i="1">
                                    <a:latin typeface="Cambria Math" panose="02040503050406030204" pitchFamily="18" charset="0"/>
                                    <a:ea typeface="Cambria Math" panose="02040503050406030204" pitchFamily="18" charset="0"/>
                                  </a:rPr>
                                </m:ctrlPr>
                              </m:dPr>
                              <m:e>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𝛼</m:t>
                                    </m:r>
                                  </m:e>
                                  <m:sub>
                                    <m:r>
                                      <a:rPr lang="en-GB" sz="2600" i="1">
                                        <a:latin typeface="Cambria Math" panose="02040503050406030204" pitchFamily="18" charset="0"/>
                                        <a:ea typeface="Cambria Math" panose="02040503050406030204" pitchFamily="18" charset="0"/>
                                      </a:rPr>
                                      <m:t>𝑥</m:t>
                                    </m:r>
                                  </m:sub>
                                </m:sSub>
                              </m:e>
                            </m:d>
                            <m:sSup>
                              <m:sSupPr>
                                <m:ctrlPr>
                                  <a:rPr lang="en-GB" sz="2600" i="1">
                                    <a:latin typeface="Cambria Math" panose="02040503050406030204" pitchFamily="18" charset="0"/>
                                    <a:ea typeface="Cambria Math" panose="02040503050406030204" pitchFamily="18" charset="0"/>
                                  </a:rPr>
                                </m:ctrlPr>
                              </m:sSupPr>
                              <m:e>
                                <m:d>
                                  <m:dPr>
                                    <m:ctrlPr>
                                      <a:rPr lang="en-GB" sz="2600" i="1">
                                        <a:latin typeface="Cambria Math" panose="02040503050406030204" pitchFamily="18" charset="0"/>
                                      </a:rPr>
                                    </m:ctrlPr>
                                  </m:dPr>
                                  <m:e>
                                    <m:r>
                                      <a:rPr lang="en-GB" sz="2600" i="1">
                                        <a:latin typeface="Cambria Math" panose="02040503050406030204" pitchFamily="18" charset="0"/>
                                      </a:rPr>
                                      <m:t>𝑘</m:t>
                                    </m:r>
                                    <m:r>
                                      <a:rPr lang="en-GB" sz="2600" i="1">
                                        <a:latin typeface="Cambria Math" panose="02040503050406030204" pitchFamily="18" charset="0"/>
                                      </a:rPr>
                                      <m:t>+</m:t>
                                    </m:r>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𝛼</m:t>
                                        </m:r>
                                      </m:e>
                                      <m:sub>
                                        <m:r>
                                          <a:rPr lang="en-GB" sz="2600" i="1">
                                            <a:latin typeface="Cambria Math" panose="02040503050406030204" pitchFamily="18" charset="0"/>
                                            <a:ea typeface="Cambria Math" panose="02040503050406030204" pitchFamily="18" charset="0"/>
                                          </a:rPr>
                                          <m:t>𝑥</m:t>
                                        </m:r>
                                      </m:sub>
                                    </m:sSub>
                                  </m:e>
                                </m:d>
                              </m:e>
                              <m:sup>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𝛾</m:t>
                                    </m:r>
                                  </m:e>
                                  <m:sub>
                                    <m:r>
                                      <a:rPr lang="en-GB" sz="2600" i="1">
                                        <a:latin typeface="Cambria Math" panose="02040503050406030204" pitchFamily="18" charset="0"/>
                                        <a:ea typeface="Cambria Math" panose="02040503050406030204" pitchFamily="18" charset="0"/>
                                      </a:rPr>
                                      <m:t>𝑥</m:t>
                                    </m:r>
                                  </m:sub>
                                </m:sSub>
                              </m:sup>
                            </m:sSup>
                          </m:den>
                        </m:f>
                        <m:r>
                          <a:rPr lang="en-GB" sz="2600" b="0" i="1" smtClean="0">
                            <a:solidFill>
                              <a:schemeClr val="tx1"/>
                            </a:solidFill>
                            <a:latin typeface="Cambria Math" panose="02040503050406030204" pitchFamily="18" charset="0"/>
                            <a:ea typeface="Cambria Math" panose="02040503050406030204" pitchFamily="18" charset="0"/>
                          </a:rPr>
                          <m:t>,                 </m:t>
                        </m:r>
                        <m:d>
                          <m:dPr>
                            <m:ctrlPr>
                              <a:rPr lang="en-GB" sz="2600" b="0" i="1" smtClean="0">
                                <a:solidFill>
                                  <a:schemeClr val="tx1"/>
                                </a:solidFill>
                                <a:latin typeface="Cambria Math" panose="02040503050406030204" pitchFamily="18" charset="0"/>
                                <a:ea typeface="Cambria Math" panose="02040503050406030204" pitchFamily="18" charset="0"/>
                              </a:rPr>
                            </m:ctrlPr>
                          </m:dPr>
                          <m:e>
                            <m:r>
                              <a:rPr lang="en-GB" sz="2600" b="0" i="1" smtClean="0">
                                <a:solidFill>
                                  <a:schemeClr val="tx1"/>
                                </a:solidFill>
                                <a:latin typeface="Cambria Math" panose="02040503050406030204" pitchFamily="18" charset="0"/>
                                <a:ea typeface="Cambria Math" panose="02040503050406030204" pitchFamily="18" charset="0"/>
                              </a:rPr>
                              <m:t>2</m:t>
                            </m:r>
                          </m:e>
                        </m:d>
                        <m:r>
                          <a:rPr lang="en-GB" sz="2600" b="0" i="1" smtClean="0">
                            <a:solidFill>
                              <a:schemeClr val="tx1"/>
                            </a:solidFill>
                            <a:latin typeface="Cambria Math" panose="02040503050406030204" pitchFamily="18" charset="0"/>
                            <a:ea typeface="Cambria Math" panose="02040503050406030204" pitchFamily="18" charset="0"/>
                          </a:rPr>
                          <m:t>,</m:t>
                        </m:r>
                      </m:e>
                    </m:func>
                  </m:oMath>
                </a14:m>
                <a:r>
                  <a:rPr lang="en-GB" sz="2600" dirty="0">
                    <a:solidFill>
                      <a:schemeClr val="tx1"/>
                    </a:solidFill>
                  </a:rPr>
                  <a:t> </a:t>
                </a:r>
              </a:p>
            </p:txBody>
          </p:sp>
        </mc:Choice>
        <mc:Fallback>
          <p:sp>
            <p:nvSpPr>
              <p:cNvPr id="2" name="TextBox 1">
                <a:extLst>
                  <a:ext uri="{FF2B5EF4-FFF2-40B4-BE49-F238E27FC236}">
                    <a16:creationId xmlns:a16="http://schemas.microsoft.com/office/drawing/2014/main" id="{8A004844-8633-DEA8-532A-0E33AC5DD751}"/>
                  </a:ext>
                </a:extLst>
              </p:cNvPr>
              <p:cNvSpPr txBox="1">
                <a:spLocks noRot="1" noChangeAspect="1" noMove="1" noResize="1" noEditPoints="1" noAdjustHandles="1" noChangeArrowheads="1" noChangeShapeType="1" noTextEdit="1"/>
              </p:cNvSpPr>
              <p:nvPr/>
            </p:nvSpPr>
            <p:spPr>
              <a:xfrm>
                <a:off x="13615216" y="13421073"/>
                <a:ext cx="7213632" cy="949074"/>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06C53BB-CFDB-6C28-4ACB-C01A83C7B070}"/>
                  </a:ext>
                </a:extLst>
              </p:cNvPr>
              <p:cNvSpPr txBox="1"/>
              <p:nvPr/>
            </p:nvSpPr>
            <p:spPr>
              <a:xfrm>
                <a:off x="12899917" y="16257060"/>
                <a:ext cx="6954304"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2600" b="0" i="0" smtClean="0">
                          <a:solidFill>
                            <a:schemeClr val="tx1"/>
                          </a:solidFill>
                          <a:latin typeface="Cambria Math" panose="02040503050406030204" pitchFamily="18" charset="0"/>
                        </a:rPr>
                        <m:t>h</m:t>
                      </m:r>
                      <m:r>
                        <a:rPr lang="en-GB" sz="2600" b="0" i="0" smtClean="0">
                          <a:solidFill>
                            <a:schemeClr val="tx1"/>
                          </a:solidFill>
                          <a:latin typeface="Cambria Math" panose="02040503050406030204" pitchFamily="18" charset="0"/>
                        </a:rPr>
                        <m:t>=</m:t>
                      </m:r>
                      <m:r>
                        <a:rPr lang="en-GB" sz="2600" b="0" i="0" smtClean="0">
                          <a:solidFill>
                            <a:schemeClr val="tx1"/>
                          </a:solidFill>
                          <a:latin typeface="Cambria Math" panose="02040503050406030204" pitchFamily="18" charset="0"/>
                        </a:rPr>
                        <m:t>0</m:t>
                      </m:r>
                      <m:r>
                        <a:rPr lang="en-GB" sz="2600" b="0" i="0" smtClean="0">
                          <a:solidFill>
                            <a:schemeClr val="tx1"/>
                          </a:solidFill>
                          <a:latin typeface="Cambria Math" panose="02040503050406030204" pitchFamily="18" charset="0"/>
                        </a:rPr>
                        <m:t>⇒</m:t>
                      </m:r>
                      <m:r>
                        <m:rPr>
                          <m:sty m:val="p"/>
                        </m:rPr>
                        <a:rPr lang="en-GB" sz="2600" b="0" i="0" smtClean="0">
                          <a:solidFill>
                            <a:schemeClr val="tx1"/>
                          </a:solidFill>
                          <a:latin typeface="Cambria Math" panose="02040503050406030204" pitchFamily="18" charset="0"/>
                        </a:rPr>
                        <m:t>no</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citations</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from</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one</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group</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to</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other</m:t>
                      </m:r>
                    </m:oMath>
                  </m:oMathPara>
                </a14:m>
                <a:endParaRPr lang="en-GB" sz="2600" dirty="0"/>
              </a:p>
            </p:txBody>
          </p:sp>
        </mc:Choice>
        <mc:Fallback>
          <p:sp>
            <p:nvSpPr>
              <p:cNvPr id="5" name="TextBox 4">
                <a:extLst>
                  <a:ext uri="{FF2B5EF4-FFF2-40B4-BE49-F238E27FC236}">
                    <a16:creationId xmlns:a16="http://schemas.microsoft.com/office/drawing/2014/main" id="{F06C53BB-CFDB-6C28-4ACB-C01A83C7B070}"/>
                  </a:ext>
                </a:extLst>
              </p:cNvPr>
              <p:cNvSpPr txBox="1">
                <a:spLocks noRot="1" noChangeAspect="1" noMove="1" noResize="1" noEditPoints="1" noAdjustHandles="1" noChangeArrowheads="1" noChangeShapeType="1" noTextEdit="1"/>
              </p:cNvSpPr>
              <p:nvPr/>
            </p:nvSpPr>
            <p:spPr>
              <a:xfrm>
                <a:off x="12899917" y="16257060"/>
                <a:ext cx="6954304" cy="492443"/>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E39CC4A-6082-894C-DED6-9B57C943907C}"/>
                  </a:ext>
                </a:extLst>
              </p:cNvPr>
              <p:cNvSpPr txBox="1"/>
              <p:nvPr/>
            </p:nvSpPr>
            <p:spPr>
              <a:xfrm>
                <a:off x="13016982" y="16350354"/>
                <a:ext cx="8198039" cy="923330"/>
              </a:xfrm>
              <a:prstGeom prst="rect">
                <a:avLst/>
              </a:prstGeom>
              <a:noFill/>
            </p:spPr>
            <p:txBody>
              <a:bodyPr wrap="square">
                <a:spAutoFit/>
              </a:bodyPr>
              <a:lstStyle/>
              <a:p>
                <a:r>
                  <a:rPr lang="en-GB" sz="2600" dirty="0"/>
                  <a:t> </a:t>
                </a:r>
                <a14:m>
                  <m:oMath xmlns:m="http://schemas.openxmlformats.org/officeDocument/2006/math">
                    <m:r>
                      <m:rPr>
                        <m:sty m:val="p"/>
                      </m:rPr>
                      <a:rPr lang="en-GB" sz="2600" b="0" i="0" smtClean="0">
                        <a:latin typeface="Cambria Math" panose="02040503050406030204" pitchFamily="18" charset="0"/>
                      </a:rPr>
                      <m:t>h</m:t>
                    </m:r>
                    <m:r>
                      <a:rPr lang="en-GB" sz="2600" i="0" smtClean="0">
                        <a:latin typeface="Cambria Math" panose="02040503050406030204" pitchFamily="18" charset="0"/>
                      </a:rPr>
                      <m:t>=</m:t>
                    </m:r>
                    <m:r>
                      <a:rPr lang="en-GB" sz="2600" i="0" smtClean="0">
                        <a:latin typeface="Cambria Math" panose="02040503050406030204" pitchFamily="18" charset="0"/>
                      </a:rPr>
                      <m:t>1</m:t>
                    </m:r>
                    <m:r>
                      <a:rPr lang="en-GB" sz="2600" i="0" smtClean="0">
                        <a:latin typeface="Cambria Math" panose="02040503050406030204" pitchFamily="18" charset="0"/>
                      </a:rPr>
                      <m:t>⇒</m:t>
                    </m:r>
                    <m:r>
                      <m:rPr>
                        <m:sty m:val="p"/>
                      </m:rPr>
                      <a:rPr lang="en-GB" sz="2600">
                        <a:latin typeface="Cambria Math" panose="02040503050406030204" pitchFamily="18" charset="0"/>
                      </a:rPr>
                      <m:t>no</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citations</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between</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same</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group</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members</m:t>
                    </m:r>
                  </m:oMath>
                </a14:m>
                <a:r>
                  <a:rPr lang="en-GB" sz="5400" dirty="0"/>
                  <a:t> </a:t>
                </a:r>
                <a:endParaRPr lang="en-GB" dirty="0"/>
              </a:p>
            </p:txBody>
          </p:sp>
        </mc:Choice>
        <mc:Fallback>
          <p:sp>
            <p:nvSpPr>
              <p:cNvPr id="9" name="TextBox 8">
                <a:extLst>
                  <a:ext uri="{FF2B5EF4-FFF2-40B4-BE49-F238E27FC236}">
                    <a16:creationId xmlns:a16="http://schemas.microsoft.com/office/drawing/2014/main" id="{6E39CC4A-6082-894C-DED6-9B57C943907C}"/>
                  </a:ext>
                </a:extLst>
              </p:cNvPr>
              <p:cNvSpPr txBox="1">
                <a:spLocks noRot="1" noChangeAspect="1" noMove="1" noResize="1" noEditPoints="1" noAdjustHandles="1" noChangeArrowheads="1" noChangeShapeType="1" noTextEdit="1"/>
              </p:cNvSpPr>
              <p:nvPr/>
            </p:nvSpPr>
            <p:spPr>
              <a:xfrm>
                <a:off x="13016982" y="16350354"/>
                <a:ext cx="8198039" cy="923330"/>
              </a:xfrm>
              <a:prstGeom prst="rect">
                <a:avLst/>
              </a:prstGeom>
              <a:blipFill>
                <a:blip r:embed="rId16"/>
                <a:stretch>
                  <a:fillRect/>
                </a:stretch>
              </a:blipFill>
            </p:spPr>
            <p:txBody>
              <a:bodyPr/>
              <a:lstStyle/>
              <a:p>
                <a:r>
                  <a:rPr lang="en-GB">
                    <a:noFill/>
                  </a:rPr>
                  <a:t> </a:t>
                </a:r>
              </a:p>
            </p:txBody>
          </p:sp>
        </mc:Fallback>
      </mc:AlternateContent>
      <p:pic>
        <p:nvPicPr>
          <p:cNvPr id="36" name="Picture 35">
            <a:extLst>
              <a:ext uri="{FF2B5EF4-FFF2-40B4-BE49-F238E27FC236}">
                <a16:creationId xmlns:a16="http://schemas.microsoft.com/office/drawing/2014/main" id="{DCE55D11-7C0C-A1DA-6A89-5C6796725D0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723332" y="16255473"/>
            <a:ext cx="6020113" cy="5267599"/>
          </a:xfrm>
          <a:prstGeom prst="rect">
            <a:avLst/>
          </a:prstGeom>
        </p:spPr>
      </p:pic>
      <p:pic>
        <p:nvPicPr>
          <p:cNvPr id="41" name="Picture 40">
            <a:extLst>
              <a:ext uri="{FF2B5EF4-FFF2-40B4-BE49-F238E27FC236}">
                <a16:creationId xmlns:a16="http://schemas.microsoft.com/office/drawing/2014/main" id="{9DCA5EA1-CFBD-CDAE-BE7D-911831F4C541}"/>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23332" y="22488102"/>
            <a:ext cx="5892665" cy="5156082"/>
          </a:xfrm>
          <a:prstGeom prst="rect">
            <a:avLst/>
          </a:prstGeom>
        </p:spPr>
      </p:pic>
      <p:sp>
        <p:nvSpPr>
          <p:cNvPr id="81" name="TextBox 80">
            <a:extLst>
              <a:ext uri="{FF2B5EF4-FFF2-40B4-BE49-F238E27FC236}">
                <a16:creationId xmlns:a16="http://schemas.microsoft.com/office/drawing/2014/main" id="{2B74CD83-CE38-C367-A60A-95C8C2A09822}"/>
              </a:ext>
            </a:extLst>
          </p:cNvPr>
          <p:cNvSpPr txBox="1"/>
          <p:nvPr/>
        </p:nvSpPr>
        <p:spPr>
          <a:xfrm>
            <a:off x="5837028" y="29068292"/>
            <a:ext cx="10689770" cy="400110"/>
          </a:xfrm>
          <a:prstGeom prst="rect">
            <a:avLst/>
          </a:prstGeom>
          <a:noFill/>
        </p:spPr>
        <p:txBody>
          <a:bodyPr wrap="square">
            <a:spAutoFit/>
          </a:bodyPr>
          <a:lstStyle/>
          <a:p>
            <a:r>
              <a:rPr lang="en-GB" sz="1000" dirty="0"/>
              <a:t>[1]       Derek J. de Solla Price. “A general theory of bibliometric and other cumulative advantage processes”. In: Journal of the American Society </a:t>
            </a:r>
            <a:r>
              <a:rPr lang="en-GB" sz="1000" dirty="0" err="1"/>
              <a:t>forInformation</a:t>
            </a:r>
            <a:r>
              <a:rPr lang="en-GB" sz="1000" dirty="0"/>
              <a:t> Science 27.5 (1976), pp. 292–306. </a:t>
            </a:r>
            <a:r>
              <a:rPr lang="en-GB" sz="1000" dirty="0" err="1"/>
              <a:t>issn</a:t>
            </a:r>
            <a:r>
              <a:rPr lang="en-GB" sz="1000" dirty="0"/>
              <a:t>: 0002-8231. </a:t>
            </a:r>
            <a:r>
              <a:rPr lang="en-GB" sz="1000" dirty="0" err="1"/>
              <a:t>doi</a:t>
            </a:r>
            <a:r>
              <a:rPr lang="en-GB" sz="1000" dirty="0"/>
              <a:t>: 10.1002/asi.4630270505. url: https://asistdl.onlinelibrary.wiley.com/doi/abs/10.1002/asi.4630270505</a:t>
            </a:r>
          </a:p>
        </p:txBody>
      </p:sp>
      <p:pic>
        <p:nvPicPr>
          <p:cNvPr id="84" name="Picture 83">
            <a:extLst>
              <a:ext uri="{FF2B5EF4-FFF2-40B4-BE49-F238E27FC236}">
                <a16:creationId xmlns:a16="http://schemas.microsoft.com/office/drawing/2014/main" id="{99FD3A20-D365-8B10-42F0-104A1015209E}"/>
              </a:ext>
            </a:extLst>
          </p:cNvPr>
          <p:cNvPicPr>
            <a:picLocks noChangeAspect="1"/>
          </p:cNvPicPr>
          <p:nvPr/>
        </p:nvPicPr>
        <p:blipFill>
          <a:blip r:embed="rId19"/>
          <a:stretch>
            <a:fillRect/>
          </a:stretch>
        </p:blipFill>
        <p:spPr>
          <a:xfrm>
            <a:off x="7324477" y="8036701"/>
            <a:ext cx="4925021" cy="3507748"/>
          </a:xfrm>
          <a:prstGeom prst="rect">
            <a:avLst/>
          </a:prstGeom>
        </p:spPr>
      </p:pic>
      <p:pic>
        <p:nvPicPr>
          <p:cNvPr id="139" name="Picture 138">
            <a:extLst>
              <a:ext uri="{FF2B5EF4-FFF2-40B4-BE49-F238E27FC236}">
                <a16:creationId xmlns:a16="http://schemas.microsoft.com/office/drawing/2014/main" id="{0D7F95C2-D75E-E976-530E-750563EF5E4F}"/>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2166470" y="4961440"/>
            <a:ext cx="8720656" cy="4280843"/>
          </a:xfrm>
          <a:prstGeom prst="rect">
            <a:avLst/>
          </a:prstGeom>
        </p:spPr>
      </p:pic>
      <p:pic>
        <p:nvPicPr>
          <p:cNvPr id="141" name="Picture 140">
            <a:extLst>
              <a:ext uri="{FF2B5EF4-FFF2-40B4-BE49-F238E27FC236}">
                <a16:creationId xmlns:a16="http://schemas.microsoft.com/office/drawing/2014/main" id="{E1B46D71-2A03-39FD-AD08-7898AF8921F9}"/>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882129" y="10696381"/>
            <a:ext cx="2417069" cy="1027178"/>
          </a:xfrm>
          <a:prstGeom prst="rect">
            <a:avLst/>
          </a:prstGeom>
        </p:spPr>
      </p:pic>
    </p:spTree>
    <p:extLst>
      <p:ext uri="{BB962C8B-B14F-4D97-AF65-F5344CB8AC3E}">
        <p14:creationId xmlns:p14="http://schemas.microsoft.com/office/powerpoint/2010/main" val="2916138405"/>
      </p:ext>
    </p:extLst>
  </p:cSld>
  <p:clrMapOvr>
    <a:masterClrMapping/>
  </p:clrMapOvr>
  <p:transition>
    <p:fade/>
  </p:transition>
</p:sld>
</file>

<file path=ppt/theme/theme1.xml><?xml version="1.0" encoding="utf-8"?>
<a:theme xmlns:a="http://schemas.openxmlformats.org/drawingml/2006/main" name="ICL Portrait Poster Theme">
  <a:themeElements>
    <a:clrScheme name="Imperial colour theme">
      <a:dk1>
        <a:sysClr val="windowText" lastClr="000000"/>
      </a:dk1>
      <a:lt1>
        <a:sysClr val="window" lastClr="FFFFFF"/>
      </a:lt1>
      <a:dk2>
        <a:srgbClr val="000080"/>
      </a:dk2>
      <a:lt2>
        <a:srgbClr val="F5F5F5"/>
      </a:lt2>
      <a:accent1>
        <a:srgbClr val="0000CD"/>
      </a:accent1>
      <a:accent2>
        <a:srgbClr val="C71585"/>
      </a:accent2>
      <a:accent3>
        <a:srgbClr val="7B68EE"/>
      </a:accent3>
      <a:accent4>
        <a:srgbClr val="FF0000"/>
      </a:accent4>
      <a:accent5>
        <a:srgbClr val="FF4500"/>
      </a:accent5>
      <a:accent6>
        <a:srgbClr val="006400"/>
      </a:accent6>
      <a:hlink>
        <a:srgbClr val="000080"/>
      </a:hlink>
      <a:folHlink>
        <a:srgbClr val="C71585"/>
      </a:folHlink>
    </a:clrScheme>
    <a:fontScheme name="Imperial Sans font theme">
      <a:majorFont>
        <a:latin typeface="Imperial Sans Text Semibold"/>
        <a:ea typeface=""/>
        <a:cs typeface=""/>
      </a:majorFont>
      <a:minorFont>
        <a:latin typeface="Imperial Sans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5000"/>
          </a:lnSpc>
          <a:defRPr sz="1600" dirty="0">
            <a:solidFill>
              <a:schemeClr val="tx1"/>
            </a:solidFill>
          </a:defRPr>
        </a:defPPr>
      </a:lstStyle>
    </a:txDef>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ICL_Poster Portrait A1 template.potx" id="{102DD3C0-3B38-4CBE-AC27-389CFDD5B01E}" vid="{AB3924F8-CBDD-4D00-8457-0F1783E016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Imperial_Poster Portrait A1 template</Template>
  <TotalTime>1743</TotalTime>
  <Words>1041</Words>
  <Application>Microsoft Office PowerPoint</Application>
  <PresentationFormat>Custom</PresentationFormat>
  <Paragraphs>40</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Imperial Sans Text</vt:lpstr>
      <vt:lpstr>Imperial Sans Text Extrabold</vt:lpstr>
      <vt:lpstr>Imperial Sans Text Semibold</vt:lpstr>
      <vt:lpstr>Arial</vt:lpstr>
      <vt:lpstr>Cambria Math</vt:lpstr>
      <vt:lpstr>Calibri</vt:lpstr>
      <vt:lpstr>ICL Portrait Poster Theme</vt:lpstr>
      <vt:lpstr>The Science of Quantifying Innovation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Diamond, Sid</dc:creator>
  <cp:lastModifiedBy>Diamond, Sid</cp:lastModifiedBy>
  <cp:revision>65</cp:revision>
  <cp:lastPrinted>2026-02-18T20:31:29Z</cp:lastPrinted>
  <dcterms:created xsi:type="dcterms:W3CDTF">2026-02-16T10:43:06Z</dcterms:created>
  <dcterms:modified xsi:type="dcterms:W3CDTF">2026-02-18T20:35:34Z</dcterms:modified>
</cp:coreProperties>
</file>