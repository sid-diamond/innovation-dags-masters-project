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8" r:id="rId2"/>
  </p:sldIdLst>
  <p:sldSz cx="21383625" cy="30275213"/>
  <p:notesSz cx="6858000" cy="9144000"/>
  <p:embeddedFontLst>
    <p:embeddedFont>
      <p:font typeface="Cambria Math" panose="02040503050406030204" pitchFamily="18" charset="0"/>
      <p:regular r:id="rId4"/>
    </p:embeddedFont>
    <p:embeddedFont>
      <p:font typeface="Imperial Sans Text" panose="020B0604020202020204" charset="0"/>
      <p:regular r:id="rId5"/>
      <p:bold r:id="rId6"/>
    </p:embeddedFont>
    <p:embeddedFont>
      <p:font typeface="Imperial Sans Text Extrabold" panose="020B0604020202020204" charset="0"/>
      <p:bold r:id="rId7"/>
    </p:embeddedFont>
    <p:embeddedFont>
      <p:font typeface="Imperial Sans Text Semibold" panose="020B0604020202020204" charset="0"/>
      <p:bold r:id="rId8"/>
    </p:embeddedFont>
  </p:embeddedFontLst>
  <p:defaultTextStyle>
    <a:defPPr>
      <a:defRPr lang="en-US"/>
    </a:defPPr>
    <a:lvl1pPr marL="0" algn="l" defTabSz="2479451" rtl="0" eaLnBrk="1" latinLnBrk="0" hangingPunct="1">
      <a:defRPr sz="4881" kern="1200">
        <a:solidFill>
          <a:schemeClr val="tx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58"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5" autoAdjust="0"/>
    <p:restoredTop sz="94660"/>
  </p:normalViewPr>
  <p:slideViewPr>
    <p:cSldViewPr snapToGrid="0" showGuides="1">
      <p:cViewPr>
        <p:scale>
          <a:sx n="75" d="100"/>
          <a:sy n="75" d="100"/>
        </p:scale>
        <p:origin x="43" y="-2299"/>
      </p:cViewPr>
      <p:guideLst>
        <p:guide orient="horz" pos="9558"/>
        <p:guide pos="6735"/>
      </p:guideLst>
    </p:cSldViewPr>
  </p:slideViewPr>
  <p:notesTextViewPr>
    <p:cViewPr>
      <p:scale>
        <a:sx n="1" d="1"/>
        <a:sy n="1" d="1"/>
      </p:scale>
      <p:origin x="0" y="0"/>
    </p:cViewPr>
  </p:notesTextViewPr>
  <p:sorterViewPr>
    <p:cViewPr>
      <p:scale>
        <a:sx n="1" d="2"/>
        <a:sy n="1" d="2"/>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2/16/2026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2479451" rtl="0" eaLnBrk="1" latinLnBrk="0" hangingPunct="1">
      <a:defRPr sz="3254" kern="1200">
        <a:solidFill>
          <a:schemeClr val="tx1"/>
        </a:solidFill>
        <a:latin typeface="+mn-lt"/>
        <a:ea typeface="+mn-ea"/>
        <a:cs typeface="+mn-cs"/>
      </a:defRPr>
    </a:lvl1pPr>
    <a:lvl2pPr marL="1239727" algn="l" defTabSz="2479451" rtl="0" eaLnBrk="1" latinLnBrk="0" hangingPunct="1">
      <a:defRPr sz="3254" kern="1200">
        <a:solidFill>
          <a:schemeClr val="tx1"/>
        </a:solidFill>
        <a:latin typeface="+mn-lt"/>
        <a:ea typeface="+mn-ea"/>
        <a:cs typeface="+mn-cs"/>
      </a:defRPr>
    </a:lvl2pPr>
    <a:lvl3pPr marL="2479451" algn="l" defTabSz="2479451" rtl="0" eaLnBrk="1" latinLnBrk="0" hangingPunct="1">
      <a:defRPr sz="3254" kern="1200">
        <a:solidFill>
          <a:schemeClr val="tx1"/>
        </a:solidFill>
        <a:latin typeface="+mn-lt"/>
        <a:ea typeface="+mn-ea"/>
        <a:cs typeface="+mn-cs"/>
      </a:defRPr>
    </a:lvl3pPr>
    <a:lvl4pPr marL="3719178" algn="l" defTabSz="2479451" rtl="0" eaLnBrk="1" latinLnBrk="0" hangingPunct="1">
      <a:defRPr sz="3254" kern="1200">
        <a:solidFill>
          <a:schemeClr val="tx1"/>
        </a:solidFill>
        <a:latin typeface="+mn-lt"/>
        <a:ea typeface="+mn-ea"/>
        <a:cs typeface="+mn-cs"/>
      </a:defRPr>
    </a:lvl4pPr>
    <a:lvl5pPr marL="4958902" algn="l" defTabSz="2479451" rtl="0" eaLnBrk="1" latinLnBrk="0" hangingPunct="1">
      <a:defRPr sz="3254" kern="1200">
        <a:solidFill>
          <a:schemeClr val="tx1"/>
        </a:solidFill>
        <a:latin typeface="+mn-lt"/>
        <a:ea typeface="+mn-ea"/>
        <a:cs typeface="+mn-cs"/>
      </a:defRPr>
    </a:lvl5pPr>
    <a:lvl6pPr marL="6198629" algn="l" defTabSz="2479451" rtl="0" eaLnBrk="1" latinLnBrk="0" hangingPunct="1">
      <a:defRPr sz="3254" kern="1200">
        <a:solidFill>
          <a:schemeClr val="tx1"/>
        </a:solidFill>
        <a:latin typeface="+mn-lt"/>
        <a:ea typeface="+mn-ea"/>
        <a:cs typeface="+mn-cs"/>
      </a:defRPr>
    </a:lvl6pPr>
    <a:lvl7pPr marL="7438356" algn="l" defTabSz="2479451" rtl="0" eaLnBrk="1" latinLnBrk="0" hangingPunct="1">
      <a:defRPr sz="3254" kern="1200">
        <a:solidFill>
          <a:schemeClr val="tx1"/>
        </a:solidFill>
        <a:latin typeface="+mn-lt"/>
        <a:ea typeface="+mn-ea"/>
        <a:cs typeface="+mn-cs"/>
      </a:defRPr>
    </a:lvl7pPr>
    <a:lvl8pPr marL="8678080" algn="l" defTabSz="2479451" rtl="0" eaLnBrk="1" latinLnBrk="0" hangingPunct="1">
      <a:defRPr sz="3254" kern="1200">
        <a:solidFill>
          <a:schemeClr val="tx1"/>
        </a:solidFill>
        <a:latin typeface="+mn-lt"/>
        <a:ea typeface="+mn-ea"/>
        <a:cs typeface="+mn-cs"/>
      </a:defRPr>
    </a:lvl8pPr>
    <a:lvl9pPr marL="9917807" algn="l" defTabSz="2479451" rtl="0" eaLnBrk="1" latinLnBrk="0" hangingPunct="1">
      <a:defRPr sz="3254"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ion One">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C48B9CE-FD65-AE40-130C-DBE00526E69A}"/>
              </a:ext>
            </a:extLst>
          </p:cNvPr>
          <p:cNvSpPr>
            <a:spLocks noGrp="1"/>
          </p:cNvSpPr>
          <p:nvPr>
            <p:ph sz="quarter" idx="32" hasCustomPrompt="1"/>
          </p:nvPr>
        </p:nvSpPr>
        <p:spPr>
          <a:xfrm>
            <a:off x="7449512" y="10439326"/>
            <a:ext cx="13135602" cy="10220400"/>
          </a:xfrm>
        </p:spPr>
        <p:txBody>
          <a:bodyPr/>
          <a:lstStyle>
            <a:lvl1pPr>
              <a:defRPr/>
            </a:lvl1pPr>
          </a:lstStyle>
          <a:p>
            <a:pPr lvl="0"/>
            <a:r>
              <a:rPr lang="en-US" dirty="0"/>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F18F015B-6C73-4A9C-BCFC-C5B1BB098CD2}" type="datetime1">
              <a:rPr lang="en-GB" noProof="0" smtClean="0"/>
              <a:t>16/02/2026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1045368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3" name="Content Placeholder 10">
            <a:extLst>
              <a:ext uri="{FF2B5EF4-FFF2-40B4-BE49-F238E27FC236}">
                <a16:creationId xmlns:a16="http://schemas.microsoft.com/office/drawing/2014/main" id="{D29EF359-10B1-D70F-910E-516113908950}"/>
              </a:ext>
            </a:extLst>
          </p:cNvPr>
          <p:cNvSpPr>
            <a:spLocks noGrp="1"/>
          </p:cNvSpPr>
          <p:nvPr>
            <p:ph sz="quarter" idx="33" hasCustomPrompt="1"/>
          </p:nvPr>
        </p:nvSpPr>
        <p:spPr>
          <a:xfrm>
            <a:off x="790576" y="15641421"/>
            <a:ext cx="6427788" cy="5018305"/>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7184621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ion Two">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125B37B3-A951-41B0-803F-990AE8E98F3B}" type="datetime1">
              <a:rPr lang="en-GB" noProof="0" smtClean="0"/>
              <a:t>16/02/2026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pPr marL="0" marR="0" lvl="0" indent="0" algn="l" defTabSz="1202763" rtl="0" eaLnBrk="1" fontAlgn="auto" latinLnBrk="0" hangingPunct="1">
              <a:lnSpc>
                <a:spcPct val="105000"/>
              </a:lnSpc>
              <a:spcBef>
                <a:spcPts val="0"/>
              </a:spcBef>
              <a:spcAft>
                <a:spcPts val="0"/>
              </a:spcAft>
              <a:buClrTx/>
              <a:buSzTx/>
              <a:buFont typeface="Arial" panose="020B0604020202020204" pitchFamily="34" charset="0"/>
              <a:buNone/>
              <a:tabLst/>
              <a:defRPr/>
            </a:pPr>
            <a:r>
              <a:rPr lang="en-GB" noProof="0" dirty="0"/>
              <a:t>Click icon to add a supporter or partner logo</a:t>
            </a:r>
          </a:p>
          <a:p>
            <a:endParaRPr lang="en-GB" noProof="0" dirty="0"/>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2" name="Content Placeholder 10">
            <a:extLst>
              <a:ext uri="{FF2B5EF4-FFF2-40B4-BE49-F238E27FC236}">
                <a16:creationId xmlns:a16="http://schemas.microsoft.com/office/drawing/2014/main" id="{2F7A2BD4-5D5C-FDA8-575A-EEF5BB46759C}"/>
              </a:ext>
            </a:extLst>
          </p:cNvPr>
          <p:cNvSpPr>
            <a:spLocks noGrp="1"/>
          </p:cNvSpPr>
          <p:nvPr>
            <p:ph sz="quarter" idx="32" hasCustomPrompt="1"/>
          </p:nvPr>
        </p:nvSpPr>
        <p:spPr>
          <a:xfrm>
            <a:off x="7449512" y="13164526"/>
            <a:ext cx="13135602" cy="7495200"/>
          </a:xfrm>
        </p:spPr>
        <p:txBody>
          <a:bodyPr/>
          <a:lstStyle>
            <a:lvl1pPr>
              <a:defRPr/>
            </a:lvl1pPr>
          </a:lstStyle>
          <a:p>
            <a:pPr lvl="0"/>
            <a:r>
              <a:rPr lang="en-US" dirty="0"/>
              <a:t>Click an icon to add content</a:t>
            </a:r>
          </a:p>
        </p:txBody>
      </p:sp>
      <p:sp>
        <p:nvSpPr>
          <p:cNvPr id="13" name="Content Placeholder 10">
            <a:extLst>
              <a:ext uri="{FF2B5EF4-FFF2-40B4-BE49-F238E27FC236}">
                <a16:creationId xmlns:a16="http://schemas.microsoft.com/office/drawing/2014/main" id="{B778B18A-FE56-EFD2-5AAF-6F7ED7CAC2D5}"/>
              </a:ext>
            </a:extLst>
          </p:cNvPr>
          <p:cNvSpPr>
            <a:spLocks noGrp="1"/>
          </p:cNvSpPr>
          <p:nvPr>
            <p:ph sz="quarter" idx="33" hasCustomPrompt="1"/>
          </p:nvPr>
        </p:nvSpPr>
        <p:spPr>
          <a:xfrm>
            <a:off x="790576" y="13164527"/>
            <a:ext cx="6427788" cy="7495200"/>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99454171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790575" y="2206800"/>
            <a:ext cx="13117513" cy="2076441"/>
          </a:xfrm>
          <a:prstGeom prst="rect">
            <a:avLst/>
          </a:prstGeom>
        </p:spPr>
        <p:txBody>
          <a:bodyPr vert="horz" lIns="0" tIns="0" rIns="0" bIns="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790575" y="4911725"/>
            <a:ext cx="19805088" cy="233330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6440564" y="28880553"/>
            <a:ext cx="3249940" cy="605990"/>
          </a:xfrm>
          <a:prstGeom prst="rect">
            <a:avLst/>
          </a:prstGeom>
        </p:spPr>
        <p:txBody>
          <a:bodyPr vert="horz" lIns="0" tIns="0" rIns="0" bIns="0" rtlCol="0" anchor="b">
            <a:noAutofit/>
          </a:bodyPr>
          <a:lstStyle>
            <a:lvl1pPr algn="r">
              <a:defRPr sz="3200">
                <a:solidFill>
                  <a:schemeClr val="accent1"/>
                </a:solidFill>
              </a:defRPr>
            </a:lvl1pPr>
          </a:lstStyle>
          <a:p>
            <a:fld id="{7591C2C3-B079-4145-9757-D0EBAE610834}" type="datetime1">
              <a:rPr lang="en-GB" noProof="0" smtClean="0"/>
              <a:t>16/02/2026</a:t>
            </a:fld>
            <a:endParaRPr lang="en-GB" noProof="0" dirty="0"/>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1474047" y="28880544"/>
            <a:ext cx="9119003" cy="605999"/>
          </a:xfrm>
          <a:prstGeom prst="rect">
            <a:avLst/>
          </a:prstGeom>
        </p:spPr>
        <p:txBody>
          <a:bodyPr vert="horz" lIns="0" tIns="0" rIns="0" bIns="0" rtlCol="0" anchor="b">
            <a:noAutofit/>
          </a:bodyPr>
          <a:lstStyle>
            <a:lvl1pPr algn="r">
              <a:defRPr sz="3200">
                <a:solidFill>
                  <a:schemeClr val="accent1"/>
                </a:solidFill>
              </a:defRPr>
            </a:lvl1pPr>
          </a:lstStyle>
          <a:p>
            <a:r>
              <a:rPr lang="en-GB" noProof="0"/>
              <a:t>imperial.ac.uk</a:t>
            </a:r>
            <a:endParaRPr lang="en-GB" noProof="0"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0366376" y="28880544"/>
            <a:ext cx="650878" cy="605999"/>
          </a:xfrm>
          <a:prstGeom prst="rect">
            <a:avLst/>
          </a:prstGeom>
        </p:spPr>
        <p:txBody>
          <a:bodyPr vert="horz" lIns="0" tIns="0" rIns="0" bIns="0" rtlCol="0" anchor="b">
            <a:noAutofit/>
          </a:bodyPr>
          <a:lstStyle>
            <a:lvl1pPr algn="ctr">
              <a:defRPr sz="3200" b="1">
                <a:solidFill>
                  <a:schemeClr val="accent1"/>
                </a:solidFill>
              </a:defRPr>
            </a:lvl1pPr>
          </a:lstStyle>
          <a:p>
            <a:fld id="{CBA53E11-492D-48B3-9F9B-09541CA2A39A}" type="slidenum">
              <a:rPr lang="en-GB" noProof="0" smtClean="0"/>
              <a:pPr/>
              <a:t>‹#›</a:t>
            </a:fld>
            <a:endParaRPr lang="en-GB" noProof="0" dirty="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790575" y="28880544"/>
            <a:ext cx="5192516" cy="605999"/>
          </a:xfrm>
          <a:prstGeom prst="rect">
            <a:avLst/>
          </a:prstGeom>
          <a:noFill/>
        </p:spPr>
        <p:txBody>
          <a:bodyPr wrap="square" lIns="0" tIns="0" rIns="0" bIns="0" rtlCol="0" anchor="b">
            <a:noAutofit/>
          </a:bodyPr>
          <a:lstStyle/>
          <a:p>
            <a:pPr algn="l"/>
            <a:r>
              <a:rPr lang="en-GB" sz="3200" b="0" noProof="0" dirty="0">
                <a:solidFill>
                  <a:schemeClr val="accent1"/>
                </a:solidFill>
                <a:latin typeface="+mn-lt"/>
              </a:rPr>
              <a:t>Imperial College London</a:t>
            </a:r>
          </a:p>
        </p:txBody>
      </p:sp>
      <p:grpSp>
        <p:nvGrpSpPr>
          <p:cNvPr id="10" name="Group 4">
            <a:extLst>
              <a:ext uri="{FF2B5EF4-FFF2-40B4-BE49-F238E27FC236}">
                <a16:creationId xmlns:a16="http://schemas.microsoft.com/office/drawing/2014/main" id="{5B8F859E-67B2-31E4-8FF7-14252D90D5FE}"/>
              </a:ext>
            </a:extLst>
          </p:cNvPr>
          <p:cNvGrpSpPr>
            <a:grpSpLocks noChangeAspect="1"/>
          </p:cNvGrpSpPr>
          <p:nvPr userDrawn="1"/>
        </p:nvGrpSpPr>
        <p:grpSpPr bwMode="auto">
          <a:xfrm>
            <a:off x="790575" y="821055"/>
            <a:ext cx="6336000" cy="699453"/>
            <a:chOff x="0" y="8792"/>
            <a:chExt cx="13470" cy="1487"/>
          </a:xfrm>
          <a:solidFill>
            <a:schemeClr val="accent1"/>
          </a:solidFill>
        </p:grpSpPr>
        <p:sp>
          <p:nvSpPr>
            <p:cNvPr id="12" name="Freeform 5">
              <a:extLst>
                <a:ext uri="{FF2B5EF4-FFF2-40B4-BE49-F238E27FC236}">
                  <a16:creationId xmlns:a16="http://schemas.microsoft.com/office/drawing/2014/main" id="{61C58841-4C03-F11E-E9FB-C1D825B77D29}"/>
                </a:ext>
              </a:extLst>
            </p:cNvPr>
            <p:cNvSpPr>
              <a:spLocks/>
            </p:cNvSpPr>
            <p:nvPr userDrawn="1"/>
          </p:nvSpPr>
          <p:spPr bwMode="auto">
            <a:xfrm>
              <a:off x="12506" y="8792"/>
              <a:ext cx="964" cy="1487"/>
            </a:xfrm>
            <a:custGeom>
              <a:avLst/>
              <a:gdLst>
                <a:gd name="T0" fmla="*/ 0 w 964"/>
                <a:gd name="T1" fmla="*/ 0 h 1487"/>
                <a:gd name="T2" fmla="*/ 0 w 964"/>
                <a:gd name="T3" fmla="*/ 1487 h 1487"/>
                <a:gd name="T4" fmla="*/ 964 w 964"/>
                <a:gd name="T5" fmla="*/ 1487 h 1487"/>
                <a:gd name="T6" fmla="*/ 964 w 964"/>
                <a:gd name="T7" fmla="*/ 1227 h 1487"/>
                <a:gd name="T8" fmla="*/ 280 w 964"/>
                <a:gd name="T9" fmla="*/ 1227 h 1487"/>
                <a:gd name="T10" fmla="*/ 280 w 964"/>
                <a:gd name="T11" fmla="*/ 0 h 1487"/>
                <a:gd name="T12" fmla="*/ 0 w 964"/>
                <a:gd name="T13" fmla="*/ 0 h 1487"/>
                <a:gd name="T14" fmla="*/ 0 w 964"/>
                <a:gd name="T15" fmla="*/ 0 h 14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4" h="1487">
                  <a:moveTo>
                    <a:pt x="0" y="0"/>
                  </a:moveTo>
                  <a:lnTo>
                    <a:pt x="0" y="1487"/>
                  </a:lnTo>
                  <a:lnTo>
                    <a:pt x="964" y="1487"/>
                  </a:lnTo>
                  <a:lnTo>
                    <a:pt x="964" y="1227"/>
                  </a:lnTo>
                  <a:lnTo>
                    <a:pt x="280" y="1227"/>
                  </a:lnTo>
                  <a:lnTo>
                    <a:pt x="28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3" name="Freeform 6">
              <a:extLst>
                <a:ext uri="{FF2B5EF4-FFF2-40B4-BE49-F238E27FC236}">
                  <a16:creationId xmlns:a16="http://schemas.microsoft.com/office/drawing/2014/main" id="{A66AEB3A-19AD-FDFB-E196-3A2F869534FF}"/>
                </a:ext>
              </a:extLst>
            </p:cNvPr>
            <p:cNvSpPr>
              <a:spLocks noEditPoints="1"/>
            </p:cNvSpPr>
            <p:nvPr userDrawn="1"/>
          </p:nvSpPr>
          <p:spPr bwMode="auto">
            <a:xfrm>
              <a:off x="10525" y="8792"/>
              <a:ext cx="1346" cy="1487"/>
            </a:xfrm>
            <a:custGeom>
              <a:avLst/>
              <a:gdLst>
                <a:gd name="T0" fmla="*/ 488 w 1346"/>
                <a:gd name="T1" fmla="*/ 0 h 1487"/>
                <a:gd name="T2" fmla="*/ 0 w 1346"/>
                <a:gd name="T3" fmla="*/ 1487 h 1487"/>
                <a:gd name="T4" fmla="*/ 296 w 1346"/>
                <a:gd name="T5" fmla="*/ 1487 h 1487"/>
                <a:gd name="T6" fmla="*/ 397 w 1346"/>
                <a:gd name="T7" fmla="*/ 1160 h 1487"/>
                <a:gd name="T8" fmla="*/ 950 w 1346"/>
                <a:gd name="T9" fmla="*/ 1160 h 1487"/>
                <a:gd name="T10" fmla="*/ 1050 w 1346"/>
                <a:gd name="T11" fmla="*/ 1487 h 1487"/>
                <a:gd name="T12" fmla="*/ 1346 w 1346"/>
                <a:gd name="T13" fmla="*/ 1487 h 1487"/>
                <a:gd name="T14" fmla="*/ 858 w 1346"/>
                <a:gd name="T15" fmla="*/ 0 h 1487"/>
                <a:gd name="T16" fmla="*/ 488 w 1346"/>
                <a:gd name="T17" fmla="*/ 0 h 1487"/>
                <a:gd name="T18" fmla="*/ 488 w 1346"/>
                <a:gd name="T19" fmla="*/ 0 h 1487"/>
                <a:gd name="T20" fmla="*/ 674 w 1346"/>
                <a:gd name="T21" fmla="*/ 264 h 1487"/>
                <a:gd name="T22" fmla="*/ 875 w 1346"/>
                <a:gd name="T23" fmla="*/ 920 h 1487"/>
                <a:gd name="T24" fmla="*/ 470 w 1346"/>
                <a:gd name="T25" fmla="*/ 920 h 1487"/>
                <a:gd name="T26" fmla="*/ 674 w 1346"/>
                <a:gd name="T27" fmla="*/ 264 h 1487"/>
                <a:gd name="T28" fmla="*/ 674 w 1346"/>
                <a:gd name="T29" fmla="*/ 264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6" h="1487">
                  <a:moveTo>
                    <a:pt x="488" y="0"/>
                  </a:moveTo>
                  <a:lnTo>
                    <a:pt x="0" y="1487"/>
                  </a:lnTo>
                  <a:lnTo>
                    <a:pt x="296" y="1487"/>
                  </a:lnTo>
                  <a:lnTo>
                    <a:pt x="397" y="1160"/>
                  </a:lnTo>
                  <a:lnTo>
                    <a:pt x="950" y="1160"/>
                  </a:lnTo>
                  <a:lnTo>
                    <a:pt x="1050" y="1487"/>
                  </a:lnTo>
                  <a:lnTo>
                    <a:pt x="1346" y="1487"/>
                  </a:lnTo>
                  <a:lnTo>
                    <a:pt x="858" y="0"/>
                  </a:lnTo>
                  <a:lnTo>
                    <a:pt x="488" y="0"/>
                  </a:lnTo>
                  <a:lnTo>
                    <a:pt x="488" y="0"/>
                  </a:lnTo>
                  <a:close/>
                  <a:moveTo>
                    <a:pt x="674" y="264"/>
                  </a:moveTo>
                  <a:lnTo>
                    <a:pt x="875" y="920"/>
                  </a:lnTo>
                  <a:lnTo>
                    <a:pt x="470" y="920"/>
                  </a:lnTo>
                  <a:lnTo>
                    <a:pt x="674" y="264"/>
                  </a:lnTo>
                  <a:lnTo>
                    <a:pt x="67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4" name="Freeform 7">
              <a:extLst>
                <a:ext uri="{FF2B5EF4-FFF2-40B4-BE49-F238E27FC236}">
                  <a16:creationId xmlns:a16="http://schemas.microsoft.com/office/drawing/2014/main" id="{54DF53D1-90F8-4D66-1194-252B58894048}"/>
                </a:ext>
              </a:extLst>
            </p:cNvPr>
            <p:cNvSpPr>
              <a:spLocks/>
            </p:cNvSpPr>
            <p:nvPr userDrawn="1"/>
          </p:nvSpPr>
          <p:spPr bwMode="auto">
            <a:xfrm>
              <a:off x="8989" y="8792"/>
              <a:ext cx="976" cy="1487"/>
            </a:xfrm>
            <a:custGeom>
              <a:avLst/>
              <a:gdLst>
                <a:gd name="T0" fmla="*/ 0 w 976"/>
                <a:gd name="T1" fmla="*/ 0 h 1487"/>
                <a:gd name="T2" fmla="*/ 0 w 976"/>
                <a:gd name="T3" fmla="*/ 261 h 1487"/>
                <a:gd name="T4" fmla="*/ 347 w 976"/>
                <a:gd name="T5" fmla="*/ 261 h 1487"/>
                <a:gd name="T6" fmla="*/ 347 w 976"/>
                <a:gd name="T7" fmla="*/ 1227 h 1487"/>
                <a:gd name="T8" fmla="*/ 0 w 976"/>
                <a:gd name="T9" fmla="*/ 1227 h 1487"/>
                <a:gd name="T10" fmla="*/ 0 w 976"/>
                <a:gd name="T11" fmla="*/ 1487 h 1487"/>
                <a:gd name="T12" fmla="*/ 976 w 976"/>
                <a:gd name="T13" fmla="*/ 1487 h 1487"/>
                <a:gd name="T14" fmla="*/ 976 w 976"/>
                <a:gd name="T15" fmla="*/ 1227 h 1487"/>
                <a:gd name="T16" fmla="*/ 628 w 976"/>
                <a:gd name="T17" fmla="*/ 1227 h 1487"/>
                <a:gd name="T18" fmla="*/ 628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7" y="261"/>
                  </a:lnTo>
                  <a:lnTo>
                    <a:pt x="347" y="1227"/>
                  </a:lnTo>
                  <a:lnTo>
                    <a:pt x="0" y="1227"/>
                  </a:lnTo>
                  <a:lnTo>
                    <a:pt x="0" y="1487"/>
                  </a:lnTo>
                  <a:lnTo>
                    <a:pt x="976" y="1487"/>
                  </a:lnTo>
                  <a:lnTo>
                    <a:pt x="976" y="1227"/>
                  </a:lnTo>
                  <a:lnTo>
                    <a:pt x="628" y="1227"/>
                  </a:lnTo>
                  <a:lnTo>
                    <a:pt x="628"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5" name="Freeform 8">
              <a:extLst>
                <a:ext uri="{FF2B5EF4-FFF2-40B4-BE49-F238E27FC236}">
                  <a16:creationId xmlns:a16="http://schemas.microsoft.com/office/drawing/2014/main" id="{3F5DA096-5291-A2DF-1BA8-D4CE73D939D0}"/>
                </a:ext>
              </a:extLst>
            </p:cNvPr>
            <p:cNvSpPr>
              <a:spLocks noEditPoints="1"/>
            </p:cNvSpPr>
            <p:nvPr userDrawn="1"/>
          </p:nvSpPr>
          <p:spPr bwMode="auto">
            <a:xfrm>
              <a:off x="7246" y="8792"/>
              <a:ext cx="1155" cy="1487"/>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6" name="Freeform 9">
              <a:extLst>
                <a:ext uri="{FF2B5EF4-FFF2-40B4-BE49-F238E27FC236}">
                  <a16:creationId xmlns:a16="http://schemas.microsoft.com/office/drawing/2014/main" id="{03788404-0623-D7AB-430D-C7451DD8576A}"/>
                </a:ext>
              </a:extLst>
            </p:cNvPr>
            <p:cNvSpPr>
              <a:spLocks/>
            </p:cNvSpPr>
            <p:nvPr userDrawn="1"/>
          </p:nvSpPr>
          <p:spPr bwMode="auto">
            <a:xfrm>
              <a:off x="5586" y="8792"/>
              <a:ext cx="962" cy="1487"/>
            </a:xfrm>
            <a:custGeom>
              <a:avLst/>
              <a:gdLst>
                <a:gd name="T0" fmla="*/ 0 w 962"/>
                <a:gd name="T1" fmla="*/ 0 h 1487"/>
                <a:gd name="T2" fmla="*/ 0 w 962"/>
                <a:gd name="T3" fmla="*/ 1487 h 1487"/>
                <a:gd name="T4" fmla="*/ 962 w 962"/>
                <a:gd name="T5" fmla="*/ 1487 h 1487"/>
                <a:gd name="T6" fmla="*/ 962 w 962"/>
                <a:gd name="T7" fmla="*/ 1227 h 1487"/>
                <a:gd name="T8" fmla="*/ 281 w 962"/>
                <a:gd name="T9" fmla="*/ 1227 h 1487"/>
                <a:gd name="T10" fmla="*/ 281 w 962"/>
                <a:gd name="T11" fmla="*/ 855 h 1487"/>
                <a:gd name="T12" fmla="*/ 903 w 962"/>
                <a:gd name="T13" fmla="*/ 855 h 1487"/>
                <a:gd name="T14" fmla="*/ 903 w 962"/>
                <a:gd name="T15" fmla="*/ 603 h 1487"/>
                <a:gd name="T16" fmla="*/ 281 w 962"/>
                <a:gd name="T17" fmla="*/ 603 h 1487"/>
                <a:gd name="T18" fmla="*/ 281 w 962"/>
                <a:gd name="T19" fmla="*/ 261 h 1487"/>
                <a:gd name="T20" fmla="*/ 962 w 962"/>
                <a:gd name="T21" fmla="*/ 261 h 1487"/>
                <a:gd name="T22" fmla="*/ 962 w 962"/>
                <a:gd name="T23" fmla="*/ 0 h 1487"/>
                <a:gd name="T24" fmla="*/ 0 w 962"/>
                <a:gd name="T25" fmla="*/ 0 h 1487"/>
                <a:gd name="T26" fmla="*/ 0 w 962"/>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2" h="1487">
                  <a:moveTo>
                    <a:pt x="0" y="0"/>
                  </a:moveTo>
                  <a:lnTo>
                    <a:pt x="0" y="1487"/>
                  </a:lnTo>
                  <a:lnTo>
                    <a:pt x="962" y="1487"/>
                  </a:lnTo>
                  <a:lnTo>
                    <a:pt x="962" y="1227"/>
                  </a:lnTo>
                  <a:lnTo>
                    <a:pt x="281" y="1227"/>
                  </a:lnTo>
                  <a:lnTo>
                    <a:pt x="281" y="855"/>
                  </a:lnTo>
                  <a:lnTo>
                    <a:pt x="903" y="855"/>
                  </a:lnTo>
                  <a:lnTo>
                    <a:pt x="903" y="603"/>
                  </a:lnTo>
                  <a:lnTo>
                    <a:pt x="281" y="603"/>
                  </a:lnTo>
                  <a:lnTo>
                    <a:pt x="281" y="261"/>
                  </a:lnTo>
                  <a:lnTo>
                    <a:pt x="962" y="261"/>
                  </a:lnTo>
                  <a:lnTo>
                    <a:pt x="962"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7" name="Freeform 10">
              <a:extLst>
                <a:ext uri="{FF2B5EF4-FFF2-40B4-BE49-F238E27FC236}">
                  <a16:creationId xmlns:a16="http://schemas.microsoft.com/office/drawing/2014/main" id="{25BE06B1-DA44-6343-3BC4-0121CD607775}"/>
                </a:ext>
              </a:extLst>
            </p:cNvPr>
            <p:cNvSpPr>
              <a:spLocks noEditPoints="1"/>
            </p:cNvSpPr>
            <p:nvPr userDrawn="1"/>
          </p:nvSpPr>
          <p:spPr bwMode="auto">
            <a:xfrm>
              <a:off x="3930" y="8792"/>
              <a:ext cx="1065" cy="1487"/>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8" name="Freeform 11">
              <a:extLst>
                <a:ext uri="{FF2B5EF4-FFF2-40B4-BE49-F238E27FC236}">
                  <a16:creationId xmlns:a16="http://schemas.microsoft.com/office/drawing/2014/main" id="{7FCC7591-2A02-9882-D609-263757CD5388}"/>
                </a:ext>
              </a:extLst>
            </p:cNvPr>
            <p:cNvSpPr>
              <a:spLocks/>
            </p:cNvSpPr>
            <p:nvPr userDrawn="1"/>
          </p:nvSpPr>
          <p:spPr bwMode="auto">
            <a:xfrm>
              <a:off x="1705" y="8792"/>
              <a:ext cx="1509" cy="1487"/>
            </a:xfrm>
            <a:custGeom>
              <a:avLst/>
              <a:gdLst>
                <a:gd name="T0" fmla="*/ 1110 w 1509"/>
                <a:gd name="T1" fmla="*/ 0 h 1487"/>
                <a:gd name="T2" fmla="*/ 755 w 1509"/>
                <a:gd name="T3" fmla="*/ 874 h 1487"/>
                <a:gd name="T4" fmla="*/ 401 w 1509"/>
                <a:gd name="T5" fmla="*/ 0 h 1487"/>
                <a:gd name="T6" fmla="*/ 0 w 1509"/>
                <a:gd name="T7" fmla="*/ 0 h 1487"/>
                <a:gd name="T8" fmla="*/ 0 w 1509"/>
                <a:gd name="T9" fmla="*/ 1487 h 1487"/>
                <a:gd name="T10" fmla="*/ 267 w 1509"/>
                <a:gd name="T11" fmla="*/ 1487 h 1487"/>
                <a:gd name="T12" fmla="*/ 267 w 1509"/>
                <a:gd name="T13" fmla="*/ 376 h 1487"/>
                <a:gd name="T14" fmla="*/ 607 w 1509"/>
                <a:gd name="T15" fmla="*/ 1160 h 1487"/>
                <a:gd name="T16" fmla="*/ 622 w 1509"/>
                <a:gd name="T17" fmla="*/ 1160 h 1487"/>
                <a:gd name="T18" fmla="*/ 888 w 1509"/>
                <a:gd name="T19" fmla="*/ 1160 h 1487"/>
                <a:gd name="T20" fmla="*/ 903 w 1509"/>
                <a:gd name="T21" fmla="*/ 1160 h 1487"/>
                <a:gd name="T22" fmla="*/ 1243 w 1509"/>
                <a:gd name="T23" fmla="*/ 376 h 1487"/>
                <a:gd name="T24" fmla="*/ 1243 w 1509"/>
                <a:gd name="T25" fmla="*/ 1487 h 1487"/>
                <a:gd name="T26" fmla="*/ 1509 w 1509"/>
                <a:gd name="T27" fmla="*/ 1487 h 1487"/>
                <a:gd name="T28" fmla="*/ 1509 w 1509"/>
                <a:gd name="T29" fmla="*/ 0 h 1487"/>
                <a:gd name="T30" fmla="*/ 1110 w 1509"/>
                <a:gd name="T31" fmla="*/ 0 h 1487"/>
                <a:gd name="T32" fmla="*/ 1110 w 1509"/>
                <a:gd name="T33"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09" h="1487">
                  <a:moveTo>
                    <a:pt x="1110" y="0"/>
                  </a:moveTo>
                  <a:lnTo>
                    <a:pt x="755" y="874"/>
                  </a:lnTo>
                  <a:lnTo>
                    <a:pt x="401" y="0"/>
                  </a:lnTo>
                  <a:lnTo>
                    <a:pt x="0" y="0"/>
                  </a:lnTo>
                  <a:lnTo>
                    <a:pt x="0" y="1487"/>
                  </a:lnTo>
                  <a:lnTo>
                    <a:pt x="267" y="1487"/>
                  </a:lnTo>
                  <a:lnTo>
                    <a:pt x="267" y="376"/>
                  </a:lnTo>
                  <a:lnTo>
                    <a:pt x="607" y="1160"/>
                  </a:lnTo>
                  <a:lnTo>
                    <a:pt x="622" y="1160"/>
                  </a:lnTo>
                  <a:lnTo>
                    <a:pt x="888" y="1160"/>
                  </a:lnTo>
                  <a:lnTo>
                    <a:pt x="903" y="1160"/>
                  </a:lnTo>
                  <a:lnTo>
                    <a:pt x="1243" y="376"/>
                  </a:lnTo>
                  <a:lnTo>
                    <a:pt x="1243" y="1487"/>
                  </a:lnTo>
                  <a:lnTo>
                    <a:pt x="1509" y="1487"/>
                  </a:lnTo>
                  <a:lnTo>
                    <a:pt x="1509" y="0"/>
                  </a:lnTo>
                  <a:lnTo>
                    <a:pt x="1110" y="0"/>
                  </a:lnTo>
                  <a:lnTo>
                    <a:pt x="1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9" name="Freeform 12">
              <a:extLst>
                <a:ext uri="{FF2B5EF4-FFF2-40B4-BE49-F238E27FC236}">
                  <a16:creationId xmlns:a16="http://schemas.microsoft.com/office/drawing/2014/main" id="{3A09E968-58E1-1A1E-4EA6-8E6130280E06}"/>
                </a:ext>
              </a:extLst>
            </p:cNvPr>
            <p:cNvSpPr>
              <a:spLocks/>
            </p:cNvSpPr>
            <p:nvPr userDrawn="1"/>
          </p:nvSpPr>
          <p:spPr bwMode="auto">
            <a:xfrm>
              <a:off x="0" y="8792"/>
              <a:ext cx="976" cy="1487"/>
            </a:xfrm>
            <a:custGeom>
              <a:avLst/>
              <a:gdLst>
                <a:gd name="T0" fmla="*/ 0 w 976"/>
                <a:gd name="T1" fmla="*/ 0 h 1487"/>
                <a:gd name="T2" fmla="*/ 0 w 976"/>
                <a:gd name="T3" fmla="*/ 261 h 1487"/>
                <a:gd name="T4" fmla="*/ 348 w 976"/>
                <a:gd name="T5" fmla="*/ 261 h 1487"/>
                <a:gd name="T6" fmla="*/ 348 w 976"/>
                <a:gd name="T7" fmla="*/ 1227 h 1487"/>
                <a:gd name="T8" fmla="*/ 0 w 976"/>
                <a:gd name="T9" fmla="*/ 1227 h 1487"/>
                <a:gd name="T10" fmla="*/ 0 w 976"/>
                <a:gd name="T11" fmla="*/ 1487 h 1487"/>
                <a:gd name="T12" fmla="*/ 976 w 976"/>
                <a:gd name="T13" fmla="*/ 1487 h 1487"/>
                <a:gd name="T14" fmla="*/ 976 w 976"/>
                <a:gd name="T15" fmla="*/ 1227 h 1487"/>
                <a:gd name="T16" fmla="*/ 629 w 976"/>
                <a:gd name="T17" fmla="*/ 1227 h 1487"/>
                <a:gd name="T18" fmla="*/ 629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8" y="261"/>
                  </a:lnTo>
                  <a:lnTo>
                    <a:pt x="348" y="1227"/>
                  </a:lnTo>
                  <a:lnTo>
                    <a:pt x="0" y="1227"/>
                  </a:lnTo>
                  <a:lnTo>
                    <a:pt x="0" y="1487"/>
                  </a:lnTo>
                  <a:lnTo>
                    <a:pt x="976" y="1487"/>
                  </a:lnTo>
                  <a:lnTo>
                    <a:pt x="976" y="1227"/>
                  </a:lnTo>
                  <a:lnTo>
                    <a:pt x="629" y="1227"/>
                  </a:lnTo>
                  <a:lnTo>
                    <a:pt x="629"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grpSp>
      <p:cxnSp>
        <p:nvCxnSpPr>
          <p:cNvPr id="21" name="Straight Connector 20">
            <a:extLst>
              <a:ext uri="{FF2B5EF4-FFF2-40B4-BE49-F238E27FC236}">
                <a16:creationId xmlns:a16="http://schemas.microsoft.com/office/drawing/2014/main" id="{7B0F1BC1-E68D-0921-9C05-B7E16303C4E8}"/>
              </a:ext>
            </a:extLst>
          </p:cNvPr>
          <p:cNvCxnSpPr>
            <a:cxnSpLocks/>
          </p:cNvCxnSpPr>
          <p:nvPr userDrawn="1"/>
        </p:nvCxnSpPr>
        <p:spPr>
          <a:xfrm>
            <a:off x="790575" y="20304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5747F-1017-4D31-5505-A8430B838C69}"/>
              </a:ext>
            </a:extLst>
          </p:cNvPr>
          <p:cNvCxnSpPr>
            <a:cxnSpLocks/>
          </p:cNvCxnSpPr>
          <p:nvPr userDrawn="1"/>
        </p:nvCxnSpPr>
        <p:spPr>
          <a:xfrm>
            <a:off x="790575" y="44532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3FABCA-D867-B923-AEC5-2529DDAF191A}"/>
              </a:ext>
            </a:extLst>
          </p:cNvPr>
          <p:cNvCxnSpPr>
            <a:cxnSpLocks/>
          </p:cNvCxnSpPr>
          <p:nvPr userDrawn="1"/>
        </p:nvCxnSpPr>
        <p:spPr>
          <a:xfrm>
            <a:off x="14040000" y="2030400"/>
            <a:ext cx="0" cy="2422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A522AD-270D-814A-95B1-9E0337444A84}"/>
              </a:ext>
            </a:extLst>
          </p:cNvPr>
          <p:cNvCxnSpPr>
            <a:cxnSpLocks/>
          </p:cNvCxnSpPr>
          <p:nvPr userDrawn="1"/>
        </p:nvCxnSpPr>
        <p:spPr>
          <a:xfrm>
            <a:off x="792000" y="286560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p:fade/>
  </p:transition>
  <p:hf sldNum="0" hdr="0" dt="0"/>
  <p:txStyles>
    <p:titleStyle>
      <a:lvl1pPr algn="l" defTabSz="1202763" rtl="0" eaLnBrk="1" latinLnBrk="0" hangingPunct="1">
        <a:lnSpc>
          <a:spcPct val="90000"/>
        </a:lnSpc>
        <a:spcBef>
          <a:spcPct val="0"/>
        </a:spcBef>
        <a:buNone/>
        <a:defRPr sz="4200" b="0" kern="1200">
          <a:solidFill>
            <a:schemeClr val="accent1"/>
          </a:solidFill>
          <a:latin typeface="+mj-lt"/>
          <a:ea typeface="+mj-ea"/>
          <a:cs typeface="+mj-cs"/>
        </a:defRPr>
      </a:lvl1pPr>
    </p:titleStyle>
    <p:bodyStyle>
      <a:lvl1pPr marL="0" indent="0" algn="l" defTabSz="1202763"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26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202763" rtl="0" eaLnBrk="1" latinLnBrk="0" hangingPunct="1">
        <a:defRPr sz="2600" kern="1200">
          <a:solidFill>
            <a:schemeClr val="tx1"/>
          </a:solidFill>
          <a:latin typeface="+mn-lt"/>
          <a:ea typeface="+mn-ea"/>
          <a:cs typeface="+mn-cs"/>
        </a:defRPr>
      </a:lvl1pPr>
      <a:lvl2pPr marL="601381" algn="l" defTabSz="1202763" rtl="0" eaLnBrk="1" latinLnBrk="0" hangingPunct="1">
        <a:defRPr sz="2600" kern="1200">
          <a:solidFill>
            <a:schemeClr val="tx1"/>
          </a:solidFill>
          <a:latin typeface="+mn-lt"/>
          <a:ea typeface="+mn-ea"/>
          <a:cs typeface="+mn-cs"/>
        </a:defRPr>
      </a:lvl2pPr>
      <a:lvl3pPr marL="1202763" algn="l" defTabSz="1202763" rtl="0" eaLnBrk="1" latinLnBrk="0" hangingPunct="1">
        <a:defRPr sz="2600" kern="1200">
          <a:solidFill>
            <a:schemeClr val="tx1"/>
          </a:solidFill>
          <a:latin typeface="+mn-lt"/>
          <a:ea typeface="+mn-ea"/>
          <a:cs typeface="+mn-cs"/>
        </a:defRPr>
      </a:lvl3pPr>
      <a:lvl4pPr marL="1804144" algn="l" defTabSz="1202763" rtl="0" eaLnBrk="1" latinLnBrk="0" hangingPunct="1">
        <a:defRPr sz="2600" kern="1200">
          <a:solidFill>
            <a:schemeClr val="tx1"/>
          </a:solidFill>
          <a:latin typeface="+mn-lt"/>
          <a:ea typeface="+mn-ea"/>
          <a:cs typeface="+mn-cs"/>
        </a:defRPr>
      </a:lvl4pPr>
      <a:lvl5pPr marL="2405526" algn="l" defTabSz="1202763" rtl="0" eaLnBrk="1" latinLnBrk="0" hangingPunct="1">
        <a:defRPr sz="2600" kern="1200">
          <a:solidFill>
            <a:schemeClr val="tx1"/>
          </a:solidFill>
          <a:latin typeface="+mn-lt"/>
          <a:ea typeface="+mn-ea"/>
          <a:cs typeface="+mn-cs"/>
        </a:defRPr>
      </a:lvl5pPr>
      <a:lvl6pPr marL="3006907" algn="l" defTabSz="1202763" rtl="0" eaLnBrk="1" latinLnBrk="0" hangingPunct="1">
        <a:defRPr sz="2600" kern="1200">
          <a:solidFill>
            <a:schemeClr val="tx1"/>
          </a:solidFill>
          <a:latin typeface="+mn-lt"/>
          <a:ea typeface="+mn-ea"/>
          <a:cs typeface="+mn-cs"/>
        </a:defRPr>
      </a:lvl6pPr>
      <a:lvl7pPr marL="3608290" algn="l" defTabSz="1202763" rtl="0" eaLnBrk="1" latinLnBrk="0" hangingPunct="1">
        <a:defRPr sz="2600" kern="1200">
          <a:solidFill>
            <a:schemeClr val="tx1"/>
          </a:solidFill>
          <a:latin typeface="+mn-lt"/>
          <a:ea typeface="+mn-ea"/>
          <a:cs typeface="+mn-cs"/>
        </a:defRPr>
      </a:lvl7pPr>
      <a:lvl8pPr marL="4209670" algn="l" defTabSz="1202763" rtl="0" eaLnBrk="1" latinLnBrk="0" hangingPunct="1">
        <a:defRPr sz="2600" kern="1200">
          <a:solidFill>
            <a:schemeClr val="tx1"/>
          </a:solidFill>
          <a:latin typeface="+mn-lt"/>
          <a:ea typeface="+mn-ea"/>
          <a:cs typeface="+mn-cs"/>
        </a:defRPr>
      </a:lvl8pPr>
      <a:lvl9pPr marL="4811053" algn="l" defTabSz="1202763"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735" userDrawn="1">
          <p15:clr>
            <a:srgbClr val="F26B43"/>
          </p15:clr>
        </p15:guide>
        <p15:guide id="2" orient="horz" pos="9536" userDrawn="1">
          <p15:clr>
            <a:srgbClr val="F26B43"/>
          </p15:clr>
        </p15:guide>
        <p15:guide id="3" pos="498" userDrawn="1">
          <p15:clr>
            <a:srgbClr val="F26B43"/>
          </p15:clr>
        </p15:guide>
        <p15:guide id="4" pos="12972" userDrawn="1">
          <p15:clr>
            <a:srgbClr val="F26B43"/>
          </p15:clr>
        </p15:guide>
        <p15:guide id="5" orient="horz" pos="500" userDrawn="1">
          <p15:clr>
            <a:srgbClr val="F26B43"/>
          </p15:clr>
        </p15:guide>
        <p15:guide id="6" orient="horz" pos="18571" userDrawn="1">
          <p15:clr>
            <a:srgbClr val="F26B43"/>
          </p15:clr>
        </p15:guide>
        <p15:guide id="7" orient="horz" pos="17780" userDrawn="1">
          <p15:clr>
            <a:srgbClr val="F26B43"/>
          </p15:clr>
        </p15:guide>
        <p15:guide id="8" orient="horz" pos="3094" userDrawn="1">
          <p15:clr>
            <a:srgbClr val="F26B43"/>
          </p15:clr>
        </p15:guide>
        <p15:guide id="9" pos="8761" userDrawn="1">
          <p15:clr>
            <a:srgbClr val="F26B43"/>
          </p15:clr>
        </p15:guide>
        <p15:guide id="10" pos="8923" userDrawn="1">
          <p15:clr>
            <a:srgbClr val="F26B43"/>
          </p15:clr>
        </p15:guide>
        <p15:guide id="11" pos="4547" userDrawn="1">
          <p15:clr>
            <a:srgbClr val="F26B43"/>
          </p15:clr>
        </p15:guide>
        <p15:guide id="12" pos="4709"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FD2B-A843-E289-E2DF-12B8939D08B0}"/>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C9687D8C-79C5-BF4D-BF81-6144D90C0875}"/>
              </a:ext>
            </a:extLst>
          </p:cNvPr>
          <p:cNvSpPr>
            <a:spLocks noGrp="1"/>
          </p:cNvSpPr>
          <p:nvPr>
            <p:ph type="title"/>
          </p:nvPr>
        </p:nvSpPr>
        <p:spPr/>
        <p:txBody>
          <a:bodyPr/>
          <a:lstStyle/>
          <a:p>
            <a:r>
              <a:rPr lang="en-GB" sz="6000" dirty="0"/>
              <a:t>The Science of Quantifying Innovation</a:t>
            </a:r>
            <a:br>
              <a:rPr lang="en-GB" dirty="0"/>
            </a:br>
            <a:r>
              <a:rPr lang="en-GB" dirty="0"/>
              <a:t> </a:t>
            </a:r>
          </a:p>
        </p:txBody>
      </p:sp>
      <p:sp>
        <p:nvSpPr>
          <p:cNvPr id="4" name="Footer Placeholder 3">
            <a:extLst>
              <a:ext uri="{FF2B5EF4-FFF2-40B4-BE49-F238E27FC236}">
                <a16:creationId xmlns:a16="http://schemas.microsoft.com/office/drawing/2014/main" id="{3BCDEADC-3F47-1D06-E801-071FD19B0F1C}"/>
              </a:ext>
            </a:extLst>
          </p:cNvPr>
          <p:cNvSpPr>
            <a:spLocks noGrp="1"/>
          </p:cNvSpPr>
          <p:nvPr>
            <p:ph type="ftr" sz="quarter" idx="12"/>
          </p:nvPr>
        </p:nvSpPr>
        <p:spPr>
          <a:xfrm>
            <a:off x="11474046" y="28857092"/>
            <a:ext cx="9119003" cy="605999"/>
          </a:xfrm>
        </p:spPr>
        <p:txBody>
          <a:bodyPr/>
          <a:lstStyle/>
          <a:p>
            <a:r>
              <a:rPr lang="en-GB" dirty="0"/>
              <a:t>imperial.ac.uk</a:t>
            </a:r>
          </a:p>
        </p:txBody>
      </p:sp>
      <p:sp>
        <p:nvSpPr>
          <p:cNvPr id="20" name="Subtitle 19">
            <a:extLst>
              <a:ext uri="{FF2B5EF4-FFF2-40B4-BE49-F238E27FC236}">
                <a16:creationId xmlns:a16="http://schemas.microsoft.com/office/drawing/2014/main" id="{BBFC77CB-2AF4-49C8-4E19-CFEAE8ADBA1E}"/>
              </a:ext>
            </a:extLst>
          </p:cNvPr>
          <p:cNvSpPr>
            <a:spLocks noGrp="1"/>
          </p:cNvSpPr>
          <p:nvPr>
            <p:ph type="subTitle" idx="1"/>
          </p:nvPr>
        </p:nvSpPr>
        <p:spPr/>
        <p:txBody>
          <a:bodyPr/>
          <a:lstStyle/>
          <a:p>
            <a:r>
              <a:rPr lang="en-GB" dirty="0"/>
              <a:t>Theoretical Physics Group</a:t>
            </a:r>
          </a:p>
          <a:p>
            <a:r>
              <a:rPr lang="en-GB" dirty="0"/>
              <a:t>Sid Diamond,</a:t>
            </a:r>
          </a:p>
          <a:p>
            <a:r>
              <a:rPr lang="en-GB" dirty="0"/>
              <a:t>Supervisor: Tim Evans,</a:t>
            </a:r>
          </a:p>
        </p:txBody>
      </p:sp>
      <p:sp>
        <p:nvSpPr>
          <p:cNvPr id="77" name="Text Placeholder 76">
            <a:extLst>
              <a:ext uri="{FF2B5EF4-FFF2-40B4-BE49-F238E27FC236}">
                <a16:creationId xmlns:a16="http://schemas.microsoft.com/office/drawing/2014/main" id="{19CD4B66-8497-A520-F2DA-98A1685120DD}"/>
              </a:ext>
            </a:extLst>
          </p:cNvPr>
          <p:cNvSpPr>
            <a:spLocks noGrp="1"/>
          </p:cNvSpPr>
          <p:nvPr>
            <p:ph type="body" sz="quarter" idx="20"/>
          </p:nvPr>
        </p:nvSpPr>
        <p:spPr>
          <a:xfrm>
            <a:off x="7547740" y="22189953"/>
            <a:ext cx="13117511" cy="411909"/>
          </a:xfrm>
        </p:spPr>
        <p:txBody>
          <a:bodyPr/>
          <a:lstStyle/>
          <a:p>
            <a:r>
              <a:rPr lang="en-GB" dirty="0"/>
              <a:t>Image caption or credit goes here and can break over multiple lines as required 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Maecenas </a:t>
            </a:r>
            <a:r>
              <a:rPr lang="en-GB" dirty="0" err="1"/>
              <a:t>porttitor</a:t>
            </a:r>
            <a:r>
              <a:rPr lang="en-GB" dirty="0"/>
              <a:t> </a:t>
            </a:r>
            <a:r>
              <a:rPr lang="en-GB" dirty="0" err="1"/>
              <a:t>congue</a:t>
            </a:r>
            <a:r>
              <a:rPr lang="en-GB" dirty="0"/>
              <a:t> </a:t>
            </a:r>
            <a:r>
              <a:rPr lang="en-GB" dirty="0" err="1"/>
              <a:t>massa</a:t>
            </a:r>
            <a:r>
              <a:rPr lang="en-GB" dirty="0"/>
              <a:t>. </a:t>
            </a:r>
            <a:r>
              <a:rPr lang="en-GB" dirty="0" err="1"/>
              <a:t>Fusce</a:t>
            </a:r>
            <a:r>
              <a:rPr lang="en-GB" dirty="0"/>
              <a:t> </a:t>
            </a:r>
            <a:r>
              <a:rPr lang="en-GB" dirty="0" err="1"/>
              <a:t>posuere</a:t>
            </a:r>
            <a:r>
              <a:rPr lang="en-GB" dirty="0"/>
              <a:t>, magna </a:t>
            </a:r>
            <a:r>
              <a:rPr lang="en-GB" dirty="0" err="1"/>
              <a:t>sed</a:t>
            </a:r>
            <a:r>
              <a:rPr lang="en-GB" dirty="0"/>
              <a:t> pulvinar </a:t>
            </a:r>
            <a:r>
              <a:rPr lang="en-GB" dirty="0" err="1"/>
              <a:t>ultricies</a:t>
            </a:r>
            <a:r>
              <a:rPr lang="en-GB" dirty="0"/>
              <a:t>, </a:t>
            </a:r>
            <a:r>
              <a:rPr lang="en-GB" dirty="0" err="1"/>
              <a:t>purus</a:t>
            </a:r>
            <a:r>
              <a:rPr lang="en-GB" dirty="0"/>
              <a:t> </a:t>
            </a:r>
            <a:r>
              <a:rPr lang="en-GB" dirty="0" err="1"/>
              <a:t>lectus</a:t>
            </a:r>
            <a:r>
              <a:rPr lang="en-GB" dirty="0"/>
              <a:t> </a:t>
            </a:r>
            <a:r>
              <a:rPr lang="en-GB" dirty="0" err="1"/>
              <a:t>malesuada</a:t>
            </a:r>
            <a:r>
              <a:rPr lang="en-GB" dirty="0"/>
              <a:t> libero, sit </a:t>
            </a:r>
            <a:r>
              <a:rPr lang="en-GB" dirty="0" err="1"/>
              <a:t>amet</a:t>
            </a:r>
            <a:r>
              <a:rPr lang="en-GB" dirty="0"/>
              <a:t> </a:t>
            </a:r>
            <a:r>
              <a:rPr lang="en-GB" dirty="0" err="1"/>
              <a:t>commodo</a:t>
            </a:r>
            <a:r>
              <a:rPr lang="en-GB" dirty="0"/>
              <a:t> magna eros </a:t>
            </a:r>
            <a:r>
              <a:rPr lang="en-GB" dirty="0" err="1"/>
              <a:t>quis</a:t>
            </a:r>
            <a:r>
              <a:rPr lang="en-GB" dirty="0"/>
              <a:t> </a:t>
            </a:r>
            <a:r>
              <a:rPr lang="en-GB" dirty="0" err="1"/>
              <a:t>urna</a:t>
            </a:r>
            <a:r>
              <a:rPr lang="en-GB" dirty="0"/>
              <a:t>. </a:t>
            </a:r>
            <a:r>
              <a:rPr lang="en-GB" dirty="0" err="1"/>
              <a:t>Pellentesque</a:t>
            </a:r>
            <a:r>
              <a:rPr lang="en-GB" dirty="0"/>
              <a:t> habitant morbi tristique senectus et netus et malesuada fames ac turpis egestas. Proin pharetra nonummy pede. Mauris et orci.</a:t>
            </a:r>
          </a:p>
          <a:p>
            <a:endParaRPr lang="en-GB" dirty="0"/>
          </a:p>
        </p:txBody>
      </p:sp>
      <p:pic>
        <p:nvPicPr>
          <p:cNvPr id="8" name="Picture Placeholder 7">
            <a:extLst>
              <a:ext uri="{FF2B5EF4-FFF2-40B4-BE49-F238E27FC236}">
                <a16:creationId xmlns:a16="http://schemas.microsoft.com/office/drawing/2014/main" id="{1E391FF0-D570-608E-FA18-8BC90B1AD711}"/>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t="21845" b="21845"/>
          <a:stretch>
            <a:fillRect/>
          </a:stretch>
        </p:blipFill>
        <p:spPr>
          <a:xfrm>
            <a:off x="14610297" y="5183807"/>
            <a:ext cx="4756913" cy="2679181"/>
          </a:xfrm>
          <a:prstGeom prst="rect">
            <a:avLst/>
          </a:prstGeom>
          <a:noFill/>
          <a:ln>
            <a:noFill/>
          </a:ln>
        </p:spPr>
      </p:pic>
      <p:sp>
        <p:nvSpPr>
          <p:cNvPr id="23" name="Content Placeholder 22">
            <a:extLst>
              <a:ext uri="{FF2B5EF4-FFF2-40B4-BE49-F238E27FC236}">
                <a16:creationId xmlns:a16="http://schemas.microsoft.com/office/drawing/2014/main" id="{9C5B59EC-F2D3-3060-2BD0-E3219684AA1A}"/>
              </a:ext>
            </a:extLst>
          </p:cNvPr>
          <p:cNvSpPr>
            <a:spLocks noGrp="1"/>
          </p:cNvSpPr>
          <p:nvPr>
            <p:ph type="body" sz="quarter" idx="26"/>
          </p:nvPr>
        </p:nvSpPr>
        <p:spPr>
          <a:xfrm>
            <a:off x="790576" y="4694953"/>
            <a:ext cx="6427788" cy="11121504"/>
          </a:xfrm>
        </p:spPr>
        <p:txBody>
          <a:bodyPr/>
          <a:lstStyle/>
          <a:p>
            <a:r>
              <a:rPr lang="en-GB" sz="4200" b="1" dirty="0">
                <a:solidFill>
                  <a:schemeClr val="tx2"/>
                </a:solidFill>
              </a:rPr>
              <a:t>Background</a:t>
            </a:r>
            <a:br>
              <a:rPr lang="en-GB" dirty="0"/>
            </a:br>
            <a:endParaRPr lang="en-GB" dirty="0"/>
          </a:p>
          <a:p>
            <a:pPr algn="just"/>
            <a:r>
              <a:rPr lang="en-GB" dirty="0"/>
              <a:t>How likely is it that a string theory paper receives 100 citations? How does this likelihood change if the researcher is female or otherwise? What if the paper is written in  English or otherwise? How does  predictive insight into a network’s topology allow us to locate how and where inefficiencies and non-level playing fields manifest. How can we reduce these effects?</a:t>
            </a:r>
          </a:p>
          <a:p>
            <a:pPr algn="just"/>
            <a:endParaRPr lang="en-GB" dirty="0"/>
          </a:p>
          <a:p>
            <a:pPr algn="just"/>
            <a:r>
              <a:rPr lang="en-GB" dirty="0"/>
              <a:t>We derive a new, more accurate, equation for measuring the probability that a node of a given type has a given citation count by adapting the Price model [1] to a homophilic network. Using an asymptotic limit approximation, our result converges to a distribution modelled by Beta functions (1) that, under Sterling’s approximation, becomes the literature standard, less accurate, power law result for a homophilic preferential attachment model (HPA)  [2].</a:t>
            </a:r>
          </a:p>
          <a:p>
            <a:pPr algn="just"/>
            <a:endParaRPr lang="en-GB" dirty="0"/>
          </a:p>
          <a:p>
            <a:pPr algn="just"/>
            <a:r>
              <a:rPr lang="en-GB" dirty="0"/>
              <a:t>We also derive a new statistical test better at providing an accurate goodness of fit (</a:t>
            </a:r>
            <a:r>
              <a:rPr lang="en-GB" dirty="0" err="1"/>
              <a:t>G.o.F</a:t>
            </a:r>
            <a:r>
              <a:rPr lang="en-GB" dirty="0"/>
              <a:t>) score  accounting for the network topology.</a:t>
            </a:r>
          </a:p>
          <a:p>
            <a:endParaRPr lang="en-GB" dirty="0"/>
          </a:p>
        </p:txBody>
      </p:sp>
      <p:sp>
        <p:nvSpPr>
          <p:cNvPr id="82" name="Text Placeholder 81">
            <a:extLst>
              <a:ext uri="{FF2B5EF4-FFF2-40B4-BE49-F238E27FC236}">
                <a16:creationId xmlns:a16="http://schemas.microsoft.com/office/drawing/2014/main" id="{49A48DAE-563C-CEAA-AA7B-DF7159D46202}"/>
              </a:ext>
            </a:extLst>
          </p:cNvPr>
          <p:cNvSpPr>
            <a:spLocks noGrp="1"/>
          </p:cNvSpPr>
          <p:nvPr>
            <p:ph type="body" sz="quarter" idx="30"/>
          </p:nvPr>
        </p:nvSpPr>
        <p:spPr>
          <a:xfrm>
            <a:off x="7408016" y="25338147"/>
            <a:ext cx="5973429" cy="3463750"/>
          </a:xfrm>
        </p:spPr>
        <p:txBody>
          <a:bodyPr/>
          <a:lstStyle/>
          <a:p>
            <a:pPr lvl="6"/>
            <a:r>
              <a:rPr lang="en-GB" sz="12000" dirty="0"/>
              <a:t>83%</a:t>
            </a:r>
          </a:p>
          <a:p>
            <a:pPr algn="just"/>
            <a:r>
              <a:rPr lang="en-GB" dirty="0"/>
              <a:t>Of total citations can be modelled for the </a:t>
            </a:r>
            <a:r>
              <a:rPr lang="en-GB" dirty="0" err="1"/>
              <a:t>ArXiV</a:t>
            </a:r>
            <a:r>
              <a:rPr lang="en-GB" dirty="0"/>
              <a:t> High Energy Physics (string theory) papers database of 28,000 papers using our theory, according to our </a:t>
            </a:r>
            <a:r>
              <a:rPr lang="en-GB" dirty="0" err="1"/>
              <a:t>G.oF</a:t>
            </a:r>
            <a:r>
              <a:rPr lang="en-GB" dirty="0"/>
              <a:t>. test. </a:t>
            </a:r>
          </a:p>
        </p:txBody>
      </p:sp>
      <p:sp>
        <p:nvSpPr>
          <p:cNvPr id="83" name="Text Placeholder 82">
            <a:extLst>
              <a:ext uri="{FF2B5EF4-FFF2-40B4-BE49-F238E27FC236}">
                <a16:creationId xmlns:a16="http://schemas.microsoft.com/office/drawing/2014/main" id="{1B759BEF-A493-B315-EFC4-7D63FCFF09B3}"/>
              </a:ext>
            </a:extLst>
          </p:cNvPr>
          <p:cNvSpPr>
            <a:spLocks noGrp="1"/>
          </p:cNvSpPr>
          <p:nvPr>
            <p:ph type="body" sz="quarter" idx="31"/>
          </p:nvPr>
        </p:nvSpPr>
        <p:spPr>
          <a:xfrm>
            <a:off x="13788875" y="25267211"/>
            <a:ext cx="6427788" cy="3188686"/>
          </a:xfrm>
        </p:spPr>
        <p:txBody>
          <a:bodyPr/>
          <a:lstStyle/>
          <a:p>
            <a:pPr lvl="5" algn="just"/>
            <a:r>
              <a:rPr lang="en-GB" b="1" dirty="0">
                <a:latin typeface="+mn-lt"/>
              </a:rPr>
              <a:t>Next Steps</a:t>
            </a:r>
          </a:p>
          <a:p>
            <a:pPr algn="just"/>
            <a:r>
              <a:rPr lang="en-GB" dirty="0"/>
              <a:t>With both our theory and </a:t>
            </a:r>
            <a:r>
              <a:rPr lang="en-GB" dirty="0" err="1"/>
              <a:t>G.o.F</a:t>
            </a:r>
            <a:r>
              <a:rPr lang="en-GB" dirty="0"/>
              <a:t> test in place, the current work we are doing is attempting to exploit a literature gap on applying this analysis to real patent citation databases to better understand the process of innovation. </a:t>
            </a:r>
          </a:p>
        </p:txBody>
      </p:sp>
      <p:pic>
        <p:nvPicPr>
          <p:cNvPr id="30" name="Picture Placeholder 29">
            <a:extLst>
              <a:ext uri="{FF2B5EF4-FFF2-40B4-BE49-F238E27FC236}">
                <a16:creationId xmlns:a16="http://schemas.microsoft.com/office/drawing/2014/main" id="{2F4695F8-9214-01FA-BDC8-80984CEBCE57}"/>
              </a:ext>
            </a:extLst>
          </p:cNvPr>
          <p:cNvPicPr>
            <a:picLocks noGrp="1" noChangeAspect="1"/>
          </p:cNvPicPr>
          <p:nvPr>
            <p:ph type="pic" sz="quarter" idx="25"/>
          </p:nvPr>
        </p:nvPicPr>
        <p:blipFill>
          <a:blip r:embed="rId3">
            <a:extLst>
              <a:ext uri="{28A0092B-C50C-407E-A947-70E740481C1C}">
                <a14:useLocalDpi xmlns:a14="http://schemas.microsoft.com/office/drawing/2010/main" val="0"/>
              </a:ext>
            </a:extLst>
          </a:blip>
          <a:srcRect t="21845" b="21845"/>
          <a:stretch>
            <a:fillRect/>
          </a:stretch>
        </p:blipFill>
        <p:spPr>
          <a:xfrm>
            <a:off x="7801041" y="8304910"/>
            <a:ext cx="6190184" cy="3486426"/>
          </a:xfrm>
          <a:prstGeom prst="rect">
            <a:avLst/>
          </a:prstGeom>
          <a:noFill/>
          <a:ln>
            <a:noFill/>
          </a:ln>
        </p:spPr>
      </p:pic>
      <p:pic>
        <p:nvPicPr>
          <p:cNvPr id="28" name="Content Placeholder 26">
            <a:extLst>
              <a:ext uri="{FF2B5EF4-FFF2-40B4-BE49-F238E27FC236}">
                <a16:creationId xmlns:a16="http://schemas.microsoft.com/office/drawing/2014/main" id="{9C879CC2-5D2F-701A-D1FC-7DAC7B7F3F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5997" y="5338447"/>
            <a:ext cx="6438755" cy="2368449"/>
          </a:xfrm>
          <a:prstGeom prst="rect">
            <a:avLst/>
          </a:prstGeom>
        </p:spPr>
      </p:pic>
      <p:sp>
        <p:nvSpPr>
          <p:cNvPr id="32" name="TextBox 31">
            <a:extLst>
              <a:ext uri="{FF2B5EF4-FFF2-40B4-BE49-F238E27FC236}">
                <a16:creationId xmlns:a16="http://schemas.microsoft.com/office/drawing/2014/main" id="{2B33CAB5-F7FA-B3B7-D0F2-C9296999A933}"/>
              </a:ext>
            </a:extLst>
          </p:cNvPr>
          <p:cNvSpPr txBox="1"/>
          <p:nvPr/>
        </p:nvSpPr>
        <p:spPr>
          <a:xfrm>
            <a:off x="14165261" y="8805222"/>
            <a:ext cx="5901485" cy="3293209"/>
          </a:xfrm>
          <a:prstGeom prst="rect">
            <a:avLst/>
          </a:prstGeom>
          <a:noFill/>
        </p:spPr>
        <p:txBody>
          <a:bodyPr wrap="square">
            <a:spAutoFit/>
          </a:bodyPr>
          <a:lstStyle/>
          <a:p>
            <a:pPr algn="just"/>
            <a:r>
              <a:rPr lang="en-GB" sz="2600" dirty="0"/>
              <a:t>A citation between two papers has encoded temporal direction. One cites and one receives citation. By representing, as nodes, all the papers and representing, as directed edges, all the citations in a database, we can construct a Directed Acyclic Graph (DAG) representation of our network. </a:t>
            </a:r>
          </a:p>
        </p:txBody>
      </p:sp>
      <p:pic>
        <p:nvPicPr>
          <p:cNvPr id="39" name="Content Placeholder 37">
            <a:extLst>
              <a:ext uri="{FF2B5EF4-FFF2-40B4-BE49-F238E27FC236}">
                <a16:creationId xmlns:a16="http://schemas.microsoft.com/office/drawing/2014/main" id="{CC12F6EA-A9A3-8AC4-D70B-4A81768B51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2603" y="16604163"/>
            <a:ext cx="6313544" cy="5299902"/>
          </a:xfrm>
          <a:prstGeom prst="rect">
            <a:avLst/>
          </a:prstGeom>
        </p:spPr>
      </p:pic>
      <p:pic>
        <p:nvPicPr>
          <p:cNvPr id="40" name="Content Placeholder 35">
            <a:extLst>
              <a:ext uri="{FF2B5EF4-FFF2-40B4-BE49-F238E27FC236}">
                <a16:creationId xmlns:a16="http://schemas.microsoft.com/office/drawing/2014/main" id="{51546C96-1029-325D-BF7E-2B8D075670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0575" y="22543741"/>
            <a:ext cx="6313546" cy="5299902"/>
          </a:xfrm>
          <a:prstGeom prst="rect">
            <a:avLst/>
          </a:prstGeom>
        </p:spPr>
      </p:pic>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090E17E1-9135-60E4-5903-0691F9E31772}"/>
                  </a:ext>
                </a:extLst>
              </p:cNvPr>
              <p:cNvSpPr txBox="1"/>
              <p:nvPr/>
            </p:nvSpPr>
            <p:spPr>
              <a:xfrm>
                <a:off x="13075429" y="15035417"/>
                <a:ext cx="7517620" cy="2095445"/>
              </a:xfrm>
              <a:prstGeom prst="rect">
                <a:avLst/>
              </a:prstGeom>
              <a:noFill/>
            </p:spPr>
            <p:txBody>
              <a:bodyPr wrap="square">
                <a:spAutoFit/>
              </a:bodyPr>
              <a:lstStyle/>
              <a:p>
                <a:pPr algn="just"/>
                <a:endParaRPr lang="en-GB" sz="2600" dirty="0"/>
              </a:p>
              <a:p>
                <a:pPr/>
                <a14:m>
                  <m:oMathPara xmlns:m="http://schemas.openxmlformats.org/officeDocument/2006/math">
                    <m:oMathParaPr>
                      <m:jc m:val="left"/>
                    </m:oMathParaPr>
                    <m:oMath xmlns:m="http://schemas.openxmlformats.org/officeDocument/2006/math">
                      <m:r>
                        <m:rPr>
                          <m:sty m:val="p"/>
                        </m:rPr>
                        <a:rPr lang="en-GB" sz="2600">
                          <a:latin typeface="Cambria Math" panose="02040503050406030204" pitchFamily="18" charset="0"/>
                        </a:rPr>
                        <m:t>t</m:t>
                      </m:r>
                      <m:r>
                        <a:rPr lang="en-GB" sz="2600">
                          <a:latin typeface="Cambria Math" panose="02040503050406030204" pitchFamily="18" charset="0"/>
                        </a:rPr>
                        <m:t>=</m:t>
                      </m:r>
                      <m:r>
                        <m:rPr>
                          <m:sty m:val="p"/>
                        </m:rPr>
                        <a:rPr lang="en-GB" sz="2600">
                          <a:latin typeface="Cambria Math" panose="02040503050406030204" pitchFamily="18" charset="0"/>
                        </a:rPr>
                        <m:t>network</m:t>
                      </m:r>
                      <m:r>
                        <a:rPr lang="en-GB" sz="2600">
                          <a:latin typeface="Cambria Math" panose="02040503050406030204" pitchFamily="18" charset="0"/>
                        </a:rPr>
                        <m:t> </m:t>
                      </m:r>
                      <m:r>
                        <m:rPr>
                          <m:sty m:val="p"/>
                        </m:rPr>
                        <a:rPr lang="en-GB" sz="2600">
                          <a:latin typeface="Cambria Math" panose="02040503050406030204" pitchFamily="18" charset="0"/>
                        </a:rPr>
                        <m:t>timestep</m:t>
                      </m:r>
                      <m:r>
                        <a:rPr lang="en-GB" sz="2600">
                          <a:latin typeface="Cambria Math" panose="02040503050406030204" pitchFamily="18" charset="0"/>
                        </a:rPr>
                        <m:t>=</m:t>
                      </m:r>
                      <m:r>
                        <m:rPr>
                          <m:sty m:val="p"/>
                        </m:rPr>
                        <a:rPr lang="en-GB" sz="2600">
                          <a:latin typeface="Cambria Math" panose="02040503050406030204" pitchFamily="18" charset="0"/>
                        </a:rPr>
                        <m:t>number</m:t>
                      </m:r>
                      <m:r>
                        <a:rPr lang="en-GB" sz="2600">
                          <a:latin typeface="Cambria Math" panose="02040503050406030204" pitchFamily="18" charset="0"/>
                        </a:rPr>
                        <m:t> </m:t>
                      </m:r>
                      <m:r>
                        <m:rPr>
                          <m:sty m:val="p"/>
                        </m:rPr>
                        <a:rPr lang="en-GB" sz="2600">
                          <a:latin typeface="Cambria Math" panose="02040503050406030204" pitchFamily="18" charset="0"/>
                        </a:rPr>
                        <m:t>of</m:t>
                      </m:r>
                      <m:r>
                        <a:rPr lang="en-GB" sz="2600">
                          <a:latin typeface="Cambria Math" panose="02040503050406030204" pitchFamily="18" charset="0"/>
                        </a:rPr>
                        <m:t> </m:t>
                      </m:r>
                      <m:r>
                        <m:rPr>
                          <m:sty m:val="p"/>
                        </m:rPr>
                        <a:rPr lang="en-GB" sz="2600">
                          <a:latin typeface="Cambria Math" panose="02040503050406030204" pitchFamily="18" charset="0"/>
                        </a:rPr>
                        <m:t>papers</m:t>
                      </m:r>
                    </m:oMath>
                  </m:oMathPara>
                </a14:m>
                <a:endParaRPr lang="en-GB" sz="2600" b="0" i="0" dirty="0">
                  <a:solidFill>
                    <a:schemeClr val="tx1"/>
                  </a:solidFill>
                  <a:latin typeface="Cambria Math" panose="02040503050406030204" pitchFamily="18" charset="0"/>
                </a:endParaRPr>
              </a:p>
              <a:p>
                <a:pPr algn="just"/>
                <a14:m>
                  <m:oMath xmlns:m="http://schemas.openxmlformats.org/officeDocument/2006/math">
                    <m:r>
                      <m:rPr>
                        <m:sty m:val="p"/>
                      </m:rPr>
                      <a:rPr lang="en-GB" sz="2600" b="0" i="0" smtClean="0">
                        <a:solidFill>
                          <a:schemeClr val="tx1"/>
                        </a:solidFill>
                        <a:latin typeface="Cambria Math" panose="02040503050406030204" pitchFamily="18" charset="0"/>
                      </a:rPr>
                      <m:t>h</m:t>
                    </m:r>
                    <m:r>
                      <a:rPr lang="en-GB" sz="2600" b="0" i="0" smtClean="0">
                        <a:solidFill>
                          <a:schemeClr val="tx1"/>
                        </a:solidFill>
                        <a:latin typeface="Cambria Math" panose="02040503050406030204" pitchFamily="18" charset="0"/>
                      </a:rPr>
                      <m:t>=</m:t>
                    </m:r>
                    <m:sSub>
                      <m:sSubPr>
                        <m:ctrlPr>
                          <a:rPr lang="en-GB" sz="2600" b="0" i="1" smtClean="0">
                            <a:solidFill>
                              <a:schemeClr val="tx1"/>
                            </a:solidFill>
                            <a:latin typeface="Cambria Math" panose="02040503050406030204" pitchFamily="18" charset="0"/>
                          </a:rPr>
                        </m:ctrlPr>
                      </m:sSubPr>
                      <m:e>
                        <m:r>
                          <m:rPr>
                            <m:sty m:val="p"/>
                          </m:rPr>
                          <a:rPr lang="en-GB" sz="2600" b="0" i="0" smtClean="0">
                            <a:solidFill>
                              <a:schemeClr val="tx1"/>
                            </a:solidFill>
                            <a:latin typeface="Cambria Math" panose="02040503050406030204" pitchFamily="18" charset="0"/>
                          </a:rPr>
                          <m:t>h</m:t>
                        </m:r>
                      </m:e>
                      <m:sub>
                        <m:r>
                          <m:rPr>
                            <m:sty m:val="p"/>
                          </m:rPr>
                          <a:rPr lang="en-GB" sz="2600" b="0" i="0" smtClean="0">
                            <a:solidFill>
                              <a:schemeClr val="tx1"/>
                            </a:solidFill>
                            <a:latin typeface="Cambria Math" panose="02040503050406030204" pitchFamily="18" charset="0"/>
                          </a:rPr>
                          <m:t>xx</m:t>
                        </m:r>
                      </m:sub>
                    </m:sSub>
                    <m:r>
                      <a:rPr lang="en-GB" sz="2600" b="0" i="0" smtClean="0">
                        <a:solidFill>
                          <a:schemeClr val="tx1"/>
                        </a:solidFill>
                        <a:latin typeface="Cambria Math" panose="02040503050406030204" pitchFamily="18" charset="0"/>
                      </a:rPr>
                      <m:t>=</m:t>
                    </m:r>
                    <m:sSub>
                      <m:sSubPr>
                        <m:ctrlPr>
                          <a:rPr lang="en-GB" sz="2600" b="0" i="1" smtClean="0">
                            <a:solidFill>
                              <a:schemeClr val="tx1"/>
                            </a:solidFill>
                            <a:latin typeface="Cambria Math" panose="02040503050406030204" pitchFamily="18" charset="0"/>
                          </a:rPr>
                        </m:ctrlPr>
                      </m:sSubPr>
                      <m:e>
                        <m:r>
                          <m:rPr>
                            <m:sty m:val="p"/>
                          </m:rPr>
                          <a:rPr lang="en-GB" sz="2600" b="0" i="0" smtClean="0">
                            <a:solidFill>
                              <a:schemeClr val="tx1"/>
                            </a:solidFill>
                            <a:latin typeface="Cambria Math" panose="02040503050406030204" pitchFamily="18" charset="0"/>
                          </a:rPr>
                          <m:t>h</m:t>
                        </m:r>
                      </m:e>
                      <m:sub>
                        <m:sSup>
                          <m:sSupPr>
                            <m:ctrlPr>
                              <a:rPr lang="en-GB" sz="2600" b="0" i="1" smtClean="0">
                                <a:solidFill>
                                  <a:schemeClr val="tx1"/>
                                </a:solidFill>
                                <a:latin typeface="Cambria Math" panose="02040503050406030204" pitchFamily="18" charset="0"/>
                              </a:rPr>
                            </m:ctrlPr>
                          </m:sSupPr>
                          <m:e>
                            <m:r>
                              <m:rPr>
                                <m:sty m:val="p"/>
                              </m:rPr>
                              <a:rPr lang="en-GB" sz="2600" b="0" i="0" smtClean="0">
                                <a:solidFill>
                                  <a:schemeClr val="tx1"/>
                                </a:solidFill>
                                <a:latin typeface="Cambria Math" panose="02040503050406030204" pitchFamily="18" charset="0"/>
                              </a:rPr>
                              <m:t>x</m:t>
                            </m:r>
                          </m:e>
                          <m:sup>
                            <m:r>
                              <a:rPr lang="en-GB" sz="2600" b="0" i="0" smtClean="0">
                                <a:solidFill>
                                  <a:schemeClr val="tx1"/>
                                </a:solidFill>
                                <a:latin typeface="Cambria Math" panose="02040503050406030204" pitchFamily="18" charset="0"/>
                              </a:rPr>
                              <m:t>′</m:t>
                            </m:r>
                          </m:sup>
                        </m:sSup>
                        <m:sSup>
                          <m:sSupPr>
                            <m:ctrlPr>
                              <a:rPr lang="en-GB" sz="2600" b="0" i="1" smtClean="0">
                                <a:solidFill>
                                  <a:schemeClr val="tx1"/>
                                </a:solidFill>
                                <a:latin typeface="Cambria Math" panose="02040503050406030204" pitchFamily="18" charset="0"/>
                              </a:rPr>
                            </m:ctrlPr>
                          </m:sSupPr>
                          <m:e>
                            <m:r>
                              <m:rPr>
                                <m:sty m:val="p"/>
                              </m:rPr>
                              <a:rPr lang="en-GB" sz="2600" b="0" i="0" smtClean="0">
                                <a:solidFill>
                                  <a:schemeClr val="tx1"/>
                                </a:solidFill>
                                <a:latin typeface="Cambria Math" panose="02040503050406030204" pitchFamily="18" charset="0"/>
                              </a:rPr>
                              <m:t>x</m:t>
                            </m:r>
                          </m:e>
                          <m:sup>
                            <m:r>
                              <a:rPr lang="en-GB" sz="2600" b="0" i="0" smtClean="0">
                                <a:solidFill>
                                  <a:schemeClr val="tx1"/>
                                </a:solidFill>
                                <a:latin typeface="Cambria Math" panose="02040503050406030204" pitchFamily="18" charset="0"/>
                              </a:rPr>
                              <m:t>′</m:t>
                            </m:r>
                          </m:sup>
                        </m:sSup>
                      </m:sub>
                    </m:sSub>
                    <m:r>
                      <a:rPr lang="en-GB" sz="2600" b="0" i="0" smtClean="0">
                        <a:solidFill>
                          <a:schemeClr val="tx1"/>
                        </a:solidFill>
                        <a:latin typeface="Cambria Math" panose="02040503050406030204" pitchFamily="18" charset="0"/>
                      </a:rPr>
                      <m:t>=</m:t>
                    </m:r>
                    <m:r>
                      <m:rPr>
                        <m:sty m:val="p"/>
                      </m:rPr>
                      <a:rPr lang="en-GB" sz="2600" b="0" i="0" smtClean="0">
                        <a:solidFill>
                          <a:schemeClr val="tx1"/>
                        </a:solidFill>
                        <a:latin typeface="Cambria Math" panose="02040503050406030204" pitchFamily="18" charset="0"/>
                      </a:rPr>
                      <m:t>across</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type</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weight</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of</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attraction</m:t>
                    </m:r>
                  </m:oMath>
                </a14:m>
                <a:r>
                  <a:rPr lang="en-GB" sz="2600" dirty="0"/>
                  <a:t> </a:t>
                </a:r>
                <a14:m>
                  <m:oMath xmlns:m="http://schemas.openxmlformats.org/officeDocument/2006/math">
                    <m:r>
                      <m:rPr>
                        <m:sty m:val="p"/>
                      </m:rPr>
                      <a:rPr lang="en-GB" sz="2600" b="0" i="0" smtClean="0">
                        <a:solidFill>
                          <a:schemeClr val="tx1"/>
                        </a:solidFill>
                        <a:latin typeface="Cambria Math" panose="02040503050406030204" pitchFamily="18" charset="0"/>
                      </a:rPr>
                      <m:t>h</m:t>
                    </m:r>
                    <m:r>
                      <a:rPr lang="en-GB" sz="2600" b="0" i="0" smtClean="0">
                        <a:solidFill>
                          <a:schemeClr val="tx1"/>
                        </a:solidFill>
                        <a:latin typeface="Cambria Math" panose="02040503050406030204" pitchFamily="18" charset="0"/>
                      </a:rPr>
                      <m:t>=0⇒</m:t>
                    </m:r>
                    <m:r>
                      <m:rPr>
                        <m:sty m:val="p"/>
                      </m:rPr>
                      <a:rPr lang="en-GB" sz="2600" b="0" i="0" smtClean="0">
                        <a:solidFill>
                          <a:schemeClr val="tx1"/>
                        </a:solidFill>
                        <a:latin typeface="Cambria Math" panose="02040503050406030204" pitchFamily="18" charset="0"/>
                      </a:rPr>
                      <m:t>no</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citations</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from</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one</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group</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to</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other</m:t>
                    </m:r>
                  </m:oMath>
                </a14:m>
                <a:endParaRPr lang="en-GB" sz="2600" dirty="0"/>
              </a:p>
              <a:p>
                <a:pPr algn="just"/>
                <a14:m>
                  <m:oMath xmlns:m="http://schemas.openxmlformats.org/officeDocument/2006/math">
                    <m:r>
                      <m:rPr>
                        <m:sty m:val="p"/>
                      </m:rPr>
                      <a:rPr lang="en-GB" sz="2600" i="0">
                        <a:latin typeface="Cambria Math" panose="02040503050406030204" pitchFamily="18" charset="0"/>
                      </a:rPr>
                      <m:t>h</m:t>
                    </m:r>
                    <m:r>
                      <a:rPr lang="en-GB" sz="2600" i="0">
                        <a:latin typeface="Cambria Math" panose="02040503050406030204" pitchFamily="18" charset="0"/>
                      </a:rPr>
                      <m:t>=1⇒</m:t>
                    </m:r>
                    <m:r>
                      <m:rPr>
                        <m:sty m:val="p"/>
                      </m:rPr>
                      <a:rPr lang="en-GB" sz="2600">
                        <a:latin typeface="Cambria Math" panose="02040503050406030204" pitchFamily="18" charset="0"/>
                      </a:rPr>
                      <m:t>no</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citations</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between</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same</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group</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members</m:t>
                    </m:r>
                  </m:oMath>
                </a14:m>
                <a:r>
                  <a:rPr lang="en-GB" sz="2600" dirty="0"/>
                  <a:t> </a:t>
                </a:r>
              </a:p>
            </p:txBody>
          </p:sp>
        </mc:Choice>
        <mc:Fallback>
          <p:sp>
            <p:nvSpPr>
              <p:cNvPr id="54" name="TextBox 53">
                <a:extLst>
                  <a:ext uri="{FF2B5EF4-FFF2-40B4-BE49-F238E27FC236}">
                    <a16:creationId xmlns:a16="http://schemas.microsoft.com/office/drawing/2014/main" id="{090E17E1-9135-60E4-5903-0691F9E31772}"/>
                  </a:ext>
                </a:extLst>
              </p:cNvPr>
              <p:cNvSpPr txBox="1">
                <a:spLocks noRot="1" noChangeAspect="1" noMove="1" noResize="1" noEditPoints="1" noAdjustHandles="1" noChangeArrowheads="1" noChangeShapeType="1" noTextEdit="1"/>
              </p:cNvSpPr>
              <p:nvPr/>
            </p:nvSpPr>
            <p:spPr>
              <a:xfrm>
                <a:off x="13075429" y="15035417"/>
                <a:ext cx="7517620" cy="2095445"/>
              </a:xfrm>
              <a:prstGeom prst="rect">
                <a:avLst/>
              </a:prstGeom>
              <a:blipFill>
                <a:blip r:embed="rId7"/>
                <a:stretch>
                  <a:fillRect/>
                </a:stretch>
              </a:blipFill>
            </p:spPr>
            <p:txBody>
              <a:bodyPr/>
              <a:lstStyle/>
              <a:p>
                <a:r>
                  <a:rPr lang="en-GB">
                    <a:noFill/>
                  </a:rPr>
                  <a:t> </a:t>
                </a:r>
              </a:p>
            </p:txBody>
          </p:sp>
        </mc:Fallback>
      </mc:AlternateContent>
      <p:pic>
        <p:nvPicPr>
          <p:cNvPr id="57" name="Picture 56">
            <a:extLst>
              <a:ext uri="{FF2B5EF4-FFF2-40B4-BE49-F238E27FC236}">
                <a16:creationId xmlns:a16="http://schemas.microsoft.com/office/drawing/2014/main" id="{A1114ADB-A112-FE1E-6F10-9FCEAC9E4F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16815" y="17096661"/>
            <a:ext cx="12782546" cy="5046951"/>
          </a:xfrm>
          <a:prstGeom prst="rect">
            <a:avLst/>
          </a:prstGeom>
        </p:spPr>
      </p:pic>
      <p:sp>
        <p:nvSpPr>
          <p:cNvPr id="62" name="TextBox 61">
            <a:extLst>
              <a:ext uri="{FF2B5EF4-FFF2-40B4-BE49-F238E27FC236}">
                <a16:creationId xmlns:a16="http://schemas.microsoft.com/office/drawing/2014/main" id="{7FA4A0EE-31C7-E588-8131-10AC1C1F59D9}"/>
              </a:ext>
            </a:extLst>
          </p:cNvPr>
          <p:cNvSpPr txBox="1"/>
          <p:nvPr/>
        </p:nvSpPr>
        <p:spPr>
          <a:xfrm>
            <a:off x="7696459" y="7772375"/>
            <a:ext cx="4953000" cy="417647"/>
          </a:xfrm>
          <a:prstGeom prst="rect">
            <a:avLst/>
          </a:prstGeom>
          <a:noFill/>
        </p:spPr>
        <p:txBody>
          <a:bodyPr wrap="square" lIns="0" tIns="0" rIns="0" bIns="0" rtlCol="0">
            <a:noAutofit/>
          </a:bodyPr>
          <a:lstStyle/>
          <a:p>
            <a:pPr algn="l">
              <a:lnSpc>
                <a:spcPct val="105000"/>
              </a:lnSpc>
            </a:pPr>
            <a:r>
              <a:rPr lang="en-GB" sz="1000" dirty="0"/>
              <a:t>Fig 1:  Directed Acyclic Graph DAG diagram containing 6 nodes, labelled from one to six</a:t>
            </a:r>
            <a:r>
              <a:rPr lang="en-GB" sz="2000" dirty="0"/>
              <a:t>. </a:t>
            </a:r>
            <a:endParaRPr lang="en-GB" sz="2000" dirty="0">
              <a:solidFill>
                <a:schemeClr val="tx1"/>
              </a:solidFill>
            </a:endParaRPr>
          </a:p>
        </p:txBody>
      </p:sp>
      <p:sp>
        <p:nvSpPr>
          <p:cNvPr id="63" name="TextBox 62">
            <a:extLst>
              <a:ext uri="{FF2B5EF4-FFF2-40B4-BE49-F238E27FC236}">
                <a16:creationId xmlns:a16="http://schemas.microsoft.com/office/drawing/2014/main" id="{35E93596-9100-79A1-1E15-512FFA35E24F}"/>
              </a:ext>
            </a:extLst>
          </p:cNvPr>
          <p:cNvSpPr txBox="1"/>
          <p:nvPr/>
        </p:nvSpPr>
        <p:spPr>
          <a:xfrm>
            <a:off x="7801041" y="12099155"/>
            <a:ext cx="4953000" cy="267164"/>
          </a:xfrm>
          <a:prstGeom prst="rect">
            <a:avLst/>
          </a:prstGeom>
          <a:noFill/>
        </p:spPr>
        <p:txBody>
          <a:bodyPr wrap="square" lIns="0" tIns="0" rIns="0" bIns="0" rtlCol="0">
            <a:noAutofit/>
          </a:bodyPr>
          <a:lstStyle/>
          <a:p>
            <a:pPr algn="l">
              <a:lnSpc>
                <a:spcPct val="105000"/>
              </a:lnSpc>
            </a:pPr>
            <a:r>
              <a:rPr lang="en-GB" sz="1000" dirty="0"/>
              <a:t>Fig 2: 50 Node HPA Network  with each node producing 3 edges.</a:t>
            </a:r>
            <a:endParaRPr lang="en-GB" sz="1000" dirty="0">
              <a:solidFill>
                <a:schemeClr val="tx1"/>
              </a:solidFill>
            </a:endParaRPr>
          </a:p>
        </p:txBody>
      </p:sp>
      <p:sp>
        <p:nvSpPr>
          <p:cNvPr id="65" name="TextBox 64">
            <a:extLst>
              <a:ext uri="{FF2B5EF4-FFF2-40B4-BE49-F238E27FC236}">
                <a16:creationId xmlns:a16="http://schemas.microsoft.com/office/drawing/2014/main" id="{18A835D0-41A1-DFFE-A276-4103A3ACC766}"/>
              </a:ext>
            </a:extLst>
          </p:cNvPr>
          <p:cNvSpPr txBox="1"/>
          <p:nvPr/>
        </p:nvSpPr>
        <p:spPr>
          <a:xfrm flipH="1">
            <a:off x="15445735" y="8240007"/>
            <a:ext cx="4592943" cy="245580"/>
          </a:xfrm>
          <a:prstGeom prst="rect">
            <a:avLst/>
          </a:prstGeom>
          <a:noFill/>
        </p:spPr>
        <p:txBody>
          <a:bodyPr wrap="square">
            <a:spAutoFit/>
          </a:bodyPr>
          <a:lstStyle/>
          <a:p>
            <a:pPr algn="l">
              <a:lnSpc>
                <a:spcPct val="105000"/>
              </a:lnSpc>
            </a:pPr>
            <a:r>
              <a:rPr lang="en-GB" sz="1000" dirty="0"/>
              <a:t>Fig 3: 20,000 Node HPA Network with 3 citations per node</a:t>
            </a:r>
            <a:endParaRPr lang="en-GB" sz="1000" dirty="0">
              <a:solidFill>
                <a:schemeClr val="tx1"/>
              </a:solidFill>
            </a:endParaRPr>
          </a:p>
        </p:txBody>
      </p:sp>
      <p:sp>
        <p:nvSpPr>
          <p:cNvPr id="69" name="TextBox 68">
            <a:extLst>
              <a:ext uri="{FF2B5EF4-FFF2-40B4-BE49-F238E27FC236}">
                <a16:creationId xmlns:a16="http://schemas.microsoft.com/office/drawing/2014/main" id="{1817F0A7-A884-8C01-056B-216A08ECFF41}"/>
              </a:ext>
            </a:extLst>
          </p:cNvPr>
          <p:cNvSpPr txBox="1"/>
          <p:nvPr/>
        </p:nvSpPr>
        <p:spPr>
          <a:xfrm>
            <a:off x="7408016" y="22543741"/>
            <a:ext cx="13514491" cy="2739211"/>
          </a:xfrm>
          <a:prstGeom prst="rect">
            <a:avLst/>
          </a:prstGeom>
          <a:noFill/>
        </p:spPr>
        <p:txBody>
          <a:bodyPr wrap="square">
            <a:spAutoFit/>
          </a:bodyPr>
          <a:lstStyle/>
          <a:p>
            <a:r>
              <a:rPr lang="en-GB" sz="4200" b="1" dirty="0">
                <a:solidFill>
                  <a:schemeClr val="tx2"/>
                </a:solidFill>
              </a:rPr>
              <a:t>Statistical Validation</a:t>
            </a:r>
          </a:p>
          <a:p>
            <a:endParaRPr lang="en-GB" sz="2600" dirty="0"/>
          </a:p>
          <a:p>
            <a:pPr algn="just"/>
            <a:r>
              <a:rPr lang="en-GB" sz="2600" dirty="0"/>
              <a:t>Nodes in HPA/homophilic Price networks are extremely coupled. </a:t>
            </a:r>
            <a:r>
              <a:rPr lang="en-GB" sz="2600" dirty="0" err="1"/>
              <a:t>G.o.F</a:t>
            </a:r>
            <a:r>
              <a:rPr lang="en-GB" sz="2600" dirty="0"/>
              <a:t> tests reliant on the existence of finite moments are therefore invalid. We create and use a new, better-suited, numerical </a:t>
            </a:r>
            <a:r>
              <a:rPr lang="en-GB" sz="2600" dirty="0" err="1"/>
              <a:t>G.o.F.</a:t>
            </a:r>
            <a:r>
              <a:rPr lang="en-GB" sz="2600" dirty="0"/>
              <a:t> test for heavy tailed coupled distributions, valid for assessing the amount of the network our theory is valid on for a large a variety of different network topologies.</a:t>
            </a:r>
          </a:p>
        </p:txBody>
      </p:sp>
      <p:sp>
        <p:nvSpPr>
          <p:cNvPr id="71" name="Text Placeholder 76">
            <a:extLst>
              <a:ext uri="{FF2B5EF4-FFF2-40B4-BE49-F238E27FC236}">
                <a16:creationId xmlns:a16="http://schemas.microsoft.com/office/drawing/2014/main" id="{631ABDBD-DBE5-4FEA-6511-51F4D5BA7088}"/>
              </a:ext>
            </a:extLst>
          </p:cNvPr>
          <p:cNvSpPr txBox="1">
            <a:spLocks/>
          </p:cNvSpPr>
          <p:nvPr/>
        </p:nvSpPr>
        <p:spPr>
          <a:xfrm>
            <a:off x="1084263" y="21756035"/>
            <a:ext cx="5610225" cy="867835"/>
          </a:xfrm>
          <a:prstGeom prst="rect">
            <a:avLst/>
          </a:prstGeom>
        </p:spPr>
        <p:txBody>
          <a:bodyPr vert="horz" lIns="0" tIns="0" rIns="0" bIns="0" rtlCol="0">
            <a:noAutofit/>
          </a:bodyPr>
          <a:lstStyle>
            <a:lvl1pPr marL="0" indent="0" algn="l" defTabSz="1202763" rtl="0" eaLnBrk="1" latinLnBrk="0" hangingPunct="1">
              <a:lnSpc>
                <a:spcPct val="105000"/>
              </a:lnSpc>
              <a:spcBef>
                <a:spcPts val="0"/>
              </a:spcBef>
              <a:buFont typeface="Arial" panose="020B0604020202020204" pitchFamily="34" charset="0"/>
              <a:buNone/>
              <a:defRPr sz="10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10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0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10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a:lstStyle>
          <a:p>
            <a:r>
              <a:rPr lang="en-GB" dirty="0"/>
              <a:t>Image caption or credit goes here and can break over multiple lines as required 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Maecenas </a:t>
            </a:r>
            <a:r>
              <a:rPr lang="en-GB" dirty="0" err="1"/>
              <a:t>porttitor</a:t>
            </a:r>
            <a:r>
              <a:rPr lang="en-GB" dirty="0"/>
              <a:t> </a:t>
            </a:r>
            <a:r>
              <a:rPr lang="en-GB" dirty="0" err="1"/>
              <a:t>congue</a:t>
            </a:r>
            <a:r>
              <a:rPr lang="en-GB" dirty="0"/>
              <a:t> </a:t>
            </a:r>
            <a:r>
              <a:rPr lang="en-GB" dirty="0" err="1"/>
              <a:t>massa</a:t>
            </a:r>
            <a:r>
              <a:rPr lang="en-GB" dirty="0"/>
              <a:t>. </a:t>
            </a:r>
            <a:r>
              <a:rPr lang="en-GB" dirty="0" err="1"/>
              <a:t>Fusce</a:t>
            </a:r>
            <a:r>
              <a:rPr lang="en-GB" dirty="0"/>
              <a:t> </a:t>
            </a:r>
            <a:r>
              <a:rPr lang="en-GB" dirty="0" err="1"/>
              <a:t>posuere</a:t>
            </a:r>
            <a:r>
              <a:rPr lang="en-GB" dirty="0"/>
              <a:t>, magna </a:t>
            </a:r>
            <a:r>
              <a:rPr lang="en-GB" dirty="0" err="1"/>
              <a:t>sed</a:t>
            </a:r>
            <a:r>
              <a:rPr lang="en-GB" dirty="0"/>
              <a:t> pulvinar </a:t>
            </a:r>
            <a:r>
              <a:rPr lang="en-GB" dirty="0" err="1"/>
              <a:t>ultricies</a:t>
            </a:r>
            <a:r>
              <a:rPr lang="en-GB" dirty="0"/>
              <a:t>, </a:t>
            </a:r>
            <a:r>
              <a:rPr lang="en-GB" dirty="0" err="1"/>
              <a:t>purus</a:t>
            </a:r>
            <a:r>
              <a:rPr lang="en-GB" dirty="0"/>
              <a:t> </a:t>
            </a:r>
            <a:r>
              <a:rPr lang="en-GB" dirty="0" err="1"/>
              <a:t>lectus</a:t>
            </a:r>
            <a:r>
              <a:rPr lang="en-GB" dirty="0"/>
              <a:t> </a:t>
            </a:r>
            <a:r>
              <a:rPr lang="en-GB" dirty="0" err="1"/>
              <a:t>malesuada</a:t>
            </a:r>
            <a:r>
              <a:rPr lang="en-GB" dirty="0"/>
              <a:t> libero, sit </a:t>
            </a:r>
            <a:r>
              <a:rPr lang="en-GB" dirty="0" err="1"/>
              <a:t>amet</a:t>
            </a:r>
            <a:r>
              <a:rPr lang="en-GB" dirty="0"/>
              <a:t> </a:t>
            </a:r>
            <a:r>
              <a:rPr lang="en-GB" dirty="0" err="1"/>
              <a:t>commodo</a:t>
            </a:r>
            <a:r>
              <a:rPr lang="en-GB" dirty="0"/>
              <a:t> magna eros </a:t>
            </a:r>
            <a:r>
              <a:rPr lang="en-GB" dirty="0" err="1"/>
              <a:t>quis</a:t>
            </a:r>
            <a:r>
              <a:rPr lang="en-GB" dirty="0"/>
              <a:t> </a:t>
            </a:r>
            <a:r>
              <a:rPr lang="en-GB" dirty="0" err="1"/>
              <a:t>urna</a:t>
            </a:r>
            <a:r>
              <a:rPr lang="en-GB" dirty="0"/>
              <a:t>. </a:t>
            </a:r>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Proin pharetra </a:t>
            </a:r>
            <a:r>
              <a:rPr lang="en-GB" dirty="0" err="1"/>
              <a:t>nonummy</a:t>
            </a:r>
            <a:r>
              <a:rPr lang="en-GB" dirty="0"/>
              <a:t> </a:t>
            </a:r>
            <a:r>
              <a:rPr lang="en-GB" dirty="0" err="1"/>
              <a:t>pede</a:t>
            </a:r>
            <a:r>
              <a:rPr lang="en-GB" dirty="0"/>
              <a:t>. Mauris et </a:t>
            </a:r>
            <a:r>
              <a:rPr lang="en-GB" dirty="0" err="1"/>
              <a:t>orci</a:t>
            </a:r>
            <a:r>
              <a:rPr lang="en-GB" dirty="0"/>
              <a:t>.</a:t>
            </a:r>
          </a:p>
          <a:p>
            <a:endParaRPr lang="en-GB" dirty="0"/>
          </a:p>
        </p:txBody>
      </p:sp>
      <p:sp>
        <p:nvSpPr>
          <p:cNvPr id="74" name="Text Placeholder 76">
            <a:extLst>
              <a:ext uri="{FF2B5EF4-FFF2-40B4-BE49-F238E27FC236}">
                <a16:creationId xmlns:a16="http://schemas.microsoft.com/office/drawing/2014/main" id="{4128A7C7-C9CF-640E-2146-E39DE97974CE}"/>
              </a:ext>
            </a:extLst>
          </p:cNvPr>
          <p:cNvSpPr txBox="1">
            <a:spLocks/>
          </p:cNvSpPr>
          <p:nvPr/>
        </p:nvSpPr>
        <p:spPr>
          <a:xfrm>
            <a:off x="1166962" y="27738803"/>
            <a:ext cx="5259616" cy="846849"/>
          </a:xfrm>
          <a:prstGeom prst="rect">
            <a:avLst/>
          </a:prstGeom>
        </p:spPr>
        <p:txBody>
          <a:bodyPr vert="horz" lIns="0" tIns="0" rIns="0" bIns="0" rtlCol="0">
            <a:noAutofit/>
          </a:bodyPr>
          <a:lstStyle>
            <a:lvl1pPr marL="0" indent="0" algn="l" defTabSz="1202763" rtl="0" eaLnBrk="1" latinLnBrk="0" hangingPunct="1">
              <a:lnSpc>
                <a:spcPct val="105000"/>
              </a:lnSpc>
              <a:spcBef>
                <a:spcPts val="0"/>
              </a:spcBef>
              <a:buFont typeface="Arial" panose="020B0604020202020204" pitchFamily="34" charset="0"/>
              <a:buNone/>
              <a:defRPr sz="10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10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0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10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a:lstStyle>
          <a:p>
            <a:r>
              <a:rPr lang="en-GB" dirty="0"/>
              <a:t>Image caption or credit goes here and can break over multiple lines as required 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Maecenas </a:t>
            </a:r>
            <a:r>
              <a:rPr lang="en-GB" dirty="0" err="1"/>
              <a:t>porttitor</a:t>
            </a:r>
            <a:r>
              <a:rPr lang="en-GB" dirty="0"/>
              <a:t> </a:t>
            </a:r>
            <a:r>
              <a:rPr lang="en-GB" dirty="0" err="1"/>
              <a:t>congue</a:t>
            </a:r>
            <a:r>
              <a:rPr lang="en-GB" dirty="0"/>
              <a:t> </a:t>
            </a:r>
            <a:r>
              <a:rPr lang="en-GB" dirty="0" err="1"/>
              <a:t>massa</a:t>
            </a:r>
            <a:r>
              <a:rPr lang="en-GB" dirty="0"/>
              <a:t>. </a:t>
            </a:r>
            <a:r>
              <a:rPr lang="en-GB" dirty="0" err="1"/>
              <a:t>Fusce</a:t>
            </a:r>
            <a:r>
              <a:rPr lang="en-GB" dirty="0"/>
              <a:t> </a:t>
            </a:r>
            <a:r>
              <a:rPr lang="en-GB" dirty="0" err="1"/>
              <a:t>posuere</a:t>
            </a:r>
            <a:r>
              <a:rPr lang="en-GB" dirty="0"/>
              <a:t>, magna </a:t>
            </a:r>
            <a:r>
              <a:rPr lang="en-GB" dirty="0" err="1"/>
              <a:t>sed</a:t>
            </a:r>
            <a:r>
              <a:rPr lang="en-GB" dirty="0"/>
              <a:t> pulvinar </a:t>
            </a:r>
            <a:r>
              <a:rPr lang="en-GB" dirty="0" err="1"/>
              <a:t>ultricies</a:t>
            </a:r>
            <a:r>
              <a:rPr lang="en-GB" dirty="0"/>
              <a:t>, </a:t>
            </a:r>
            <a:r>
              <a:rPr lang="en-GB" dirty="0" err="1"/>
              <a:t>purus</a:t>
            </a:r>
            <a:r>
              <a:rPr lang="en-GB" dirty="0"/>
              <a:t> </a:t>
            </a:r>
            <a:r>
              <a:rPr lang="en-GB" dirty="0" err="1"/>
              <a:t>lectus</a:t>
            </a:r>
            <a:r>
              <a:rPr lang="en-GB" dirty="0"/>
              <a:t> </a:t>
            </a:r>
            <a:r>
              <a:rPr lang="en-GB" dirty="0" err="1"/>
              <a:t>malesuada</a:t>
            </a:r>
            <a:r>
              <a:rPr lang="en-GB" dirty="0"/>
              <a:t> libero, sit </a:t>
            </a:r>
            <a:r>
              <a:rPr lang="en-GB" dirty="0" err="1"/>
              <a:t>amet</a:t>
            </a:r>
            <a:r>
              <a:rPr lang="en-GB" dirty="0"/>
              <a:t> </a:t>
            </a:r>
            <a:r>
              <a:rPr lang="en-GB" dirty="0" err="1"/>
              <a:t>commodo</a:t>
            </a:r>
            <a:r>
              <a:rPr lang="en-GB" dirty="0"/>
              <a:t> magna eros </a:t>
            </a:r>
            <a:r>
              <a:rPr lang="en-GB" dirty="0" err="1"/>
              <a:t>quis</a:t>
            </a:r>
            <a:r>
              <a:rPr lang="en-GB" dirty="0"/>
              <a:t> </a:t>
            </a:r>
            <a:r>
              <a:rPr lang="en-GB" dirty="0" err="1"/>
              <a:t>urna</a:t>
            </a:r>
            <a:r>
              <a:rPr lang="en-GB" dirty="0"/>
              <a:t>. </a:t>
            </a:r>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Proin pharetra </a:t>
            </a:r>
            <a:r>
              <a:rPr lang="en-GB" dirty="0" err="1"/>
              <a:t>nonummy</a:t>
            </a:r>
            <a:r>
              <a:rPr lang="en-GB" dirty="0"/>
              <a:t> </a:t>
            </a:r>
            <a:r>
              <a:rPr lang="en-GB" dirty="0" err="1"/>
              <a:t>pede</a:t>
            </a:r>
            <a:r>
              <a:rPr lang="en-GB" dirty="0"/>
              <a:t>. Mauris et </a:t>
            </a:r>
            <a:r>
              <a:rPr lang="en-GB" dirty="0" err="1"/>
              <a:t>orci</a:t>
            </a:r>
            <a:r>
              <a:rPr lang="en-GB" dirty="0"/>
              <a:t>.</a:t>
            </a:r>
          </a:p>
          <a:p>
            <a:endParaRPr lang="en-GB" dirty="0"/>
          </a:p>
        </p:txBody>
      </p:sp>
      <mc:AlternateContent xmlns:mc="http://schemas.openxmlformats.org/markup-compatibility/2006">
        <mc:Choice xmlns:a14="http://schemas.microsoft.com/office/drawing/2010/main" Requires="a14">
          <p:sp>
            <p:nvSpPr>
              <p:cNvPr id="88" name="TextBox 87">
                <a:extLst>
                  <a:ext uri="{FF2B5EF4-FFF2-40B4-BE49-F238E27FC236}">
                    <a16:creationId xmlns:a16="http://schemas.microsoft.com/office/drawing/2014/main" id="{5A75D117-198C-2983-1A30-FB9664308773}"/>
                  </a:ext>
                </a:extLst>
              </p:cNvPr>
              <p:cNvSpPr txBox="1"/>
              <p:nvPr/>
            </p:nvSpPr>
            <p:spPr>
              <a:xfrm>
                <a:off x="7516815" y="15467366"/>
                <a:ext cx="5737101" cy="170226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sz="2600" i="1" smtClean="0">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𝛼</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𝑥</m:t>
                                  </m:r>
                                </m:e>
                                <m:sup>
                                  <m:r>
                                    <a:rPr lang="en-GB" sz="2600" i="1">
                                      <a:latin typeface="Cambria Math" panose="02040503050406030204" pitchFamily="18" charset="0"/>
                                      <a:ea typeface="Cambria Math" panose="02040503050406030204" pitchFamily="18" charset="0"/>
                                    </a:rPr>
                                    <m:t>′</m:t>
                                  </m:r>
                                </m:sup>
                              </m:sSup>
                            </m:sub>
                          </m:sSub>
                          <m:r>
                            <a:rPr lang="en-GB" sz="2600" i="1">
                              <a:latin typeface="Cambria Math" panose="02040503050406030204" pitchFamily="18" charset="0"/>
                              <a:ea typeface="Cambria Math" panose="02040503050406030204" pitchFamily="18" charset="0"/>
                            </a:rPr>
                            <m:t>, </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𝑥𝑥</m:t>
                              </m:r>
                            </m:sub>
                          </m:sSub>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𝑓</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𝑚</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𝑡</m:t>
                          </m:r>
                        </m:e>
                        <m:e>
                          <m:r>
                            <a:rPr lang="en-GB" sz="2600" i="1">
                              <a:latin typeface="Cambria Math" panose="02040503050406030204" pitchFamily="18" charset="0"/>
                              <a:ea typeface="Cambria Math" panose="02040503050406030204" pitchFamily="18" charset="0"/>
                            </a:rPr>
                            <m:t>𝑥</m:t>
                          </m:r>
                        </m:e>
                      </m:d>
                    </m:oMath>
                  </m:oMathPara>
                </a14:m>
                <a:endParaRPr lang="en-GB" sz="2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GB" sz="2600" b="0" i="1" smtClean="0">
                              <a:latin typeface="Cambria Math" panose="02040503050406030204" pitchFamily="18" charset="0"/>
                              <a:ea typeface="Cambria Math" panose="02040503050406030204" pitchFamily="18" charset="0"/>
                            </a:rPr>
                          </m:ctrlPr>
                        </m:sSubPr>
                        <m:e>
                          <m:r>
                            <a:rPr lang="en-GB" sz="2600" i="1" smtClean="0">
                              <a:latin typeface="Cambria Math" panose="02040503050406030204" pitchFamily="18" charset="0"/>
                              <a:ea typeface="Cambria Math" panose="02040503050406030204" pitchFamily="18" charset="0"/>
                            </a:rPr>
                            <m:t>𝛾</m:t>
                          </m:r>
                        </m:e>
                        <m:sub>
                          <m:r>
                            <a:rPr lang="en-GB" sz="2600" b="0" i="1" smtClean="0">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𝛾</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𝑥</m:t>
                                  </m:r>
                                </m:e>
                                <m:sup>
                                  <m:r>
                                    <a:rPr lang="en-GB" sz="2600" i="1">
                                      <a:latin typeface="Cambria Math" panose="02040503050406030204" pitchFamily="18" charset="0"/>
                                      <a:ea typeface="Cambria Math" panose="02040503050406030204" pitchFamily="18" charset="0"/>
                                    </a:rPr>
                                    <m:t>′</m:t>
                                  </m:r>
                                </m:sup>
                              </m:sSup>
                            </m:sub>
                          </m:sSub>
                          <m:r>
                            <a:rPr lang="en-GB" sz="2600" i="1">
                              <a:latin typeface="Cambria Math" panose="02040503050406030204" pitchFamily="18" charset="0"/>
                              <a:ea typeface="Cambria Math" panose="02040503050406030204" pitchFamily="18" charset="0"/>
                            </a:rPr>
                            <m:t>, </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𝑥𝑥</m:t>
                              </m:r>
                            </m:sub>
                          </m:sSub>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𝑓</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𝑚</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𝑡</m:t>
                          </m:r>
                        </m:e>
                        <m:e>
                          <m:r>
                            <a:rPr lang="en-GB" sz="2600" i="1">
                              <a:latin typeface="Cambria Math" panose="02040503050406030204" pitchFamily="18" charset="0"/>
                              <a:ea typeface="Cambria Math" panose="02040503050406030204" pitchFamily="18" charset="0"/>
                            </a:rPr>
                            <m:t>𝑥</m:t>
                          </m:r>
                        </m:e>
                      </m:d>
                    </m:oMath>
                  </m:oMathPara>
                </a14:m>
                <a:endParaRPr lang="en-GB" sz="2600" b="0" i="0" dirty="0">
                  <a:solidFill>
                    <a:schemeClr val="tx1"/>
                  </a:solidFill>
                  <a:latin typeface="Cambria Math" panose="02040503050406030204" pitchFamily="18" charset="0"/>
                </a:endParaRPr>
              </a:p>
              <a:p>
                <a14:m>
                  <m:oMath xmlns:m="http://schemas.openxmlformats.org/officeDocument/2006/math">
                    <m:sSub>
                      <m:sSubPr>
                        <m:ctrlPr>
                          <a:rPr lang="en-GB" sz="2600" i="1">
                            <a:latin typeface="Cambria Math" panose="02040503050406030204" pitchFamily="18" charset="0"/>
                          </a:rPr>
                        </m:ctrlPr>
                      </m:sSubPr>
                      <m:e>
                        <m:r>
                          <m:rPr>
                            <m:sty m:val="p"/>
                          </m:rPr>
                          <a:rPr lang="en-GB" sz="2600">
                            <a:latin typeface="Cambria Math" panose="02040503050406030204" pitchFamily="18" charset="0"/>
                          </a:rPr>
                          <m:t>f</m:t>
                        </m:r>
                      </m:e>
                      <m:sub>
                        <m:r>
                          <m:rPr>
                            <m:sty m:val="p"/>
                          </m:rPr>
                          <a:rPr lang="en-GB" sz="2600">
                            <a:latin typeface="Cambria Math" panose="02040503050406030204" pitchFamily="18" charset="0"/>
                          </a:rPr>
                          <m:t>x</m:t>
                        </m:r>
                      </m:sub>
                    </m:sSub>
                    <m:r>
                      <a:rPr lang="en-GB" sz="2600">
                        <a:latin typeface="Cambria Math" panose="02040503050406030204" pitchFamily="18" charset="0"/>
                      </a:rPr>
                      <m:t>=</m:t>
                    </m:r>
                    <m:r>
                      <m:rPr>
                        <m:sty m:val="p"/>
                      </m:rPr>
                      <a:rPr lang="en-GB" sz="2600">
                        <a:latin typeface="Cambria Math" panose="02040503050406030204" pitchFamily="18" charset="0"/>
                      </a:rPr>
                      <m:t>fraction</m:t>
                    </m:r>
                    <m:r>
                      <a:rPr lang="en-GB" sz="2600">
                        <a:latin typeface="Cambria Math" panose="02040503050406030204" pitchFamily="18" charset="0"/>
                      </a:rPr>
                      <m:t> </m:t>
                    </m:r>
                    <m:r>
                      <m:rPr>
                        <m:sty m:val="p"/>
                      </m:rPr>
                      <a:rPr lang="en-GB" sz="2600">
                        <a:latin typeface="Cambria Math" panose="02040503050406030204" pitchFamily="18" charset="0"/>
                      </a:rPr>
                      <m:t>of</m:t>
                    </m:r>
                    <m:r>
                      <a:rPr lang="en-GB" sz="2600">
                        <a:latin typeface="Cambria Math" panose="02040503050406030204" pitchFamily="18" charset="0"/>
                      </a:rPr>
                      <m:t> </m:t>
                    </m:r>
                    <m:r>
                      <m:rPr>
                        <m:sty m:val="p"/>
                      </m:rPr>
                      <a:rPr lang="en-GB" sz="2600">
                        <a:latin typeface="Cambria Math" panose="02040503050406030204" pitchFamily="18" charset="0"/>
                      </a:rPr>
                      <m:t>newtoek</m:t>
                    </m:r>
                    <m:r>
                      <a:rPr lang="en-GB" sz="2600">
                        <a:latin typeface="Cambria Math" panose="02040503050406030204" pitchFamily="18" charset="0"/>
                      </a:rPr>
                      <m:t> </m:t>
                    </m:r>
                    <m:sSup>
                      <m:sSupPr>
                        <m:ctrlPr>
                          <a:rPr lang="en-GB" sz="2600" i="1">
                            <a:latin typeface="Cambria Math" panose="02040503050406030204" pitchFamily="18" charset="0"/>
                          </a:rPr>
                        </m:ctrlPr>
                      </m:sSupPr>
                      <m:e>
                        <m:r>
                          <m:rPr>
                            <m:sty m:val="p"/>
                          </m:rPr>
                          <a:rPr lang="en-GB" sz="2600">
                            <a:latin typeface="Cambria Math" panose="02040503050406030204" pitchFamily="18" charset="0"/>
                          </a:rPr>
                          <m:t>that</m:t>
                        </m:r>
                      </m:e>
                      <m:sup>
                        <m:r>
                          <a:rPr lang="en-GB" sz="2600">
                            <a:latin typeface="Cambria Math" panose="02040503050406030204" pitchFamily="18" charset="0"/>
                          </a:rPr>
                          <m:t>′</m:t>
                        </m:r>
                      </m:sup>
                    </m:sSup>
                    <m:r>
                      <m:rPr>
                        <m:sty m:val="p"/>
                      </m:rPr>
                      <a:rPr lang="en-GB" sz="2600">
                        <a:latin typeface="Cambria Math" panose="02040503050406030204" pitchFamily="18" charset="0"/>
                      </a:rPr>
                      <m:t>s</m:t>
                    </m:r>
                    <m:r>
                      <a:rPr lang="en-GB" sz="2600">
                        <a:latin typeface="Cambria Math" panose="02040503050406030204" pitchFamily="18" charset="0"/>
                      </a:rPr>
                      <m:t> </m:t>
                    </m:r>
                    <m:r>
                      <m:rPr>
                        <m:sty m:val="p"/>
                      </m:rPr>
                      <a:rPr lang="en-GB" sz="2600">
                        <a:latin typeface="Cambria Math" panose="02040503050406030204" pitchFamily="18" charset="0"/>
                      </a:rPr>
                      <m:t>type</m:t>
                    </m:r>
                    <m:r>
                      <a:rPr lang="en-GB" sz="2600">
                        <a:latin typeface="Cambria Math" panose="02040503050406030204" pitchFamily="18" charset="0"/>
                      </a:rPr>
                      <m:t> </m:t>
                    </m:r>
                    <m:r>
                      <m:rPr>
                        <m:sty m:val="p"/>
                      </m:rPr>
                      <a:rPr lang="en-GB" sz="2600" smtClean="0">
                        <a:latin typeface="Cambria Math" panose="02040503050406030204" pitchFamily="18" charset="0"/>
                      </a:rPr>
                      <m:t>x</m:t>
                    </m:r>
                  </m:oMath>
                </a14:m>
                <a:r>
                  <a:rPr lang="en-GB" sz="2600" dirty="0"/>
                  <a:t> </a:t>
                </a:r>
                <a14:m>
                  <m:oMath xmlns:m="http://schemas.openxmlformats.org/officeDocument/2006/math">
                    <m:r>
                      <m:rPr>
                        <m:sty m:val="p"/>
                      </m:rPr>
                      <a:rPr lang="en-GB" sz="2600">
                        <a:latin typeface="Cambria Math" panose="02040503050406030204" pitchFamily="18" charset="0"/>
                      </a:rPr>
                      <m:t>m</m:t>
                    </m:r>
                    <m:r>
                      <a:rPr lang="en-GB" sz="2600" b="0" i="0" smtClean="0">
                        <a:latin typeface="Cambria Math" panose="02040503050406030204" pitchFamily="18" charset="0"/>
                      </a:rPr>
                      <m:t>= </m:t>
                    </m:r>
                    <m:r>
                      <a:rPr lang="en-GB" sz="2600">
                        <a:latin typeface="Cambria Math" panose="02040503050406030204" pitchFamily="18" charset="0"/>
                      </a:rPr>
                      <m:t> </m:t>
                    </m:r>
                    <m:r>
                      <m:rPr>
                        <m:sty m:val="p"/>
                      </m:rPr>
                      <a:rPr lang="en-GB" sz="2600">
                        <a:latin typeface="Cambria Math" panose="02040503050406030204" pitchFamily="18" charset="0"/>
                      </a:rPr>
                      <m:t>papers</m:t>
                    </m:r>
                    <m:r>
                      <a:rPr lang="en-GB" sz="2600">
                        <a:latin typeface="Cambria Math" panose="02040503050406030204" pitchFamily="18" charset="0"/>
                      </a:rPr>
                      <m:t> </m:t>
                    </m:r>
                    <m:r>
                      <m:rPr>
                        <m:sty m:val="p"/>
                      </m:rPr>
                      <a:rPr lang="en-GB" sz="2600">
                        <a:latin typeface="Cambria Math" panose="02040503050406030204" pitchFamily="18" charset="0"/>
                      </a:rPr>
                      <m:t>each</m:t>
                    </m:r>
                    <m:r>
                      <a:rPr lang="en-GB" sz="2600">
                        <a:latin typeface="Cambria Math" panose="02040503050406030204" pitchFamily="18" charset="0"/>
                      </a:rPr>
                      <m:t> </m:t>
                    </m:r>
                    <m:r>
                      <m:rPr>
                        <m:sty m:val="p"/>
                      </m:rPr>
                      <a:rPr lang="en-GB" sz="2600">
                        <a:latin typeface="Cambria Math" panose="02040503050406030204" pitchFamily="18" charset="0"/>
                      </a:rPr>
                      <m:t>paper</m:t>
                    </m:r>
                    <m:r>
                      <a:rPr lang="en-GB" sz="2600">
                        <a:latin typeface="Cambria Math" panose="02040503050406030204" pitchFamily="18" charset="0"/>
                      </a:rPr>
                      <m:t> </m:t>
                    </m:r>
                    <m:r>
                      <m:rPr>
                        <m:sty m:val="p"/>
                      </m:rPr>
                      <a:rPr lang="en-GB" sz="2600">
                        <a:latin typeface="Cambria Math" panose="02040503050406030204" pitchFamily="18" charset="0"/>
                      </a:rPr>
                      <m:t>cites</m:t>
                    </m:r>
                  </m:oMath>
                </a14:m>
                <a:endParaRPr lang="en-GB" sz="2600" dirty="0"/>
              </a:p>
            </p:txBody>
          </p:sp>
        </mc:Choice>
        <mc:Fallback>
          <p:sp>
            <p:nvSpPr>
              <p:cNvPr id="88" name="TextBox 87">
                <a:extLst>
                  <a:ext uri="{FF2B5EF4-FFF2-40B4-BE49-F238E27FC236}">
                    <a16:creationId xmlns:a16="http://schemas.microsoft.com/office/drawing/2014/main" id="{5A75D117-198C-2983-1A30-FB9664308773}"/>
                  </a:ext>
                </a:extLst>
              </p:cNvPr>
              <p:cNvSpPr txBox="1">
                <a:spLocks noRot="1" noChangeAspect="1" noMove="1" noResize="1" noEditPoints="1" noAdjustHandles="1" noChangeArrowheads="1" noChangeShapeType="1" noTextEdit="1"/>
              </p:cNvSpPr>
              <p:nvPr/>
            </p:nvSpPr>
            <p:spPr>
              <a:xfrm>
                <a:off x="7516815" y="15467366"/>
                <a:ext cx="5737101" cy="1702261"/>
              </a:xfrm>
              <a:prstGeom prst="rect">
                <a:avLst/>
              </a:prstGeom>
              <a:blipFill>
                <a:blip r:embed="rId9"/>
                <a:stretch>
                  <a:fillRect/>
                </a:stretch>
              </a:blipFill>
            </p:spPr>
            <p:txBody>
              <a:bodyPr/>
              <a:lstStyle/>
              <a:p>
                <a:r>
                  <a:rPr lang="en-GB">
                    <a:noFill/>
                  </a:rPr>
                  <a:t> </a:t>
                </a:r>
              </a:p>
            </p:txBody>
          </p:sp>
        </mc:Fallback>
      </mc:AlternateContent>
      <p:sp>
        <p:nvSpPr>
          <p:cNvPr id="90" name="TextBox 89">
            <a:extLst>
              <a:ext uri="{FF2B5EF4-FFF2-40B4-BE49-F238E27FC236}">
                <a16:creationId xmlns:a16="http://schemas.microsoft.com/office/drawing/2014/main" id="{BD366EA9-E476-BB1F-AE42-3D380866C80D}"/>
              </a:ext>
            </a:extLst>
          </p:cNvPr>
          <p:cNvSpPr txBox="1"/>
          <p:nvPr/>
        </p:nvSpPr>
        <p:spPr>
          <a:xfrm>
            <a:off x="7547740" y="12394022"/>
            <a:ext cx="2679009" cy="738664"/>
          </a:xfrm>
          <a:prstGeom prst="rect">
            <a:avLst/>
          </a:prstGeom>
          <a:noFill/>
        </p:spPr>
        <p:txBody>
          <a:bodyPr wrap="square">
            <a:spAutoFit/>
          </a:bodyPr>
          <a:lstStyle/>
          <a:p>
            <a:r>
              <a:rPr lang="en-GB" sz="4200" b="1" dirty="0">
                <a:solidFill>
                  <a:schemeClr val="tx2"/>
                </a:solidFill>
              </a:rPr>
              <a:t>Theory</a:t>
            </a:r>
          </a:p>
        </p:txBody>
      </p:sp>
      <mc:AlternateContent xmlns:mc="http://schemas.openxmlformats.org/markup-compatibility/2006">
        <mc:Choice xmlns:a14="http://schemas.microsoft.com/office/drawing/2010/main" Requires="a14">
          <p:sp>
            <p:nvSpPr>
              <p:cNvPr id="91" name="TextBox 90">
                <a:extLst>
                  <a:ext uri="{FF2B5EF4-FFF2-40B4-BE49-F238E27FC236}">
                    <a16:creationId xmlns:a16="http://schemas.microsoft.com/office/drawing/2014/main" id="{6B886DC3-A3C1-1C3D-BCCC-BB3CB25857EC}"/>
                  </a:ext>
                </a:extLst>
              </p:cNvPr>
              <p:cNvSpPr txBox="1"/>
              <p:nvPr/>
            </p:nvSpPr>
            <p:spPr>
              <a:xfrm>
                <a:off x="9395811" y="12932862"/>
                <a:ext cx="9717882" cy="1492216"/>
              </a:xfrm>
              <a:prstGeom prst="rect">
                <a:avLst/>
              </a:prstGeom>
              <a:noFill/>
            </p:spPr>
            <p:txBody>
              <a:bodyPr wrap="none" lIns="0" tIns="0" rIns="0" bIns="0" rtlCol="0">
                <a:noAutofit/>
              </a:bodyPr>
              <a:lstStyle/>
              <a:p>
                <a:pPr algn="just">
                  <a:lnSpc>
                    <a:spcPct val="105000"/>
                  </a:lnSpc>
                </a:pPr>
                <a14:m>
                  <m:oMathPara xmlns:m="http://schemas.openxmlformats.org/officeDocument/2006/math">
                    <m:oMathParaPr>
                      <m:jc m:val="center"/>
                    </m:oMathParaPr>
                    <m:oMath xmlns:m="http://schemas.openxmlformats.org/officeDocument/2006/math">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𝑥</m:t>
                          </m:r>
                        </m:sub>
                      </m:sSub>
                      <m:d>
                        <m:dPr>
                          <m:ctrlPr>
                            <a:rPr lang="en-GB" sz="2600" b="0" i="1" smtClean="0">
                              <a:solidFill>
                                <a:schemeClr val="tx1"/>
                              </a:solidFill>
                              <a:latin typeface="Cambria Math" panose="02040503050406030204" pitchFamily="18" charset="0"/>
                              <a:ea typeface="Cambria Math" panose="02040503050406030204" pitchFamily="18" charset="0"/>
                            </a:rPr>
                          </m:ctrlPr>
                        </m:dPr>
                        <m:e>
                          <m:r>
                            <a:rPr lang="en-GB" sz="2600" b="0" i="1" smtClean="0">
                              <a:solidFill>
                                <a:schemeClr val="tx1"/>
                              </a:solidFill>
                              <a:latin typeface="Cambria Math" panose="02040503050406030204" pitchFamily="18" charset="0"/>
                              <a:ea typeface="Cambria Math" panose="02040503050406030204" pitchFamily="18" charset="0"/>
                            </a:rPr>
                            <m:t>𝑘</m:t>
                          </m:r>
                        </m:e>
                      </m:d>
                      <m:r>
                        <a:rPr lang="en-GB" sz="2600" b="0" i="1" smtClean="0">
                          <a:solidFill>
                            <a:schemeClr val="tx1"/>
                          </a:solidFill>
                          <a:latin typeface="Cambria Math" panose="02040503050406030204" pitchFamily="18" charset="0"/>
                          <a:ea typeface="Cambria Math" panose="02040503050406030204" pitchFamily="18" charset="0"/>
                        </a:rPr>
                        <m:t>=</m:t>
                      </m:r>
                      <m:d>
                        <m:dPr>
                          <m:begChr m:val="{"/>
                          <m:endChr m:val=""/>
                          <m:ctrlPr>
                            <a:rPr lang="en-GB" sz="2600" b="0" i="1" smtClean="0">
                              <a:solidFill>
                                <a:schemeClr val="tx1"/>
                              </a:solidFill>
                              <a:latin typeface="Cambria Math" panose="02040503050406030204" pitchFamily="18" charset="0"/>
                              <a:ea typeface="Cambria Math" panose="02040503050406030204" pitchFamily="18" charset="0"/>
                            </a:rPr>
                          </m:ctrlPr>
                        </m:dPr>
                        <m:e>
                          <m:eqArr>
                            <m:eqArrPr>
                              <m:ctrlPr>
                                <a:rPr lang="en-GB" sz="2600" b="0" i="1" smtClean="0">
                                  <a:solidFill>
                                    <a:schemeClr val="tx1"/>
                                  </a:solidFill>
                                  <a:latin typeface="Cambria Math" panose="02040503050406030204" pitchFamily="18" charset="0"/>
                                  <a:ea typeface="Cambria Math" panose="02040503050406030204" pitchFamily="18" charset="0"/>
                                </a:rPr>
                              </m:ctrlPr>
                            </m:eqArrPr>
                            <m:e>
                              <m:sSub>
                                <m:sSubPr>
                                  <m:ctrlPr>
                                    <a:rPr lang="en-GB" sz="2600" i="1">
                                      <a:latin typeface="Cambria Math" panose="02040503050406030204" pitchFamily="18" charset="0"/>
                                    </a:rPr>
                                  </m:ctrlPr>
                                </m:sSubPr>
                                <m:e>
                                  <m:r>
                                    <a:rPr lang="en-GB" sz="2600" i="1">
                                      <a:latin typeface="Cambria Math" panose="02040503050406030204" pitchFamily="18" charset="0"/>
                                    </a:rPr>
                                    <m:t>𝑝</m:t>
                                  </m:r>
                                </m:e>
                                <m:sub>
                                  <m:r>
                                    <a:rPr lang="en-GB" sz="2600" b="0" i="1" smtClean="0">
                                      <a:latin typeface="Cambria Math" panose="02040503050406030204" pitchFamily="18" charset="0"/>
                                    </a:rPr>
                                    <m:t>0</m:t>
                                  </m:r>
                                  <m:r>
                                    <a:rPr lang="en-GB" sz="2600" i="1">
                                      <a:latin typeface="Cambria Math" panose="02040503050406030204" pitchFamily="18" charset="0"/>
                                      <a:ea typeface="Cambria Math" panose="02040503050406030204" pitchFamily="18" charset="0"/>
                                    </a:rPr>
                                    <m:t>,</m:t>
                                  </m:r>
                                  <m:r>
                                    <a:rPr lang="en-GB" sz="2600" b="0" i="1" smtClean="0">
                                      <a:latin typeface="Cambria Math" panose="02040503050406030204" pitchFamily="18" charset="0"/>
                                      <a:ea typeface="Cambria Math" panose="02040503050406030204" pitchFamily="18" charset="0"/>
                                    </a:rPr>
                                    <m:t>   </m:t>
                                  </m:r>
                                  <m:r>
                                    <a:rPr lang="en-GB" sz="2600" b="0" i="1" smtClean="0">
                                      <a:latin typeface="Cambria Math" panose="02040503050406030204" pitchFamily="18" charset="0"/>
                                      <a:ea typeface="Cambria Math" panose="02040503050406030204" pitchFamily="18" charset="0"/>
                                    </a:rPr>
                                    <m:t>𝑥</m:t>
                                  </m:r>
                                </m:sub>
                              </m:sSub>
                              <m:r>
                                <a:rPr lang="en-GB" sz="2600" b="0" i="1" smtClean="0">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𝑘</m:t>
                              </m:r>
                              <m:r>
                                <a:rPr lang="en-GB" sz="2600" b="0" i="1" smtClean="0">
                                  <a:solidFill>
                                    <a:schemeClr val="tx1"/>
                                  </a:solidFill>
                                  <a:latin typeface="Cambria Math" panose="02040503050406030204" pitchFamily="18" charset="0"/>
                                  <a:ea typeface="Cambria Math" panose="02040503050406030204" pitchFamily="18" charset="0"/>
                                </a:rPr>
                                <m:t>=0</m:t>
                              </m:r>
                            </m:e>
                            <m:e>
                              <m:r>
                                <a:rPr lang="en-GB" sz="2600" b="0" i="1" smtClean="0">
                                  <a:solidFill>
                                    <a:schemeClr val="tx1"/>
                                  </a:solidFill>
                                  <a:latin typeface="Cambria Math" panose="02040503050406030204" pitchFamily="18" charset="0"/>
                                  <a:ea typeface="Cambria Math" panose="02040503050406030204" pitchFamily="18" charset="0"/>
                                </a:rPr>
                                <m:t>&amp;</m:t>
                              </m:r>
                              <m:sSub>
                                <m:sSubPr>
                                  <m:ctrlPr>
                                    <a:rPr lang="en-GB" sz="2600" i="1">
                                      <a:latin typeface="Cambria Math" panose="02040503050406030204" pitchFamily="18" charset="0"/>
                                    </a:rPr>
                                  </m:ctrlPr>
                                </m:sSubPr>
                                <m:e>
                                  <m:r>
                                    <a:rPr lang="en-GB" sz="2600" i="1">
                                      <a:latin typeface="Cambria Math" panose="02040503050406030204" pitchFamily="18" charset="0"/>
                                    </a:rPr>
                                    <m:t>𝑝</m:t>
                                  </m:r>
                                </m:e>
                                <m:sub>
                                  <m:r>
                                    <a:rPr lang="en-GB" sz="2600" i="1">
                                      <a:latin typeface="Cambria Math" panose="02040503050406030204" pitchFamily="18" charset="0"/>
                                    </a:rPr>
                                    <m:t>0</m:t>
                                  </m:r>
                                  <m:r>
                                    <a:rPr lang="en-GB" sz="2600" i="1">
                                      <a:latin typeface="Cambria Math" panose="02040503050406030204" pitchFamily="18" charset="0"/>
                                      <a:ea typeface="Cambria Math" panose="02040503050406030204" pitchFamily="18" charset="0"/>
                                    </a:rPr>
                                    <m:t>,</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𝑥</m:t>
                                  </m:r>
                                </m:sub>
                              </m:sSub>
                              <m:f>
                                <m:fPr>
                                  <m:ctrlPr>
                                    <a:rPr lang="en-GB" sz="2600" i="1" smtClean="0">
                                      <a:latin typeface="Cambria Math" panose="02040503050406030204" pitchFamily="18" charset="0"/>
                                      <a:ea typeface="Cambria Math" panose="02040503050406030204" pitchFamily="18" charset="0"/>
                                    </a:rPr>
                                  </m:ctrlPr>
                                </m:fPr>
                                <m:num>
                                  <m:r>
                                    <a:rPr lang="en-GB" sz="2600" b="0" i="1" smtClean="0">
                                      <a:latin typeface="Cambria Math" panose="02040503050406030204" pitchFamily="18" charset="0"/>
                                      <a:ea typeface="Cambria Math" panose="02040503050406030204" pitchFamily="18" charset="0"/>
                                    </a:rPr>
                                    <m:t>𝐵</m:t>
                                  </m:r>
                                  <m:d>
                                    <m:dPr>
                                      <m:ctrlPr>
                                        <a:rPr lang="en-GB" sz="2600" b="0" i="1" smtClean="0">
                                          <a:latin typeface="Cambria Math" panose="02040503050406030204" pitchFamily="18" charset="0"/>
                                          <a:ea typeface="Cambria Math" panose="02040503050406030204" pitchFamily="18" charset="0"/>
                                        </a:rPr>
                                      </m:ctrlPr>
                                    </m:dPr>
                                    <m:e>
                                      <m:r>
                                        <a:rPr lang="en-GB" sz="2600" b="0" i="1" smtClean="0">
                                          <a:latin typeface="Cambria Math" panose="02040503050406030204" pitchFamily="18" charset="0"/>
                                          <a:ea typeface="Cambria Math" panose="02040503050406030204" pitchFamily="18" charset="0"/>
                                        </a:rPr>
                                        <m:t>𝑘</m:t>
                                      </m:r>
                                      <m:r>
                                        <a:rPr lang="en-GB" sz="2600" b="0" i="1" smtClean="0">
                                          <a:latin typeface="Cambria Math" panose="02040503050406030204" pitchFamily="18" charset="0"/>
                                          <a:ea typeface="Cambria Math" panose="02040503050406030204" pitchFamily="18" charset="0"/>
                                        </a:rPr>
                                        <m:t>, </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ea typeface="Cambria Math" panose="02040503050406030204" pitchFamily="18" charset="0"/>
                                            </a:rPr>
                                            <m:t>𝑥</m:t>
                                          </m:r>
                                        </m:sub>
                                      </m:sSub>
                                      <m:r>
                                        <a:rPr lang="en-GB" sz="2600" b="0" i="1" smtClean="0">
                                          <a:latin typeface="Cambria Math" panose="02040503050406030204" pitchFamily="18" charset="0"/>
                                          <a:ea typeface="Cambria Math" panose="02040503050406030204" pitchFamily="18" charset="0"/>
                                        </a:rPr>
                                        <m:t>+</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𝛾</m:t>
                                          </m:r>
                                        </m:e>
                                        <m:sub>
                                          <m:r>
                                            <a:rPr lang="en-GB" sz="2600" b="0" i="1" smtClean="0">
                                              <a:latin typeface="Cambria Math" panose="02040503050406030204" pitchFamily="18" charset="0"/>
                                              <a:ea typeface="Cambria Math" panose="02040503050406030204" pitchFamily="18" charset="0"/>
                                            </a:rPr>
                                            <m:t>𝑥</m:t>
                                          </m:r>
                                        </m:sub>
                                      </m:sSub>
                                    </m:e>
                                  </m:d>
                                </m:num>
                                <m:den>
                                  <m:r>
                                    <a:rPr lang="en-GB" sz="2600" b="0" i="1" smtClean="0">
                                      <a:latin typeface="Cambria Math" panose="02040503050406030204" pitchFamily="18" charset="0"/>
                                      <a:ea typeface="Cambria Math" panose="02040503050406030204" pitchFamily="18" charset="0"/>
                                    </a:rPr>
                                    <m:t>𝐵</m:t>
                                  </m:r>
                                  <m:d>
                                    <m:dPr>
                                      <m:ctrlPr>
                                        <a:rPr lang="en-GB" sz="2600" b="0" i="1" smtClean="0">
                                          <a:latin typeface="Cambria Math" panose="02040503050406030204" pitchFamily="18" charset="0"/>
                                          <a:ea typeface="Cambria Math" panose="02040503050406030204" pitchFamily="18" charset="0"/>
                                        </a:rPr>
                                      </m:ctrlPr>
                                    </m:dPr>
                                    <m:e>
                                      <m:r>
                                        <a:rPr lang="en-GB" sz="2600" b="0" i="1" smtClean="0">
                                          <a:latin typeface="Cambria Math" panose="02040503050406030204" pitchFamily="18" charset="0"/>
                                          <a:ea typeface="Cambria Math" panose="02040503050406030204" pitchFamily="18" charset="0"/>
                                        </a:rPr>
                                        <m:t>𝑘</m:t>
                                      </m:r>
                                      <m:r>
                                        <a:rPr lang="en-GB" sz="2600" b="0" i="1" smtClean="0">
                                          <a:latin typeface="Cambria Math" panose="02040503050406030204" pitchFamily="18" charset="0"/>
                                          <a:ea typeface="Cambria Math" panose="02040503050406030204" pitchFamily="18" charset="0"/>
                                        </a:rPr>
                                        <m:t>, </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ea typeface="Cambria Math" panose="02040503050406030204" pitchFamily="18" charset="0"/>
                                            </a:rPr>
                                            <m:t>𝑥</m:t>
                                          </m:r>
                                        </m:sub>
                                      </m:sSub>
                                    </m:e>
                                  </m:d>
                                </m:den>
                              </m:f>
                              <m:r>
                                <a:rPr lang="en-GB" sz="2600" i="1">
                                  <a:latin typeface="Cambria Math" panose="02040503050406030204" pitchFamily="18" charset="0"/>
                                  <a:ea typeface="Cambria Math" panose="02040503050406030204" pitchFamily="18" charset="0"/>
                                </a:rPr>
                                <m:t>≈</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𝑘</m:t>
                                  </m:r>
                                </m:e>
                                <m:sup>
                                  <m:r>
                                    <a:rPr lang="en-GB" sz="2600" i="1">
                                      <a:latin typeface="Cambria Math" panose="02040503050406030204" pitchFamily="18" charset="0"/>
                                      <a:ea typeface="Cambria Math" panose="02040503050406030204" pitchFamily="18" charset="0"/>
                                    </a:rPr>
                                    <m:t>−</m:t>
                                  </m:r>
                                  <m:r>
                                    <a:rPr lang="en-GB" sz="2600" i="1">
                                      <a:latin typeface="Cambria Math" panose="02040503050406030204" pitchFamily="18" charset="0"/>
                                      <a:ea typeface="Cambria Math" panose="02040503050406030204" pitchFamily="18" charset="0"/>
                                    </a:rPr>
                                    <m:t>𝜉</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𝛾</m:t>
                                          </m:r>
                                        </m:e>
                                        <m:sub>
                                          <m:r>
                                            <a:rPr lang="en-GB" sz="2600" i="1">
                                              <a:latin typeface="Cambria Math" panose="02040503050406030204" pitchFamily="18" charset="0"/>
                                              <a:ea typeface="Cambria Math" panose="02040503050406030204" pitchFamily="18" charset="0"/>
                                            </a:rPr>
                                            <m:t>𝑥</m:t>
                                          </m:r>
                                        </m:sub>
                                      </m:sSub>
                                    </m:e>
                                  </m:d>
                                </m:sup>
                              </m:sSup>
                              <m:r>
                                <a:rPr lang="en-GB" sz="2600" b="0" i="1" smtClean="0">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𝑘</m:t>
                              </m:r>
                              <m:r>
                                <a:rPr lang="en-GB" sz="2600" b="0" i="1" smtClean="0">
                                  <a:solidFill>
                                    <a:schemeClr val="tx1"/>
                                  </a:solidFill>
                                  <a:latin typeface="Cambria Math" panose="02040503050406030204" pitchFamily="18" charset="0"/>
                                  <a:ea typeface="Cambria Math" panose="02040503050406030204" pitchFamily="18" charset="0"/>
                                </a:rPr>
                                <m:t>𝜖</m:t>
                              </m:r>
                              <m:sSup>
                                <m:sSupPr>
                                  <m:ctrlPr>
                                    <a:rPr lang="en-GB" sz="2600" b="0" i="1" smtClean="0">
                                      <a:solidFill>
                                        <a:schemeClr val="tx1"/>
                                      </a:solidFill>
                                      <a:latin typeface="Cambria Math" panose="02040503050406030204" pitchFamily="18" charset="0"/>
                                      <a:ea typeface="Cambria Math" panose="02040503050406030204" pitchFamily="18" charset="0"/>
                                    </a:rPr>
                                  </m:ctrlPr>
                                </m:sSupPr>
                                <m:e>
                                  <m:r>
                                    <a:rPr lang="en-GB" sz="2600" b="0" i="1" smtClean="0">
                                      <a:solidFill>
                                        <a:schemeClr val="tx1"/>
                                      </a:solidFill>
                                      <a:latin typeface="Cambria Math" panose="02040503050406030204" pitchFamily="18" charset="0"/>
                                      <a:ea typeface="Cambria Math" panose="02040503050406030204" pitchFamily="18" charset="0"/>
                                    </a:rPr>
                                    <m:t>ℤ</m:t>
                                  </m:r>
                                </m:e>
                                <m:sup>
                                  <m:r>
                                    <a:rPr lang="en-GB" sz="2600" b="0" i="1" smtClean="0">
                                      <a:solidFill>
                                        <a:schemeClr val="tx1"/>
                                      </a:solidFill>
                                      <a:latin typeface="Cambria Math" panose="02040503050406030204" pitchFamily="18" charset="0"/>
                                      <a:ea typeface="Cambria Math" panose="02040503050406030204" pitchFamily="18" charset="0"/>
                                    </a:rPr>
                                    <m:t>+</m:t>
                                  </m:r>
                                </m:sup>
                              </m:sSup>
                              <m:r>
                                <a:rPr lang="en-GB" sz="2600" b="0" i="1" smtClean="0">
                                  <a:solidFill>
                                    <a:schemeClr val="tx1"/>
                                  </a:solidFill>
                                  <a:latin typeface="Cambria Math" panose="02040503050406030204" pitchFamily="18" charset="0"/>
                                  <a:ea typeface="Cambria Math" panose="02040503050406030204" pitchFamily="18" charset="0"/>
                                </a:rPr>
                                <m:t> </m:t>
                              </m:r>
                            </m:e>
                          </m:eqArr>
                          <m:r>
                            <a:rPr lang="en-GB" sz="2600" b="0" i="1" smtClean="0">
                              <a:solidFill>
                                <a:schemeClr val="tx1"/>
                              </a:solidFill>
                              <a:latin typeface="Cambria Math" panose="02040503050406030204" pitchFamily="18" charset="0"/>
                              <a:ea typeface="Cambria Math" panose="02040503050406030204" pitchFamily="18" charset="0"/>
                            </a:rPr>
                            <m:t>                (1)</m:t>
                          </m:r>
                        </m:e>
                      </m:d>
                    </m:oMath>
                  </m:oMathPara>
                </a14:m>
                <a:endParaRPr lang="en-GB" sz="2600" dirty="0">
                  <a:solidFill>
                    <a:schemeClr val="tx1"/>
                  </a:solidFill>
                </a:endParaRPr>
              </a:p>
            </p:txBody>
          </p:sp>
        </mc:Choice>
        <mc:Fallback>
          <p:sp>
            <p:nvSpPr>
              <p:cNvPr id="91" name="TextBox 90">
                <a:extLst>
                  <a:ext uri="{FF2B5EF4-FFF2-40B4-BE49-F238E27FC236}">
                    <a16:creationId xmlns:a16="http://schemas.microsoft.com/office/drawing/2014/main" id="{6B886DC3-A3C1-1C3D-BCCC-BB3CB25857EC}"/>
                  </a:ext>
                </a:extLst>
              </p:cNvPr>
              <p:cNvSpPr txBox="1">
                <a:spLocks noRot="1" noChangeAspect="1" noMove="1" noResize="1" noEditPoints="1" noAdjustHandles="1" noChangeArrowheads="1" noChangeShapeType="1" noTextEdit="1"/>
              </p:cNvSpPr>
              <p:nvPr/>
            </p:nvSpPr>
            <p:spPr>
              <a:xfrm>
                <a:off x="9395811" y="12932862"/>
                <a:ext cx="9717882" cy="149221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2" name="TextBox 91">
                <a:extLst>
                  <a:ext uri="{FF2B5EF4-FFF2-40B4-BE49-F238E27FC236}">
                    <a16:creationId xmlns:a16="http://schemas.microsoft.com/office/drawing/2014/main" id="{EC991BAB-B179-89AA-D51F-4510A95D68E0}"/>
                  </a:ext>
                </a:extLst>
              </p:cNvPr>
              <p:cNvSpPr txBox="1"/>
              <p:nvPr/>
            </p:nvSpPr>
            <p:spPr>
              <a:xfrm>
                <a:off x="7536059" y="14584042"/>
                <a:ext cx="12782546" cy="759751"/>
              </a:xfrm>
              <a:prstGeom prst="rect">
                <a:avLst/>
              </a:prstGeom>
              <a:noFill/>
            </p:spPr>
            <p:txBody>
              <a:bodyPr wrap="square" lIns="0" tIns="0" rIns="0" bIns="0" rtlCol="0">
                <a:noAutofit/>
              </a:bodyPr>
              <a:lstStyle/>
              <a:p>
                <a:pPr algn="just">
                  <a:lnSpc>
                    <a:spcPct val="105000"/>
                  </a:lnSpc>
                </a:pPr>
                <a:r>
                  <a:rPr lang="en-GB" sz="2600" dirty="0"/>
                  <a:t>Probability paper of type </a:t>
                </a:r>
                <a14:m>
                  <m:oMath xmlns:m="http://schemas.openxmlformats.org/officeDocument/2006/math">
                    <m:r>
                      <a:rPr lang="en-GB" sz="2600" b="0" i="1" smtClean="0">
                        <a:latin typeface="Cambria Math" panose="02040503050406030204" pitchFamily="18" charset="0"/>
                      </a:rPr>
                      <m:t>𝑥</m:t>
                    </m:r>
                    <m:r>
                      <a:rPr lang="en-GB" sz="2600" b="0" i="1" smtClean="0">
                        <a:latin typeface="Cambria Math" panose="02040503050406030204" pitchFamily="18" charset="0"/>
                      </a:rPr>
                      <m:t>, </m:t>
                    </m:r>
                  </m:oMath>
                </a14:m>
                <a:r>
                  <a:rPr lang="en-GB" sz="2600" dirty="0">
                    <a:solidFill>
                      <a:schemeClr val="tx1"/>
                    </a:solidFill>
                  </a:rPr>
                  <a:t>has </a:t>
                </a:r>
                <a14:m>
                  <m:oMath xmlns:m="http://schemas.openxmlformats.org/officeDocument/2006/math">
                    <m:r>
                      <a:rPr lang="en-GB" sz="2600" b="0" i="1" smtClean="0">
                        <a:solidFill>
                          <a:schemeClr val="tx1"/>
                        </a:solidFill>
                        <a:latin typeface="Cambria Math" panose="02040503050406030204" pitchFamily="18" charset="0"/>
                      </a:rPr>
                      <m:t>𝑘</m:t>
                    </m:r>
                  </m:oMath>
                </a14:m>
                <a:r>
                  <a:rPr lang="en-GB" sz="2600" dirty="0">
                    <a:solidFill>
                      <a:schemeClr val="tx1"/>
                    </a:solidFill>
                  </a:rPr>
                  <a:t> citations. </a:t>
                </a:r>
                <a:r>
                  <a:rPr lang="en-GB" sz="2600" dirty="0"/>
                  <a:t>(1) </a:t>
                </a:r>
                <a:r>
                  <a:rPr lang="en-GB" sz="2600" dirty="0">
                    <a:solidFill>
                      <a:schemeClr val="tx1"/>
                    </a:solidFill>
                  </a:rPr>
                  <a:t>approximates to the HPA </a:t>
                </a:r>
                <a:r>
                  <a:rPr lang="en-GB" sz="2600" dirty="0"/>
                  <a:t>literature convention under Sterling's approximation. Our result demonstrates superior accuracy. </a:t>
                </a:r>
                <a:endParaRPr lang="en-GB" sz="2600" dirty="0">
                  <a:solidFill>
                    <a:schemeClr val="tx1"/>
                  </a:solidFill>
                </a:endParaRPr>
              </a:p>
            </p:txBody>
          </p:sp>
        </mc:Choice>
        <mc:Fallback>
          <p:sp>
            <p:nvSpPr>
              <p:cNvPr id="92" name="TextBox 91">
                <a:extLst>
                  <a:ext uri="{FF2B5EF4-FFF2-40B4-BE49-F238E27FC236}">
                    <a16:creationId xmlns:a16="http://schemas.microsoft.com/office/drawing/2014/main" id="{EC991BAB-B179-89AA-D51F-4510A95D68E0}"/>
                  </a:ext>
                </a:extLst>
              </p:cNvPr>
              <p:cNvSpPr txBox="1">
                <a:spLocks noRot="1" noChangeAspect="1" noMove="1" noResize="1" noEditPoints="1" noAdjustHandles="1" noChangeArrowheads="1" noChangeShapeType="1" noTextEdit="1"/>
              </p:cNvSpPr>
              <p:nvPr/>
            </p:nvSpPr>
            <p:spPr>
              <a:xfrm>
                <a:off x="7536059" y="14584042"/>
                <a:ext cx="12782546" cy="759751"/>
              </a:xfrm>
              <a:prstGeom prst="rect">
                <a:avLst/>
              </a:prstGeom>
              <a:blipFill>
                <a:blip r:embed="rId11"/>
                <a:stretch>
                  <a:fillRect l="-1574" t="-13600" r="-1574" b="-32000"/>
                </a:stretch>
              </a:blipFill>
            </p:spPr>
            <p:txBody>
              <a:bodyPr/>
              <a:lstStyle/>
              <a:p>
                <a:r>
                  <a:rPr lang="en-GB">
                    <a:noFill/>
                  </a:rPr>
                  <a:t> </a:t>
                </a:r>
              </a:p>
            </p:txBody>
          </p:sp>
        </mc:Fallback>
      </mc:AlternateContent>
    </p:spTree>
    <p:extLst>
      <p:ext uri="{BB962C8B-B14F-4D97-AF65-F5344CB8AC3E}">
        <p14:creationId xmlns:p14="http://schemas.microsoft.com/office/powerpoint/2010/main" val="2916138405"/>
      </p:ext>
    </p:extLst>
  </p:cSld>
  <p:clrMapOvr>
    <a:masterClrMapping/>
  </p:clrMapOvr>
  <p:transition>
    <p:fade/>
  </p:transition>
</p:sld>
</file>

<file path=ppt/theme/theme1.xml><?xml version="1.0" encoding="utf-8"?>
<a:theme xmlns:a="http://schemas.openxmlformats.org/drawingml/2006/main" name="ICL Portrait Poster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CL_Poster Portrait A1 template.potx" id="{102DD3C0-3B38-4CBE-AC27-389CFDD5B01E}" vid="{AB3924F8-CBDD-4D00-8457-0F1783E016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Imperial_Poster Portrait A1 template</Template>
  <TotalTime>510</TotalTime>
  <Words>779</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Imperial Sans Text</vt:lpstr>
      <vt:lpstr>Imperial Sans Text Extrabold</vt:lpstr>
      <vt:lpstr>Imperial Sans Text Semibold</vt:lpstr>
      <vt:lpstr>Arial</vt:lpstr>
      <vt:lpstr>Cambria Math</vt:lpstr>
      <vt:lpstr>Calibri</vt:lpstr>
      <vt:lpstr>ICL Portrait Poster Theme</vt:lpstr>
      <vt:lpstr>The Science of Quantifying Innovation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Diamond, Sid</dc:creator>
  <cp:lastModifiedBy>Diamond, Sid</cp:lastModifiedBy>
  <cp:revision>23</cp:revision>
  <dcterms:created xsi:type="dcterms:W3CDTF">2026-02-16T10:43:06Z</dcterms:created>
  <dcterms:modified xsi:type="dcterms:W3CDTF">2026-02-16T19:13:47Z</dcterms:modified>
</cp:coreProperties>
</file>